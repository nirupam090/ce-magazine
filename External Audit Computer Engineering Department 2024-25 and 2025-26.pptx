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9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Lst>
  <p:sldSz cy="5143500" cx="9144000"/>
  <p:notesSz cx="6858000" cy="9144000"/>
  <p:embeddedFontLst>
    <p:embeddedFont>
      <p:font typeface="PT Sans Narrow"/>
      <p:regular r:id="rId100"/>
      <p:bold r:id="rId101"/>
    </p:embeddedFont>
    <p:embeddedFont>
      <p:font typeface="Open Sans"/>
      <p:regular r:id="rId102"/>
      <p:bold r:id="rId103"/>
      <p:italic r:id="rId104"/>
      <p:boldItalic r:id="rId10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06" roundtripDataSignature="AMtx7mgZXorPf0D4QihnSuoLVXOqgPCaV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67A6EC7-0815-422C-A1C3-3E13D58E9C53}">
  <a:tblStyle styleId="{D67A6EC7-0815-422C-A1C3-3E13D58E9C5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7B27597-F740-405F-8D09-B14D3A350EA3}"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74466135-534C-4DE0-9D03-2267C9AB3275}" styleName="Table_2">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6" Type="http://customschemas.google.com/relationships/presentationmetadata" Target="metadata"/><Relationship Id="rId105" Type="http://schemas.openxmlformats.org/officeDocument/2006/relationships/font" Target="fonts/OpenSans-boldItalic.fntdata"/><Relationship Id="rId104" Type="http://schemas.openxmlformats.org/officeDocument/2006/relationships/font" Target="fonts/OpenSans-italic.fntdata"/><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font" Target="fonts/OpenSans-bold.fntdata"/><Relationship Id="rId102" Type="http://schemas.openxmlformats.org/officeDocument/2006/relationships/font" Target="fonts/OpenSans-regular.fntdata"/><Relationship Id="rId101" Type="http://schemas.openxmlformats.org/officeDocument/2006/relationships/font" Target="fonts/PTSansNarrow-bold.fntdata"/><Relationship Id="rId100" Type="http://schemas.openxmlformats.org/officeDocument/2006/relationships/font" Target="fonts/PTSansNarrow-regular.fntdata"/><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11" Type="http://schemas.openxmlformats.org/officeDocument/2006/relationships/slide" Target="slides/slide4.xml"/><Relationship Id="rId99" Type="http://schemas.openxmlformats.org/officeDocument/2006/relationships/slide" Target="slides/slide92.xml"/><Relationship Id="rId10" Type="http://schemas.openxmlformats.org/officeDocument/2006/relationships/slide" Target="slides/slide3.xml"/><Relationship Id="rId98" Type="http://schemas.openxmlformats.org/officeDocument/2006/relationships/slide" Target="slides/slide91.xml"/><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8ea241925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g28ea2419252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783c4c71c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g2783c4c71c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785df75f99_3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g2785df75f99_3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8ea2419252_13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g28ea2419252_13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8ea2419252_1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g28ea2419252_1_1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hd72da3054435e2_25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hd72da3054435e2_25_1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hd72da3054435e2_25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hd72da3054435e2_25_2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h7b893a0582d097a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h7b893a0582d097ac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8ea2419252_1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g28ea2419252_1_2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8ea2419252_1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g28ea2419252_1_2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8ea2419252_1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g28ea2419252_1_3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8ea2419252_1_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g28ea2419252_1_4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8ea2419252_1_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g28ea2419252_1_6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8ea2419252_1_6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g28ea2419252_1_6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8ea2419252_1_6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g28ea2419252_1_6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8ea2419252_1_6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g28ea2419252_1_6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hd72da3054435e2_3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hd72da3054435e2_38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28ea2419252_1_6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g28ea2419252_1_6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8ea2419252_1_6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g28ea2419252_1_6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8ea2419252_1_6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g28ea2419252_1_6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8ea2419252_1_6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g28ea2419252_1_6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28ea2419252_1_7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g28ea2419252_1_7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hd72da3054435e2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hd72da3054435e2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28ea2419252_1_7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8" name="Google Shape;278;g28ea2419252_1_7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9" name="Google Shape;279;g28ea2419252_1_727:notes"/>
          <p:cNvSpPr txBox="1"/>
          <p:nvPr>
            <p:ph idx="12" type="sldNum"/>
          </p:nvPr>
        </p:nvSpPr>
        <p:spPr>
          <a:xfrm>
            <a:off x="3884613" y="8685213"/>
            <a:ext cx="29718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de-CH"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ec5f4765d8_4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g2ec5f4765d8_4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8ea2419252_1_7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g28ea2419252_1_7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h7b893a0582d097ac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7" name="Google Shape;297;h7b893a0582d097ac_1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28ea2419252_1_7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 name="Google Shape;303;g28ea2419252_1_7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785df75f9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9" name="Google Shape;309;g2785df75f99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hd72da3054435e2_8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 name="Google Shape;315;hd72da3054435e2_8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2785df75f99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1" name="Google Shape;321;g2785df75f99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785df75f99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g2785df75f99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2785df75f99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5" name="Google Shape;335;g2785df75f99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2785df75f99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1" name="Google Shape;341;g2785df75f99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hd72da3054435e2_16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7" name="Google Shape;347;hd72da3054435e2_16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8ea2419252_1_7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5" name="Google Shape;355;g28ea2419252_1_7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h7b893a0582d097ac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0" name="Google Shape;360;h7b893a0582d097ac_1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hd72da3054435e2_25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7" name="Google Shape;367;hd72da3054435e2_25_2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h7b893a0582d097ac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4" name="Google Shape;374;h7b893a0582d097ac_1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hd72da3054435e2_23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0" name="Google Shape;380;hd72da3054435e2_23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hd72da3054435e2_23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6" name="Google Shape;386;hd72da3054435e2_23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hd72da3054435e2_23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3" name="Google Shape;393;hd72da3054435e2_23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28ea2419252_1_7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0" name="Google Shape;400;g28ea2419252_1_7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1" name="Google Shape;401;g28ea2419252_1_787:notes"/>
          <p:cNvSpPr txBox="1"/>
          <p:nvPr>
            <p:ph idx="12" type="sldNum"/>
          </p:nvPr>
        </p:nvSpPr>
        <p:spPr>
          <a:xfrm>
            <a:off x="3884613" y="8685213"/>
            <a:ext cx="29718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de-CH"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28ea2419252_1_7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6" name="Google Shape;406;g28ea2419252_1_7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7" name="Google Shape;407;g28ea2419252_1_792:notes"/>
          <p:cNvSpPr txBox="1"/>
          <p:nvPr>
            <p:ph idx="12" type="sldNum"/>
          </p:nvPr>
        </p:nvSpPr>
        <p:spPr>
          <a:xfrm>
            <a:off x="3884613" y="8685213"/>
            <a:ext cx="29718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de-CH"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28ea2419252_1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3" name="Google Shape;413;g28ea2419252_1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h7b893a0582d097ac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8" name="Google Shape;418;h7b893a0582d097ac_1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h7b893a0582d097ac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3" name="Google Shape;423;h7b893a0582d097ac_1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h7b893a0582d097ac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8" name="Google Shape;428;h7b893a0582d097ac_1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h7b893a0582d097ac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3" name="Google Shape;433;h7b893a0582d097ac_1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h7b893a0582d097ac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1" name="Google Shape;441;h7b893a0582d097ac_1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h7b893a0582d097ac_1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7" name="Google Shape;447;h7b893a0582d097ac_1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h7b893a0582d097ac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2" name="Google Shape;452;h7b893a0582d097ac_1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h7b893a0582d097ac_1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8" name="Google Shape;458;h7b893a0582d097ac_1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h7b893a0582d097ac_1_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3" name="Google Shape;463;h7b893a0582d097ac_1_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4" name="Google Shape;464;h7b893a0582d097ac_1_61:notes"/>
          <p:cNvSpPr txBox="1"/>
          <p:nvPr>
            <p:ph idx="12" type="sldNum"/>
          </p:nvPr>
        </p:nvSpPr>
        <p:spPr>
          <a:xfrm>
            <a:off x="3884613" y="8685213"/>
            <a:ext cx="29718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de-CH"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h7b893a0582d097ac_1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9" name="Google Shape;469;h7b893a0582d097ac_1_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h7b893a0582d097ac_1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4" name="Google Shape;474;h7b893a0582d097ac_1_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h7b893a0582d097ac_1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0" name="Google Shape;480;h7b893a0582d097ac_1_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h7b893a0582d097ac_1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5" name="Google Shape;485;h7b893a0582d097ac_1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h7b893a0582d097ac_1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0" name="Google Shape;490;h7b893a0582d097ac_1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h7b893a0582d097ac_1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0" name="Google Shape;500;h7b893a0582d097ac_1_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hd72da3054435e2_3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hd72da3054435e2_3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hd72da3054435e2_33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hd72da3054435e2_33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hd72da3054435e2_33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hd72da3054435e2_33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hd72da3054435e2_33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hd72da3054435e2_33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hd72da3054435e2_33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hd72da3054435e2_33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hd72da3054435e2_33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hd72da3054435e2_33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hd72da3054435e2_33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hd72da3054435e2_33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h7b893a0582d097ac_1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0" name="Google Shape;560;h7b893a0582d097ac_1_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h7b893a0582d097ac_1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5" name="Google Shape;565;h7b893a0582d097ac_1_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hd72da3054435e2_17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0" name="Google Shape;570;hd72da3054435e2_17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h7b893a0582d097ac_1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5" name="Google Shape;575;h7b893a0582d097ac_1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h7b893a0582d097ac_1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0" name="Google Shape;580;h7b893a0582d097ac_1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hd72da3054435e2_1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hd72da3054435e2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h7b893a0582d097ac_1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6" name="Google Shape;596;h7b893a0582d097ac_1_1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h7b893a0582d097ac_1_1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2" name="Google Shape;602;h7b893a0582d097ac_1_1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3" name="Google Shape;603;h7b893a0582d097ac_1_123:notes"/>
          <p:cNvSpPr txBox="1"/>
          <p:nvPr>
            <p:ph idx="12" type="sldNum"/>
          </p:nvPr>
        </p:nvSpPr>
        <p:spPr>
          <a:xfrm>
            <a:off x="3884613" y="8685213"/>
            <a:ext cx="29718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de-CH"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h7b893a0582d097ac_1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8" name="Google Shape;608;h7b893a0582d097ac_1_1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h7b893a0582d097ac_1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3" name="Google Shape;613;h7b893a0582d097ac_1_1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h7b893a0582d097ac_1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8" name="Google Shape;618;h7b893a0582d097ac_1_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h7b893a0582d097ac_1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3" name="Google Shape;623;h7b893a0582d097ac_1_1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h7b893a0582d097ac_1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8" name="Google Shape;628;h7b893a0582d097ac_1_1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hd72da3054435e2_3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hd72da3054435e2_3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hd72da3054435e2_3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hd72da3054435e2_3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hd72da3054435e2_3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hd72da3054435e2_3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h7b893a0582d097ac_1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4" name="Google Shape;654;h7b893a0582d097ac_1_1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h7b893a0582d097ac_1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9" name="Google Shape;659;h7b893a0582d097ac_1_1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h7b893a0582d097ac_1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4" name="Google Shape;664;h7b893a0582d097ac_1_1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2785df75f99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0" name="Google Shape;670;g2785df75f99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28ea2419252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5" name="Google Shape;675;g28ea2419252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2785df75f99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0" name="Google Shape;680;g2785df75f99_0_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6" name="Google Shape;686;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43"/>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43"/>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43"/>
          <p:cNvGrpSpPr/>
          <p:nvPr/>
        </p:nvGrpSpPr>
        <p:grpSpPr>
          <a:xfrm>
            <a:off x="1004144" y="1022025"/>
            <a:ext cx="7136668" cy="152400"/>
            <a:chOff x="1346429" y="1011300"/>
            <a:chExt cx="6452100" cy="152400"/>
          </a:xfrm>
        </p:grpSpPr>
        <p:cxnSp>
          <p:nvCxnSpPr>
            <p:cNvPr id="13" name="Google Shape;13;p43"/>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43"/>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43"/>
          <p:cNvGrpSpPr/>
          <p:nvPr/>
        </p:nvGrpSpPr>
        <p:grpSpPr>
          <a:xfrm>
            <a:off x="1004151" y="3969100"/>
            <a:ext cx="7136668" cy="152400"/>
            <a:chOff x="1346435" y="3969088"/>
            <a:chExt cx="6452100" cy="152400"/>
          </a:xfrm>
        </p:grpSpPr>
        <p:cxnSp>
          <p:nvCxnSpPr>
            <p:cNvPr id="16" name="Google Shape;16;p43"/>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43"/>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43"/>
          <p:cNvSpPr txBox="1"/>
          <p:nvPr>
            <p:ph type="ctrTitle"/>
          </p:nvPr>
        </p:nvSpPr>
        <p:spPr>
          <a:xfrm>
            <a:off x="1004150" y="1751764"/>
            <a:ext cx="7136700" cy="1022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400"/>
              <a:buNone/>
              <a:defRPr sz="5400"/>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p:txBody>
      </p:sp>
      <p:sp>
        <p:nvSpPr>
          <p:cNvPr id="19" name="Google Shape;19;p43"/>
          <p:cNvSpPr txBox="1"/>
          <p:nvPr>
            <p:ph idx="1" type="subTitle"/>
          </p:nvPr>
        </p:nvSpPr>
        <p:spPr>
          <a:xfrm>
            <a:off x="2137225" y="2850039"/>
            <a:ext cx="48705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de-CH"/>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4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4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24" name="Google Shape;24;p44"/>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5" name="Google Shape;25;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de-CH"/>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g28ea2419252_0_65"/>
          <p:cNvSpPr txBox="1"/>
          <p:nvPr>
            <p:ph idx="1" type="body"/>
          </p:nvPr>
        </p:nvSpPr>
        <p:spPr>
          <a:xfrm>
            <a:off x="457200" y="1110996"/>
            <a:ext cx="8229600" cy="3394500"/>
          </a:xfrm>
          <a:prstGeom prst="rect">
            <a:avLst/>
          </a:prstGeom>
          <a:noFill/>
          <a:ln>
            <a:noFill/>
          </a:ln>
        </p:spPr>
        <p:txBody>
          <a:bodyPr anchorCtr="0" anchor="t" bIns="45700" lIns="91425" spcFirstLastPara="1" rIns="91425" wrap="square" tIns="45700">
            <a:normAutofit/>
          </a:bodyPr>
          <a:lstStyle>
            <a:lvl1pPr indent="-306324" lvl="0" marL="457200" algn="l">
              <a:lnSpc>
                <a:spcPct val="115000"/>
              </a:lnSpc>
              <a:spcBef>
                <a:spcPts val="400"/>
              </a:spcBef>
              <a:spcAft>
                <a:spcPts val="0"/>
              </a:spcAft>
              <a:buSzPts val="1224"/>
              <a:buChar char="●"/>
              <a:defRPr/>
            </a:lvl1pPr>
            <a:lvl2pPr indent="-342900" lvl="1" marL="914400" algn="l">
              <a:lnSpc>
                <a:spcPct val="115000"/>
              </a:lnSpc>
              <a:spcBef>
                <a:spcPts val="324"/>
              </a:spcBef>
              <a:spcAft>
                <a:spcPts val="0"/>
              </a:spcAft>
              <a:buSzPts val="1800"/>
              <a:buChar char="○"/>
              <a:defRPr/>
            </a:lvl2pPr>
            <a:lvl3pPr indent="-342900" lvl="2" marL="1371600" algn="l">
              <a:lnSpc>
                <a:spcPct val="115000"/>
              </a:lnSpc>
              <a:spcBef>
                <a:spcPts val="350"/>
              </a:spcBef>
              <a:spcAft>
                <a:spcPts val="0"/>
              </a:spcAft>
              <a:buSzPts val="1800"/>
              <a:buChar char="■"/>
              <a:defRPr/>
            </a:lvl3pPr>
            <a:lvl4pPr indent="-342900" lvl="3" marL="1828800" algn="l">
              <a:lnSpc>
                <a:spcPct val="115000"/>
              </a:lnSpc>
              <a:spcBef>
                <a:spcPts val="350"/>
              </a:spcBef>
              <a:spcAft>
                <a:spcPts val="0"/>
              </a:spcAft>
              <a:buSzPts val="1800"/>
              <a:buChar char="●"/>
              <a:defRPr/>
            </a:lvl4pPr>
            <a:lvl5pPr indent="-342900" lvl="4" marL="2286000" algn="l">
              <a:lnSpc>
                <a:spcPct val="115000"/>
              </a:lnSpc>
              <a:spcBef>
                <a:spcPts val="350"/>
              </a:spcBef>
              <a:spcAft>
                <a:spcPts val="0"/>
              </a:spcAft>
              <a:buSzPts val="1800"/>
              <a:buChar char="○"/>
              <a:defRPr/>
            </a:lvl5pPr>
            <a:lvl6pPr indent="-342900" lvl="5" marL="2743200" algn="l">
              <a:lnSpc>
                <a:spcPct val="115000"/>
              </a:lnSpc>
              <a:spcBef>
                <a:spcPts val="350"/>
              </a:spcBef>
              <a:spcAft>
                <a:spcPts val="0"/>
              </a:spcAft>
              <a:buSzPts val="1800"/>
              <a:buChar char="■"/>
              <a:defRPr/>
            </a:lvl6pPr>
            <a:lvl7pPr indent="-342900" lvl="6" marL="3200400" algn="l">
              <a:lnSpc>
                <a:spcPct val="115000"/>
              </a:lnSpc>
              <a:spcBef>
                <a:spcPts val="350"/>
              </a:spcBef>
              <a:spcAft>
                <a:spcPts val="0"/>
              </a:spcAft>
              <a:buSzPts val="1800"/>
              <a:buChar char="●"/>
              <a:defRPr/>
            </a:lvl7pPr>
            <a:lvl8pPr indent="-342900" lvl="7" marL="3657600" algn="l">
              <a:lnSpc>
                <a:spcPct val="115000"/>
              </a:lnSpc>
              <a:spcBef>
                <a:spcPts val="350"/>
              </a:spcBef>
              <a:spcAft>
                <a:spcPts val="0"/>
              </a:spcAft>
              <a:buSzPts val="1800"/>
              <a:buChar char="○"/>
              <a:defRPr/>
            </a:lvl8pPr>
            <a:lvl9pPr indent="-342900" lvl="8" marL="4114800" algn="l">
              <a:lnSpc>
                <a:spcPct val="115000"/>
              </a:lnSpc>
              <a:spcBef>
                <a:spcPts val="350"/>
              </a:spcBef>
              <a:spcAft>
                <a:spcPts val="0"/>
              </a:spcAft>
              <a:buSzPts val="1800"/>
              <a:buChar char="■"/>
              <a:defRPr/>
            </a:lvl9pPr>
          </a:lstStyle>
          <a:p/>
        </p:txBody>
      </p:sp>
      <p:sp>
        <p:nvSpPr>
          <p:cNvPr id="28" name="Google Shape;28;g28ea2419252_0_65"/>
          <p:cNvSpPr txBox="1"/>
          <p:nvPr>
            <p:ph idx="10" type="dt"/>
          </p:nvPr>
        </p:nvSpPr>
        <p:spPr>
          <a:xfrm>
            <a:off x="6727032" y="4805958"/>
            <a:ext cx="1920300" cy="274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9" name="Google Shape;29;g28ea2419252_0_65"/>
          <p:cNvSpPr txBox="1"/>
          <p:nvPr>
            <p:ph idx="11" type="ftr"/>
          </p:nvPr>
        </p:nvSpPr>
        <p:spPr>
          <a:xfrm>
            <a:off x="4380072" y="4805958"/>
            <a:ext cx="2350800" cy="273900"/>
          </a:xfrm>
          <a:prstGeom prst="rect">
            <a:avLst/>
          </a:prstGeom>
          <a:noFill/>
          <a:ln>
            <a:noFill/>
          </a:ln>
        </p:spPr>
        <p:txBody>
          <a:bodyPr anchorCtr="0" anchor="b"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0" name="Google Shape;30;g28ea2419252_0_65"/>
          <p:cNvSpPr txBox="1"/>
          <p:nvPr>
            <p:ph idx="12" type="sldNum"/>
          </p:nvPr>
        </p:nvSpPr>
        <p:spPr>
          <a:xfrm>
            <a:off x="8647272" y="4805958"/>
            <a:ext cx="365700" cy="273900"/>
          </a:xfrm>
          <a:prstGeom prst="rect">
            <a:avLst/>
          </a:prstGeom>
          <a:noFill/>
          <a:ln>
            <a:noFill/>
          </a:ln>
        </p:spPr>
        <p:txBody>
          <a:bodyPr anchorCtr="0" anchor="b" bIns="45700" lIns="91425" spcFirstLastPara="1" rIns="91425" wrap="square" tIns="4570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de-CH"/>
              <a:t>‹#›</a:t>
            </a:fld>
            <a:endParaRPr/>
          </a:p>
        </p:txBody>
      </p:sp>
      <p:sp>
        <p:nvSpPr>
          <p:cNvPr id="31" name="Google Shape;31;g28ea2419252_0_65"/>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46"/>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46"/>
          <p:cNvSpPr txBox="1"/>
          <p:nvPr>
            <p:ph type="title"/>
          </p:nvPr>
        </p:nvSpPr>
        <p:spPr>
          <a:xfrm>
            <a:off x="311700" y="814800"/>
            <a:ext cx="8571300" cy="942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a:lvl1pPr>
            <a:lvl2pPr lvl="1" algn="ctr">
              <a:lnSpc>
                <a:spcPct val="100000"/>
              </a:lnSpc>
              <a:spcBef>
                <a:spcPts val="0"/>
              </a:spcBef>
              <a:spcAft>
                <a:spcPts val="0"/>
              </a:spcAft>
              <a:buSzPts val="3600"/>
              <a:buNone/>
              <a:defRPr/>
            </a:lvl2pPr>
            <a:lvl3pPr lvl="2" algn="ctr">
              <a:lnSpc>
                <a:spcPct val="100000"/>
              </a:lnSpc>
              <a:spcBef>
                <a:spcPts val="0"/>
              </a:spcBef>
              <a:spcAft>
                <a:spcPts val="0"/>
              </a:spcAft>
              <a:buSzPts val="3600"/>
              <a:buNone/>
              <a:defRPr/>
            </a:lvl3pPr>
            <a:lvl4pPr lvl="3" algn="ctr">
              <a:lnSpc>
                <a:spcPct val="100000"/>
              </a:lnSpc>
              <a:spcBef>
                <a:spcPts val="0"/>
              </a:spcBef>
              <a:spcAft>
                <a:spcPts val="0"/>
              </a:spcAft>
              <a:buSzPts val="3600"/>
              <a:buNone/>
              <a:defRPr/>
            </a:lvl4pPr>
            <a:lvl5pPr lvl="4" algn="ctr">
              <a:lnSpc>
                <a:spcPct val="100000"/>
              </a:lnSpc>
              <a:spcBef>
                <a:spcPts val="0"/>
              </a:spcBef>
              <a:spcAft>
                <a:spcPts val="0"/>
              </a:spcAft>
              <a:buSzPts val="3600"/>
              <a:buNone/>
              <a:defRPr/>
            </a:lvl5pPr>
            <a:lvl6pPr lvl="5" algn="ctr">
              <a:lnSpc>
                <a:spcPct val="100000"/>
              </a:lnSpc>
              <a:spcBef>
                <a:spcPts val="0"/>
              </a:spcBef>
              <a:spcAft>
                <a:spcPts val="0"/>
              </a:spcAft>
              <a:buSzPts val="3600"/>
              <a:buNone/>
              <a:defRPr/>
            </a:lvl6pPr>
            <a:lvl7pPr lvl="6" algn="ctr">
              <a:lnSpc>
                <a:spcPct val="100000"/>
              </a:lnSpc>
              <a:spcBef>
                <a:spcPts val="0"/>
              </a:spcBef>
              <a:spcAft>
                <a:spcPts val="0"/>
              </a:spcAft>
              <a:buSzPts val="3600"/>
              <a:buNone/>
              <a:defRPr/>
            </a:lvl7pPr>
            <a:lvl8pPr lvl="7" algn="ctr">
              <a:lnSpc>
                <a:spcPct val="100000"/>
              </a:lnSpc>
              <a:spcBef>
                <a:spcPts val="0"/>
              </a:spcBef>
              <a:spcAft>
                <a:spcPts val="0"/>
              </a:spcAft>
              <a:buSzPts val="3600"/>
              <a:buNone/>
              <a:defRPr/>
            </a:lvl8pPr>
            <a:lvl9pPr lvl="8" algn="ctr">
              <a:lnSpc>
                <a:spcPct val="100000"/>
              </a:lnSpc>
              <a:spcBef>
                <a:spcPts val="0"/>
              </a:spcBef>
              <a:spcAft>
                <a:spcPts val="0"/>
              </a:spcAft>
              <a:buSzPts val="3600"/>
              <a:buNone/>
              <a:defRPr/>
            </a:lvl9pPr>
          </a:lstStyle>
          <a:p/>
        </p:txBody>
      </p:sp>
      <p:sp>
        <p:nvSpPr>
          <p:cNvPr id="35" name="Google Shape;35;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de-CH"/>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45"/>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8" name="Google Shape;38;p45"/>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9" name="Google Shape;39;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de-CH"/>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0" name="Shape 40"/>
        <p:cNvGrpSpPr/>
        <p:nvPr/>
      </p:nvGrpSpPr>
      <p:grpSpPr>
        <a:xfrm>
          <a:off x="0" y="0"/>
          <a:ext cx="0" cy="0"/>
          <a:chOff x="0" y="0"/>
          <a:chExt cx="0" cy="0"/>
        </a:xfrm>
      </p:grpSpPr>
      <p:sp>
        <p:nvSpPr>
          <p:cNvPr id="41" name="Google Shape;41;p4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42" name="Google Shape;42;p47"/>
          <p:cNvSpPr txBox="1"/>
          <p:nvPr>
            <p:ph idx="1" type="body"/>
          </p:nvPr>
        </p:nvSpPr>
        <p:spPr>
          <a:xfrm>
            <a:off x="311700" y="1266175"/>
            <a:ext cx="3999900" cy="33027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3" name="Google Shape;43;p47"/>
          <p:cNvSpPr txBox="1"/>
          <p:nvPr>
            <p:ph idx="2" type="body"/>
          </p:nvPr>
        </p:nvSpPr>
        <p:spPr>
          <a:xfrm>
            <a:off x="4832400" y="1266175"/>
            <a:ext cx="3999900" cy="33027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4" name="Google Shape;44;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de-CH"/>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48"/>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47" name="Google Shape;47;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de-CH"/>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8" name="Shape 48"/>
        <p:cNvGrpSpPr/>
        <p:nvPr/>
      </p:nvGrpSpPr>
      <p:grpSpPr>
        <a:xfrm>
          <a:off x="0" y="0"/>
          <a:ext cx="0" cy="0"/>
          <a:chOff x="0" y="0"/>
          <a:chExt cx="0" cy="0"/>
        </a:xfrm>
      </p:grpSpPr>
      <p:sp>
        <p:nvSpPr>
          <p:cNvPr id="49" name="Google Shape;49;p49"/>
          <p:cNvSpPr txBox="1"/>
          <p:nvPr>
            <p:ph type="title"/>
          </p:nvPr>
        </p:nvSpPr>
        <p:spPr>
          <a:xfrm>
            <a:off x="490250" y="526350"/>
            <a:ext cx="56136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dk2"/>
              </a:buClr>
              <a:buSzPts val="5400"/>
              <a:buNone/>
              <a:defRPr b="0" sz="5400">
                <a:solidFill>
                  <a:schemeClr val="dk2"/>
                </a:solidFill>
              </a:defRPr>
            </a:lvl1pPr>
            <a:lvl2pPr lvl="1" algn="l">
              <a:lnSpc>
                <a:spcPct val="100000"/>
              </a:lnSpc>
              <a:spcBef>
                <a:spcPts val="0"/>
              </a:spcBef>
              <a:spcAft>
                <a:spcPts val="0"/>
              </a:spcAft>
              <a:buClr>
                <a:schemeClr val="dk2"/>
              </a:buClr>
              <a:buSzPts val="5400"/>
              <a:buNone/>
              <a:defRPr b="0" sz="5400">
                <a:solidFill>
                  <a:schemeClr val="dk2"/>
                </a:solidFill>
              </a:defRPr>
            </a:lvl2pPr>
            <a:lvl3pPr lvl="2" algn="l">
              <a:lnSpc>
                <a:spcPct val="100000"/>
              </a:lnSpc>
              <a:spcBef>
                <a:spcPts val="0"/>
              </a:spcBef>
              <a:spcAft>
                <a:spcPts val="0"/>
              </a:spcAft>
              <a:buClr>
                <a:schemeClr val="dk2"/>
              </a:buClr>
              <a:buSzPts val="5400"/>
              <a:buNone/>
              <a:defRPr b="0" sz="5400">
                <a:solidFill>
                  <a:schemeClr val="dk2"/>
                </a:solidFill>
              </a:defRPr>
            </a:lvl3pPr>
            <a:lvl4pPr lvl="3" algn="l">
              <a:lnSpc>
                <a:spcPct val="100000"/>
              </a:lnSpc>
              <a:spcBef>
                <a:spcPts val="0"/>
              </a:spcBef>
              <a:spcAft>
                <a:spcPts val="0"/>
              </a:spcAft>
              <a:buClr>
                <a:schemeClr val="dk2"/>
              </a:buClr>
              <a:buSzPts val="5400"/>
              <a:buNone/>
              <a:defRPr b="0" sz="5400">
                <a:solidFill>
                  <a:schemeClr val="dk2"/>
                </a:solidFill>
              </a:defRPr>
            </a:lvl4pPr>
            <a:lvl5pPr lvl="4" algn="l">
              <a:lnSpc>
                <a:spcPct val="100000"/>
              </a:lnSpc>
              <a:spcBef>
                <a:spcPts val="0"/>
              </a:spcBef>
              <a:spcAft>
                <a:spcPts val="0"/>
              </a:spcAft>
              <a:buClr>
                <a:schemeClr val="dk2"/>
              </a:buClr>
              <a:buSzPts val="5400"/>
              <a:buNone/>
              <a:defRPr b="0" sz="5400">
                <a:solidFill>
                  <a:schemeClr val="dk2"/>
                </a:solidFill>
              </a:defRPr>
            </a:lvl5pPr>
            <a:lvl6pPr lvl="5" algn="l">
              <a:lnSpc>
                <a:spcPct val="100000"/>
              </a:lnSpc>
              <a:spcBef>
                <a:spcPts val="0"/>
              </a:spcBef>
              <a:spcAft>
                <a:spcPts val="0"/>
              </a:spcAft>
              <a:buClr>
                <a:schemeClr val="dk2"/>
              </a:buClr>
              <a:buSzPts val="5400"/>
              <a:buNone/>
              <a:defRPr b="0" sz="5400">
                <a:solidFill>
                  <a:schemeClr val="dk2"/>
                </a:solidFill>
              </a:defRPr>
            </a:lvl6pPr>
            <a:lvl7pPr lvl="6" algn="l">
              <a:lnSpc>
                <a:spcPct val="100000"/>
              </a:lnSpc>
              <a:spcBef>
                <a:spcPts val="0"/>
              </a:spcBef>
              <a:spcAft>
                <a:spcPts val="0"/>
              </a:spcAft>
              <a:buClr>
                <a:schemeClr val="dk2"/>
              </a:buClr>
              <a:buSzPts val="5400"/>
              <a:buNone/>
              <a:defRPr b="0" sz="5400">
                <a:solidFill>
                  <a:schemeClr val="dk2"/>
                </a:solidFill>
              </a:defRPr>
            </a:lvl7pPr>
            <a:lvl8pPr lvl="7" algn="l">
              <a:lnSpc>
                <a:spcPct val="100000"/>
              </a:lnSpc>
              <a:spcBef>
                <a:spcPts val="0"/>
              </a:spcBef>
              <a:spcAft>
                <a:spcPts val="0"/>
              </a:spcAft>
              <a:buClr>
                <a:schemeClr val="dk2"/>
              </a:buClr>
              <a:buSzPts val="5400"/>
              <a:buNone/>
              <a:defRPr b="0" sz="5400">
                <a:solidFill>
                  <a:schemeClr val="dk2"/>
                </a:solidFill>
              </a:defRPr>
            </a:lvl8pPr>
            <a:lvl9pPr lvl="8" algn="l">
              <a:lnSpc>
                <a:spcPct val="100000"/>
              </a:lnSpc>
              <a:spcBef>
                <a:spcPts val="0"/>
              </a:spcBef>
              <a:spcAft>
                <a:spcPts val="0"/>
              </a:spcAft>
              <a:buClr>
                <a:schemeClr val="dk2"/>
              </a:buClr>
              <a:buSzPts val="5400"/>
              <a:buNone/>
              <a:defRPr b="0" sz="5400">
                <a:solidFill>
                  <a:schemeClr val="dk2"/>
                </a:solidFill>
              </a:defRPr>
            </a:lvl9pPr>
          </a:lstStyle>
          <a:p/>
        </p:txBody>
      </p:sp>
      <p:sp>
        <p:nvSpPr>
          <p:cNvPr id="50" name="Google Shape;50;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de-CH"/>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50"/>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3" name="Google Shape;53;p50"/>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4" name="Google Shape;54;p50"/>
          <p:cNvSpPr txBox="1"/>
          <p:nvPr>
            <p:ph type="title"/>
          </p:nvPr>
        </p:nvSpPr>
        <p:spPr>
          <a:xfrm>
            <a:off x="265500" y="1039675"/>
            <a:ext cx="4045200" cy="1675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55" name="Google Shape;55;p50"/>
          <p:cNvSpPr txBox="1"/>
          <p:nvPr>
            <p:ph idx="1" type="subTitle"/>
          </p:nvPr>
        </p:nvSpPr>
        <p:spPr>
          <a:xfrm>
            <a:off x="265500" y="27268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6" name="Google Shape;56;p50"/>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57" name="Google Shape;57;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de-CH"/>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8" name="Shape 58"/>
        <p:cNvGrpSpPr/>
        <p:nvPr/>
      </p:nvGrpSpPr>
      <p:grpSpPr>
        <a:xfrm>
          <a:off x="0" y="0"/>
          <a:ext cx="0" cy="0"/>
          <a:chOff x="0" y="0"/>
          <a:chExt cx="0" cy="0"/>
        </a:xfrm>
      </p:grpSpPr>
      <p:sp>
        <p:nvSpPr>
          <p:cNvPr id="59" name="Google Shape;59;p51"/>
          <p:cNvSpPr txBox="1"/>
          <p:nvPr>
            <p:ph idx="1" type="body"/>
          </p:nvPr>
        </p:nvSpPr>
        <p:spPr>
          <a:xfrm>
            <a:off x="311700" y="42307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60" name="Google Shape;60;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de-CH"/>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1" name="Shape 61"/>
        <p:cNvGrpSpPr/>
        <p:nvPr/>
      </p:nvGrpSpPr>
      <p:grpSpPr>
        <a:xfrm>
          <a:off x="0" y="0"/>
          <a:ext cx="0" cy="0"/>
          <a:chOff x="0" y="0"/>
          <a:chExt cx="0" cy="0"/>
        </a:xfrm>
      </p:grpSpPr>
      <p:sp>
        <p:nvSpPr>
          <p:cNvPr id="62" name="Google Shape;62;p52"/>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52"/>
          <p:cNvSpPr txBox="1"/>
          <p:nvPr>
            <p:ph hasCustomPrompt="1" type="title"/>
          </p:nvPr>
        </p:nvSpPr>
        <p:spPr>
          <a:xfrm>
            <a:off x="311700" y="1304850"/>
            <a:ext cx="8520600" cy="1538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3"/>
              </a:buClr>
              <a:buSzPts val="13000"/>
              <a:buNone/>
              <a:defRPr sz="13000">
                <a:solidFill>
                  <a:schemeClr val="accent3"/>
                </a:solidFill>
              </a:defRPr>
            </a:lvl1pPr>
            <a:lvl2pPr lvl="1" algn="ctr">
              <a:lnSpc>
                <a:spcPct val="100000"/>
              </a:lnSpc>
              <a:spcBef>
                <a:spcPts val="0"/>
              </a:spcBef>
              <a:spcAft>
                <a:spcPts val="0"/>
              </a:spcAft>
              <a:buClr>
                <a:schemeClr val="accent3"/>
              </a:buClr>
              <a:buSzPts val="13000"/>
              <a:buNone/>
              <a:defRPr sz="13000">
                <a:solidFill>
                  <a:schemeClr val="accent3"/>
                </a:solidFill>
              </a:defRPr>
            </a:lvl2pPr>
            <a:lvl3pPr lvl="2" algn="ctr">
              <a:lnSpc>
                <a:spcPct val="100000"/>
              </a:lnSpc>
              <a:spcBef>
                <a:spcPts val="0"/>
              </a:spcBef>
              <a:spcAft>
                <a:spcPts val="0"/>
              </a:spcAft>
              <a:buClr>
                <a:schemeClr val="accent3"/>
              </a:buClr>
              <a:buSzPts val="13000"/>
              <a:buNone/>
              <a:defRPr sz="13000">
                <a:solidFill>
                  <a:schemeClr val="accent3"/>
                </a:solidFill>
              </a:defRPr>
            </a:lvl3pPr>
            <a:lvl4pPr lvl="3" algn="ctr">
              <a:lnSpc>
                <a:spcPct val="100000"/>
              </a:lnSpc>
              <a:spcBef>
                <a:spcPts val="0"/>
              </a:spcBef>
              <a:spcAft>
                <a:spcPts val="0"/>
              </a:spcAft>
              <a:buClr>
                <a:schemeClr val="accent3"/>
              </a:buClr>
              <a:buSzPts val="13000"/>
              <a:buNone/>
              <a:defRPr sz="13000">
                <a:solidFill>
                  <a:schemeClr val="accent3"/>
                </a:solidFill>
              </a:defRPr>
            </a:lvl4pPr>
            <a:lvl5pPr lvl="4" algn="ctr">
              <a:lnSpc>
                <a:spcPct val="100000"/>
              </a:lnSpc>
              <a:spcBef>
                <a:spcPts val="0"/>
              </a:spcBef>
              <a:spcAft>
                <a:spcPts val="0"/>
              </a:spcAft>
              <a:buClr>
                <a:schemeClr val="accent3"/>
              </a:buClr>
              <a:buSzPts val="13000"/>
              <a:buNone/>
              <a:defRPr sz="13000">
                <a:solidFill>
                  <a:schemeClr val="accent3"/>
                </a:solidFill>
              </a:defRPr>
            </a:lvl5pPr>
            <a:lvl6pPr lvl="5" algn="ctr">
              <a:lnSpc>
                <a:spcPct val="100000"/>
              </a:lnSpc>
              <a:spcBef>
                <a:spcPts val="0"/>
              </a:spcBef>
              <a:spcAft>
                <a:spcPts val="0"/>
              </a:spcAft>
              <a:buClr>
                <a:schemeClr val="accent3"/>
              </a:buClr>
              <a:buSzPts val="13000"/>
              <a:buNone/>
              <a:defRPr sz="13000">
                <a:solidFill>
                  <a:schemeClr val="accent3"/>
                </a:solidFill>
              </a:defRPr>
            </a:lvl6pPr>
            <a:lvl7pPr lvl="6" algn="ctr">
              <a:lnSpc>
                <a:spcPct val="100000"/>
              </a:lnSpc>
              <a:spcBef>
                <a:spcPts val="0"/>
              </a:spcBef>
              <a:spcAft>
                <a:spcPts val="0"/>
              </a:spcAft>
              <a:buClr>
                <a:schemeClr val="accent3"/>
              </a:buClr>
              <a:buSzPts val="13000"/>
              <a:buNone/>
              <a:defRPr sz="13000">
                <a:solidFill>
                  <a:schemeClr val="accent3"/>
                </a:solidFill>
              </a:defRPr>
            </a:lvl7pPr>
            <a:lvl8pPr lvl="7" algn="ctr">
              <a:lnSpc>
                <a:spcPct val="100000"/>
              </a:lnSpc>
              <a:spcBef>
                <a:spcPts val="0"/>
              </a:spcBef>
              <a:spcAft>
                <a:spcPts val="0"/>
              </a:spcAft>
              <a:buClr>
                <a:schemeClr val="accent3"/>
              </a:buClr>
              <a:buSzPts val="13000"/>
              <a:buNone/>
              <a:defRPr sz="13000">
                <a:solidFill>
                  <a:schemeClr val="accent3"/>
                </a:solidFill>
              </a:defRPr>
            </a:lvl8pPr>
            <a:lvl9pPr lvl="8" algn="ctr">
              <a:lnSpc>
                <a:spcPct val="100000"/>
              </a:lnSpc>
              <a:spcBef>
                <a:spcPts val="0"/>
              </a:spcBef>
              <a:spcAft>
                <a:spcPts val="0"/>
              </a:spcAft>
              <a:buClr>
                <a:schemeClr val="accent3"/>
              </a:buClr>
              <a:buSzPts val="13000"/>
              <a:buNone/>
              <a:defRPr sz="13000">
                <a:solidFill>
                  <a:schemeClr val="accent3"/>
                </a:solidFill>
              </a:defRPr>
            </a:lvl9pPr>
          </a:lstStyle>
          <a:p>
            <a:r>
              <a:t>xx%</a:t>
            </a:r>
          </a:p>
        </p:txBody>
      </p:sp>
      <p:sp>
        <p:nvSpPr>
          <p:cNvPr id="64" name="Google Shape;64;p52"/>
          <p:cNvSpPr txBox="1"/>
          <p:nvPr>
            <p:ph idx="1" type="body"/>
          </p:nvPr>
        </p:nvSpPr>
        <p:spPr>
          <a:xfrm>
            <a:off x="311700" y="2995650"/>
            <a:ext cx="85206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65" name="Google Shape;65;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de-CH"/>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de-CH"/>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2" name="Shape 72"/>
        <p:cNvGrpSpPr/>
        <p:nvPr/>
      </p:nvGrpSpPr>
      <p:grpSpPr>
        <a:xfrm>
          <a:off x="0" y="0"/>
          <a:ext cx="0" cy="0"/>
          <a:chOff x="0" y="0"/>
          <a:chExt cx="0" cy="0"/>
        </a:xfrm>
      </p:grpSpPr>
      <p:sp>
        <p:nvSpPr>
          <p:cNvPr id="73" name="Google Shape;73;hd72da3054435e2_33_14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74" name="Google Shape;74;hd72da3054435e2_33_14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75" name="Google Shape;75;hd72da3054435e2_33_1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CH"/>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6" name="Shape 76"/>
        <p:cNvGrpSpPr/>
        <p:nvPr/>
      </p:nvGrpSpPr>
      <p:grpSpPr>
        <a:xfrm>
          <a:off x="0" y="0"/>
          <a:ext cx="0" cy="0"/>
          <a:chOff x="0" y="0"/>
          <a:chExt cx="0" cy="0"/>
        </a:xfrm>
      </p:grpSpPr>
      <p:sp>
        <p:nvSpPr>
          <p:cNvPr id="77" name="Google Shape;77;hd72da3054435e2_33_14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78" name="Google Shape;78;hd72da3054435e2_33_1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CH"/>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9" name="Shape 79"/>
        <p:cNvGrpSpPr/>
        <p:nvPr/>
      </p:nvGrpSpPr>
      <p:grpSpPr>
        <a:xfrm>
          <a:off x="0" y="0"/>
          <a:ext cx="0" cy="0"/>
          <a:chOff x="0" y="0"/>
          <a:chExt cx="0" cy="0"/>
        </a:xfrm>
      </p:grpSpPr>
      <p:sp>
        <p:nvSpPr>
          <p:cNvPr id="80" name="Google Shape;80;hd72da3054435e2_33_14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1" name="Google Shape;81;hd72da3054435e2_33_1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2" name="Google Shape;82;hd72da3054435e2_33_1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CH"/>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3" name="Shape 83"/>
        <p:cNvGrpSpPr/>
        <p:nvPr/>
      </p:nvGrpSpPr>
      <p:grpSpPr>
        <a:xfrm>
          <a:off x="0" y="0"/>
          <a:ext cx="0" cy="0"/>
          <a:chOff x="0" y="0"/>
          <a:chExt cx="0" cy="0"/>
        </a:xfrm>
      </p:grpSpPr>
      <p:sp>
        <p:nvSpPr>
          <p:cNvPr id="84" name="Google Shape;84;hd72da3054435e2_33_15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5" name="Google Shape;85;hd72da3054435e2_33_152"/>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6" name="Google Shape;86;hd72da3054435e2_33_152"/>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7" name="Google Shape;87;hd72da3054435e2_33_1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CH"/>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8" name="Shape 88"/>
        <p:cNvGrpSpPr/>
        <p:nvPr/>
      </p:nvGrpSpPr>
      <p:grpSpPr>
        <a:xfrm>
          <a:off x="0" y="0"/>
          <a:ext cx="0" cy="0"/>
          <a:chOff x="0" y="0"/>
          <a:chExt cx="0" cy="0"/>
        </a:xfrm>
      </p:grpSpPr>
      <p:sp>
        <p:nvSpPr>
          <p:cNvPr id="89" name="Google Shape;89;hd72da3054435e2_33_15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hd72da3054435e2_33_1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CH"/>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1" name="Shape 91"/>
        <p:cNvGrpSpPr/>
        <p:nvPr/>
      </p:nvGrpSpPr>
      <p:grpSpPr>
        <a:xfrm>
          <a:off x="0" y="0"/>
          <a:ext cx="0" cy="0"/>
          <a:chOff x="0" y="0"/>
          <a:chExt cx="0" cy="0"/>
        </a:xfrm>
      </p:grpSpPr>
      <p:sp>
        <p:nvSpPr>
          <p:cNvPr id="92" name="Google Shape;92;hd72da3054435e2_33_160"/>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3" name="Google Shape;93;hd72da3054435e2_33_160"/>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4" name="Google Shape;94;hd72da3054435e2_33_1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CH"/>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5" name="Shape 95"/>
        <p:cNvGrpSpPr/>
        <p:nvPr/>
      </p:nvGrpSpPr>
      <p:grpSpPr>
        <a:xfrm>
          <a:off x="0" y="0"/>
          <a:ext cx="0" cy="0"/>
          <a:chOff x="0" y="0"/>
          <a:chExt cx="0" cy="0"/>
        </a:xfrm>
      </p:grpSpPr>
      <p:sp>
        <p:nvSpPr>
          <p:cNvPr id="96" name="Google Shape;96;hd72da3054435e2_33_164"/>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97" name="Google Shape;97;hd72da3054435e2_33_1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CH"/>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8" name="Shape 98"/>
        <p:cNvGrpSpPr/>
        <p:nvPr/>
      </p:nvGrpSpPr>
      <p:grpSpPr>
        <a:xfrm>
          <a:off x="0" y="0"/>
          <a:ext cx="0" cy="0"/>
          <a:chOff x="0" y="0"/>
          <a:chExt cx="0" cy="0"/>
        </a:xfrm>
      </p:grpSpPr>
      <p:sp>
        <p:nvSpPr>
          <p:cNvPr id="99" name="Google Shape;99;hd72da3054435e2_33_167"/>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hd72da3054435e2_33_167"/>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01" name="Google Shape;101;hd72da3054435e2_33_167"/>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02" name="Google Shape;102;hd72da3054435e2_33_167"/>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03" name="Google Shape;103;hd72da3054435e2_33_1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CH"/>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4" name="Shape 104"/>
        <p:cNvGrpSpPr/>
        <p:nvPr/>
      </p:nvGrpSpPr>
      <p:grpSpPr>
        <a:xfrm>
          <a:off x="0" y="0"/>
          <a:ext cx="0" cy="0"/>
          <a:chOff x="0" y="0"/>
          <a:chExt cx="0" cy="0"/>
        </a:xfrm>
      </p:grpSpPr>
      <p:sp>
        <p:nvSpPr>
          <p:cNvPr id="105" name="Google Shape;105;hd72da3054435e2_33_173"/>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106" name="Google Shape;106;hd72da3054435e2_33_1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CH"/>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7" name="Shape 107"/>
        <p:cNvGrpSpPr/>
        <p:nvPr/>
      </p:nvGrpSpPr>
      <p:grpSpPr>
        <a:xfrm>
          <a:off x="0" y="0"/>
          <a:ext cx="0" cy="0"/>
          <a:chOff x="0" y="0"/>
          <a:chExt cx="0" cy="0"/>
        </a:xfrm>
      </p:grpSpPr>
      <p:sp>
        <p:nvSpPr>
          <p:cNvPr id="108" name="Google Shape;108;hd72da3054435e2_33_176"/>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09" name="Google Shape;109;hd72da3054435e2_33_176"/>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110" name="Google Shape;110;hd72da3054435e2_33_1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CH"/>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1" name="Shape 111"/>
        <p:cNvGrpSpPr/>
        <p:nvPr/>
      </p:nvGrpSpPr>
      <p:grpSpPr>
        <a:xfrm>
          <a:off x="0" y="0"/>
          <a:ext cx="0" cy="0"/>
          <a:chOff x="0" y="0"/>
          <a:chExt cx="0" cy="0"/>
        </a:xfrm>
      </p:grpSpPr>
      <p:sp>
        <p:nvSpPr>
          <p:cNvPr id="112" name="Google Shape;112;hd72da3054435e2_33_18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CH"/>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3.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4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1pPr>
            <a:lvl2pPr lvl="1"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2pPr>
            <a:lvl3pPr lvl="2"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3pPr>
            <a:lvl4pPr lvl="3"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4pPr>
            <a:lvl5pPr lvl="4"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5pPr>
            <a:lvl6pPr lvl="5"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6pPr>
            <a:lvl7pPr lvl="6"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7pPr>
            <a:lvl8pPr lvl="7"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8pPr>
            <a:lvl9pPr lvl="8"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9pPr>
          </a:lstStyle>
          <a:p/>
        </p:txBody>
      </p:sp>
      <p:sp>
        <p:nvSpPr>
          <p:cNvPr id="7" name="Google Shape;7;p42"/>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Open Sans"/>
              <a:buChar char="●"/>
              <a:defRPr b="0" i="0" sz="1800" u="none" cap="none" strike="noStrike">
                <a:solidFill>
                  <a:schemeClr val="dk2"/>
                </a:solidFill>
                <a:latin typeface="Open Sans"/>
                <a:ea typeface="Open Sans"/>
                <a:cs typeface="Open Sans"/>
                <a:sym typeface="Open Sans"/>
              </a:defRPr>
            </a:lvl1pPr>
            <a:lvl2pPr indent="-317500" lvl="1" marL="9144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2pPr>
            <a:lvl3pPr indent="-317500" lvl="2" marL="13716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3pPr>
            <a:lvl4pPr indent="-317500" lvl="3" marL="18288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4pPr>
            <a:lvl5pPr indent="-317500" lvl="4" marL="22860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5pPr>
            <a:lvl6pPr indent="-317500" lvl="5" marL="27432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6pPr>
            <a:lvl7pPr indent="-317500" lvl="6" marL="32004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7pPr>
            <a:lvl8pPr indent="-317500" lvl="7" marL="36576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8pPr>
            <a:lvl9pPr indent="-317500" lvl="8" marL="41148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9pPr>
          </a:lstStyle>
          <a:p/>
        </p:txBody>
      </p:sp>
      <p:sp>
        <p:nvSpPr>
          <p:cNvPr id="8" name="Google Shape;8;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de-CH"/>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8" name="Shape 68"/>
        <p:cNvGrpSpPr/>
        <p:nvPr/>
      </p:nvGrpSpPr>
      <p:grpSpPr>
        <a:xfrm>
          <a:off x="0" y="0"/>
          <a:ext cx="0" cy="0"/>
          <a:chOff x="0" y="0"/>
          <a:chExt cx="0" cy="0"/>
        </a:xfrm>
      </p:grpSpPr>
      <p:sp>
        <p:nvSpPr>
          <p:cNvPr id="69" name="Google Shape;69;hd72da3054435e2_33_1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0" name="Google Shape;70;hd72da3054435e2_33_1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71" name="Google Shape;71;hd72da3054435e2_33_1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de-CH"/>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library.spit.ac.in/AS2024-25/comp-scheme-2024.pdf" TargetMode="External"/><Relationship Id="rId4" Type="http://schemas.openxmlformats.org/officeDocument/2006/relationships/hyperlink" Target="https://library.spit.ac.in/AS2024-25/comp-syll-2024.pdf"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1" Type="http://schemas.openxmlformats.org/officeDocument/2006/relationships/image" Target="../media/image39.jpg"/><Relationship Id="rId10" Type="http://schemas.openxmlformats.org/officeDocument/2006/relationships/hyperlink" Target="https://drive.google.com/file/d/1zNvPgHBpA5_Zy6Xyp3QKBTVydj3zHLLq/view?usp=drive_link" TargetMode="External"/><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moodle.spit.ac.in/course/view.php?id=2600" TargetMode="External"/><Relationship Id="rId4" Type="http://schemas.openxmlformats.org/officeDocument/2006/relationships/hyperlink" Target="https://docs.google.com/spreadsheets/d/1LrL0IP7e-JXL8ZxTAytr6f335hW082tF/edit?usp=drive_link&amp;ouid=102039828143584978645&amp;rtpof=true&amp;sd=true" TargetMode="External"/><Relationship Id="rId9" Type="http://schemas.openxmlformats.org/officeDocument/2006/relationships/hyperlink" Target="https://drive.google.com/file/d/19K176eNVSNbzuU38HIF9k8pIZ1gwuY9H/view?usp=drive_link" TargetMode="External"/><Relationship Id="rId5" Type="http://schemas.openxmlformats.org/officeDocument/2006/relationships/hyperlink" Target="https://drive.google.com/file/d/1Pjcow1lqxIUgRP28wjkko7hvlYu_xgSW/view?usp=drive_link" TargetMode="External"/><Relationship Id="rId6" Type="http://schemas.openxmlformats.org/officeDocument/2006/relationships/hyperlink" Target="https://drive.google.com/file/d/1eusZ1epZVluozLoC9oj2Gnh0TClt0Nkd/view?usp=drive_link" TargetMode="External"/><Relationship Id="rId7" Type="http://schemas.openxmlformats.org/officeDocument/2006/relationships/hyperlink" Target="https://drive.google.com/file/d/105SPKY7-4oYeBGCunTjENDTyL2U_OqnA/view?usp=drive_link" TargetMode="External"/><Relationship Id="rId8" Type="http://schemas.openxmlformats.org/officeDocument/2006/relationships/hyperlink" Target="https://drive.google.com/file/d/1WXYJKOsIlpZUM80Y_b--gHuZT0VjWmOS/view?usp=drive_link"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9.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hyperlink" Target="https://drive.google.com/file/d/1MdtJo7aheywK3D2SoT0fnc8Ii4I87VWW/view?usp=sharing"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s://drive.google.com/file/d/1yVCzptUAHAB7JG8ioJmkKxuVKWI0NTdE/view?usp=sharing" TargetMode="External"/><Relationship Id="rId4" Type="http://schemas.openxmlformats.org/officeDocument/2006/relationships/hyperlink" Target="https://drive.google.com/file/d/1cNbKmAUTvDkBCqct1wrzvA9VYpSagI2R/view?usp=sharing"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s://drive.google.com/file/d/16oR8o46WwVx6lkaNGlzVifPnFHaKH3BL/view?usp=sharing" TargetMode="External"/><Relationship Id="rId4" Type="http://schemas.openxmlformats.org/officeDocument/2006/relationships/hyperlink" Target="https://drive.google.com/file/d/1Av_rjzyfGylu5oWv0gCjZ9CCPu55sf73/view?usp=sharing"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9.png"/><Relationship Id="rId4" Type="http://schemas.openxmlformats.org/officeDocument/2006/relationships/image" Target="../media/image1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3.png"/><Relationship Id="rId4" Type="http://schemas.openxmlformats.org/officeDocument/2006/relationships/image" Target="../media/image1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37.jpg"/><Relationship Id="rId4" Type="http://schemas.openxmlformats.org/officeDocument/2006/relationships/image" Target="../media/image36.jpg"/><Relationship Id="rId5" Type="http://schemas.openxmlformats.org/officeDocument/2006/relationships/image" Target="../media/image33.jpg"/><Relationship Id="rId6" Type="http://schemas.openxmlformats.org/officeDocument/2006/relationships/image" Target="../media/image38.jpg"/><Relationship Id="rId7" Type="http://schemas.openxmlformats.org/officeDocument/2006/relationships/image" Target="../media/image35.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26.png"/><Relationship Id="rId4" Type="http://schemas.openxmlformats.org/officeDocument/2006/relationships/image" Target="../media/image2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21.png"/><Relationship Id="rId4" Type="http://schemas.openxmlformats.org/officeDocument/2006/relationships/image" Target="../media/image2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7.xml"/><Relationship Id="rId3" Type="http://schemas.openxmlformats.org/officeDocument/2006/relationships/image" Target="../media/image21.png"/><Relationship Id="rId4" Type="http://schemas.openxmlformats.org/officeDocument/2006/relationships/image" Target="../media/image2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9.xml"/><Relationship Id="rId3" Type="http://schemas.openxmlformats.org/officeDocument/2006/relationships/image" Target="../media/image26.png"/><Relationship Id="rId4" Type="http://schemas.openxmlformats.org/officeDocument/2006/relationships/image" Target="../media/image20.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22.png"/><Relationship Id="rId4" Type="http://schemas.openxmlformats.org/officeDocument/2006/relationships/image" Target="../media/image25.png"/><Relationship Id="rId5" Type="http://schemas.openxmlformats.org/officeDocument/2006/relationships/image" Target="../media/image24.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23.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29.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 Id="rId3" Type="http://schemas.openxmlformats.org/officeDocument/2006/relationships/image" Target="../media/image3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3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
          <p:cNvSpPr txBox="1"/>
          <p:nvPr>
            <p:ph type="ctrTitle"/>
          </p:nvPr>
        </p:nvSpPr>
        <p:spPr>
          <a:xfrm>
            <a:off x="50" y="1751775"/>
            <a:ext cx="9344400" cy="14016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00000"/>
              </a:lnSpc>
              <a:spcBef>
                <a:spcPts val="0"/>
              </a:spcBef>
              <a:spcAft>
                <a:spcPts val="0"/>
              </a:spcAft>
              <a:buSzPct val="123853"/>
              <a:buNone/>
            </a:pPr>
            <a:r>
              <a:rPr lang="de-CH" sz="4844"/>
              <a:t>        Department of Computer Engineering </a:t>
            </a:r>
            <a:endParaRPr sz="4844"/>
          </a:p>
          <a:p>
            <a:pPr indent="0" lvl="0" marL="0" rtl="0" algn="ctr">
              <a:lnSpc>
                <a:spcPct val="100000"/>
              </a:lnSpc>
              <a:spcBef>
                <a:spcPts val="0"/>
              </a:spcBef>
              <a:spcAft>
                <a:spcPts val="0"/>
              </a:spcAft>
              <a:buSzPct val="123853"/>
              <a:buNone/>
            </a:pPr>
            <a:r>
              <a:rPr lang="de-CH" sz="4844"/>
              <a:t> </a:t>
            </a:r>
            <a:endParaRPr sz="4844"/>
          </a:p>
          <a:p>
            <a:pPr indent="0" lvl="0" marL="0" rtl="0" algn="ctr">
              <a:lnSpc>
                <a:spcPct val="100000"/>
              </a:lnSpc>
              <a:spcBef>
                <a:spcPts val="0"/>
              </a:spcBef>
              <a:spcAft>
                <a:spcPts val="0"/>
              </a:spcAft>
              <a:buSzPct val="123853"/>
              <a:buNone/>
            </a:pPr>
            <a:r>
              <a:t/>
            </a:r>
            <a:endParaRPr sz="4844"/>
          </a:p>
          <a:p>
            <a:pPr indent="0" lvl="0" marL="0" rtl="0" algn="ctr">
              <a:lnSpc>
                <a:spcPct val="100000"/>
              </a:lnSpc>
              <a:spcBef>
                <a:spcPts val="0"/>
              </a:spcBef>
              <a:spcAft>
                <a:spcPts val="0"/>
              </a:spcAft>
              <a:buSzPct val="123853"/>
              <a:buNone/>
            </a:pPr>
            <a:r>
              <a:rPr lang="de-CH" sz="4844"/>
              <a:t>External Audit - 2024-25 &amp; 2025-26</a:t>
            </a:r>
            <a:endParaRPr sz="4844"/>
          </a:p>
        </p:txBody>
      </p:sp>
      <p:sp>
        <p:nvSpPr>
          <p:cNvPr id="118" name="Google Shape;118;p1"/>
          <p:cNvSpPr txBox="1"/>
          <p:nvPr>
            <p:ph idx="1" type="subTitle"/>
          </p:nvPr>
        </p:nvSpPr>
        <p:spPr>
          <a:xfrm>
            <a:off x="2780000" y="2969600"/>
            <a:ext cx="3889800" cy="597300"/>
          </a:xfrm>
          <a:prstGeom prst="rect">
            <a:avLst/>
          </a:prstGeom>
          <a:noFill/>
          <a:ln>
            <a:noFill/>
          </a:ln>
        </p:spPr>
        <p:txBody>
          <a:bodyPr anchorCtr="0" anchor="t" bIns="91425" lIns="91425" spcFirstLastPara="1" rIns="91425" wrap="square" tIns="91425">
            <a:normAutofit fontScale="62500" lnSpcReduction="10000"/>
          </a:bodyPr>
          <a:lstStyle/>
          <a:p>
            <a:pPr indent="0" lvl="0" marL="0" rtl="0" algn="l">
              <a:lnSpc>
                <a:spcPct val="100000"/>
              </a:lnSpc>
              <a:spcBef>
                <a:spcPts val="0"/>
              </a:spcBef>
              <a:spcAft>
                <a:spcPts val="0"/>
              </a:spcAft>
              <a:buSzPct val="50000"/>
              <a:buNone/>
            </a:pPr>
            <a:r>
              <a:rPr lang="de-CH"/>
              <a:t>        </a:t>
            </a:r>
            <a:r>
              <a:rPr lang="de-CH" sz="4800"/>
              <a:t>02nd Oct, 2026</a:t>
            </a:r>
            <a:endParaRPr sz="4800"/>
          </a:p>
        </p:txBody>
      </p:sp>
      <p:pic>
        <p:nvPicPr>
          <p:cNvPr id="119" name="Google Shape;119;p1"/>
          <p:cNvPicPr preferRelativeResize="0"/>
          <p:nvPr/>
        </p:nvPicPr>
        <p:blipFill rotWithShape="1">
          <a:blip r:embed="rId3">
            <a:alphaModFix/>
          </a:blip>
          <a:srcRect b="0" l="0" r="0" t="0"/>
          <a:stretch/>
        </p:blipFill>
        <p:spPr>
          <a:xfrm>
            <a:off x="3919525" y="1249375"/>
            <a:ext cx="1304925" cy="1248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28ea2419252_1_0"/>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de-CH" sz="3240"/>
              <a:t>About  Department- </a:t>
            </a:r>
            <a:r>
              <a:rPr lang="de-CH" sz="3240">
                <a:solidFill>
                  <a:srgbClr val="FF0000"/>
                </a:solidFill>
              </a:rPr>
              <a:t>NR</a:t>
            </a:r>
            <a:endParaRPr sz="324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2783c4c71ca_0_0"/>
          <p:cNvSpPr txBox="1"/>
          <p:nvPr>
            <p:ph type="title"/>
          </p:nvPr>
        </p:nvSpPr>
        <p:spPr>
          <a:xfrm>
            <a:off x="311700" y="-1217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Clr>
                <a:srgbClr val="000000"/>
              </a:buClr>
              <a:buSzPct val="72222"/>
              <a:buFont typeface="Arial"/>
              <a:buNone/>
            </a:pPr>
            <a:r>
              <a:rPr lang="de-CH"/>
              <a:t>Faculty list (2025-26)  </a:t>
            </a:r>
            <a:r>
              <a:rPr lang="de-CH">
                <a:solidFill>
                  <a:srgbClr val="FF0000"/>
                </a:solidFill>
              </a:rPr>
              <a:t>NR</a:t>
            </a:r>
            <a:r>
              <a:rPr lang="de-CH"/>
              <a:t> </a:t>
            </a:r>
            <a:endParaRPr>
              <a:solidFill>
                <a:srgbClr val="FF0000"/>
              </a:solidFill>
            </a:endParaRPr>
          </a:p>
        </p:txBody>
      </p:sp>
      <p:graphicFrame>
        <p:nvGraphicFramePr>
          <p:cNvPr id="130" name="Google Shape;130;g2783c4c71ca_0_0"/>
          <p:cNvGraphicFramePr/>
          <p:nvPr/>
        </p:nvGraphicFramePr>
        <p:xfrm>
          <a:off x="152400" y="152400"/>
          <a:ext cx="3000000" cy="3000000"/>
        </p:xfrm>
        <a:graphic>
          <a:graphicData uri="http://schemas.openxmlformats.org/drawingml/2006/table">
            <a:tbl>
              <a:tblPr>
                <a:noFill/>
                <a:tableStyleId>{D67A6EC7-0815-422C-A1C3-3E13D58E9C53}</a:tableStyleId>
              </a:tblPr>
              <a:tblGrid>
                <a:gridCol w="238125"/>
                <a:gridCol w="1285875"/>
                <a:gridCol w="219075"/>
                <a:gridCol w="1724025"/>
              </a:tblGrid>
              <a:tr h="95250">
                <a:tc>
                  <a:txBody>
                    <a:bodyPr/>
                    <a:lstStyle/>
                    <a:p>
                      <a:pPr indent="0" lvl="0" marL="0" rtl="0" algn="just">
                        <a:lnSpc>
                          <a:spcPct val="50000"/>
                        </a:lnSpc>
                        <a:spcBef>
                          <a:spcPts val="1000"/>
                        </a:spcBef>
                        <a:spcAft>
                          <a:spcPts val="1000"/>
                        </a:spcAft>
                        <a:buNone/>
                      </a:pPr>
                      <a:r>
                        <a:rPr b="1" lang="de-CH" sz="1050"/>
                        <a:t>SN.</a:t>
                      </a:r>
                      <a:endParaRPr b="1" sz="1050"/>
                    </a:p>
                  </a:txBody>
                  <a:tcPr marT="91425" marB="91425" marR="91425" marL="91425"/>
                </a:tc>
                <a:tc>
                  <a:txBody>
                    <a:bodyPr/>
                    <a:lstStyle/>
                    <a:p>
                      <a:pPr indent="0" lvl="0" marL="0" rtl="0" algn="just">
                        <a:lnSpc>
                          <a:spcPct val="50000"/>
                        </a:lnSpc>
                        <a:spcBef>
                          <a:spcPts val="1100"/>
                        </a:spcBef>
                        <a:spcAft>
                          <a:spcPts val="1100"/>
                        </a:spcAft>
                        <a:buNone/>
                      </a:pPr>
                      <a:r>
                        <a:rPr b="1" lang="de-CH" sz="1150"/>
                        <a:t>	Name</a:t>
                      </a:r>
                      <a:endParaRPr b="1" sz="1150"/>
                    </a:p>
                  </a:txBody>
                  <a:tcPr marT="91425" marB="91425" marR="91425" marL="91425"/>
                </a:tc>
                <a:tc>
                  <a:txBody>
                    <a:bodyPr/>
                    <a:lstStyle/>
                    <a:p>
                      <a:pPr indent="0" lvl="0" marL="0" rtl="0" algn="just">
                        <a:lnSpc>
                          <a:spcPct val="50000"/>
                        </a:lnSpc>
                        <a:spcBef>
                          <a:spcPts val="900"/>
                        </a:spcBef>
                        <a:spcAft>
                          <a:spcPts val="900"/>
                        </a:spcAft>
                        <a:buNone/>
                      </a:pPr>
                      <a:r>
                        <a:rPr b="1" lang="de-CH" sz="950"/>
                        <a:t>SN.</a:t>
                      </a:r>
                      <a:endParaRPr b="1" sz="950"/>
                    </a:p>
                  </a:txBody>
                  <a:tcPr marT="91425" marB="91425" marR="91425" marL="91425"/>
                </a:tc>
                <a:tc>
                  <a:txBody>
                    <a:bodyPr/>
                    <a:lstStyle/>
                    <a:p>
                      <a:pPr indent="0" lvl="0" marL="0" rtl="0" algn="just">
                        <a:lnSpc>
                          <a:spcPct val="50000"/>
                        </a:lnSpc>
                        <a:spcBef>
                          <a:spcPts val="1100"/>
                        </a:spcBef>
                        <a:spcAft>
                          <a:spcPts val="1100"/>
                        </a:spcAft>
                        <a:buNone/>
                      </a:pPr>
                      <a:r>
                        <a:rPr b="1" lang="de-CH" sz="1150"/>
                        <a:t>Name</a:t>
                      </a:r>
                      <a:endParaRPr b="1" sz="1150"/>
                    </a:p>
                  </a:txBody>
                  <a:tcPr marT="91425" marB="91425" marR="91425" marL="91425"/>
                </a:tc>
              </a:tr>
              <a:tr h="95250">
                <a:tc>
                  <a:txBody>
                    <a:bodyPr/>
                    <a:lstStyle/>
                    <a:p>
                      <a:pPr indent="0" lvl="0" marL="0" rtl="0" algn="just">
                        <a:lnSpc>
                          <a:spcPct val="50000"/>
                        </a:lnSpc>
                        <a:spcBef>
                          <a:spcPts val="1100"/>
                        </a:spcBef>
                        <a:spcAft>
                          <a:spcPts val="1100"/>
                        </a:spcAft>
                        <a:buNone/>
                      </a:pPr>
                      <a:r>
                        <a:rPr lang="de-CH" sz="1150"/>
                        <a:t>1.</a:t>
                      </a:r>
                      <a:endParaRPr sz="1150"/>
                    </a:p>
                  </a:txBody>
                  <a:tcPr marT="91425" marB="91425" marR="91425" marL="91425"/>
                </a:tc>
                <a:tc>
                  <a:txBody>
                    <a:bodyPr/>
                    <a:lstStyle/>
                    <a:p>
                      <a:pPr indent="0" lvl="0" marL="0" rtl="0" algn="just">
                        <a:lnSpc>
                          <a:spcPct val="50000"/>
                        </a:lnSpc>
                        <a:spcBef>
                          <a:spcPts val="1100"/>
                        </a:spcBef>
                        <a:spcAft>
                          <a:spcPts val="1100"/>
                        </a:spcAft>
                        <a:buNone/>
                      </a:pPr>
                      <a:r>
                        <a:rPr lang="de-CH" sz="1150"/>
                        <a:t>Dr. Sudhir Dhage</a:t>
                      </a:r>
                      <a:endParaRPr sz="1150"/>
                    </a:p>
                  </a:txBody>
                  <a:tcPr marT="91425" marB="91425" marR="91425" marL="91425"/>
                </a:tc>
                <a:tc>
                  <a:txBody>
                    <a:bodyPr/>
                    <a:lstStyle/>
                    <a:p>
                      <a:pPr indent="0" lvl="0" marL="0" rtl="0" algn="just">
                        <a:lnSpc>
                          <a:spcPct val="50000"/>
                        </a:lnSpc>
                        <a:spcBef>
                          <a:spcPts val="1100"/>
                        </a:spcBef>
                        <a:spcAft>
                          <a:spcPts val="1100"/>
                        </a:spcAft>
                        <a:buNone/>
                      </a:pPr>
                      <a:r>
                        <a:rPr lang="de-CH" sz="1150"/>
                        <a:t>8.</a:t>
                      </a:r>
                      <a:endParaRPr sz="1150"/>
                    </a:p>
                  </a:txBody>
                  <a:tcPr marT="91425" marB="91425" marR="91425" marL="91425"/>
                </a:tc>
                <a:tc>
                  <a:txBody>
                    <a:bodyPr/>
                    <a:lstStyle/>
                    <a:p>
                      <a:pPr indent="0" lvl="0" marL="0" rtl="0" algn="just">
                        <a:lnSpc>
                          <a:spcPct val="50000"/>
                        </a:lnSpc>
                        <a:spcBef>
                          <a:spcPts val="1100"/>
                        </a:spcBef>
                        <a:spcAft>
                          <a:spcPts val="1100"/>
                        </a:spcAft>
                        <a:buNone/>
                      </a:pPr>
                      <a:r>
                        <a:rPr lang="de-CH" sz="1150"/>
                        <a:t>Dr. Prasenjit Bhavathankar</a:t>
                      </a:r>
                      <a:endParaRPr sz="1150"/>
                    </a:p>
                  </a:txBody>
                  <a:tcPr marT="91425" marB="91425" marR="91425" marL="91425"/>
                </a:tc>
              </a:tr>
              <a:tr h="95250">
                <a:tc>
                  <a:txBody>
                    <a:bodyPr/>
                    <a:lstStyle/>
                    <a:p>
                      <a:pPr indent="0" lvl="0" marL="0" rtl="0" algn="just">
                        <a:lnSpc>
                          <a:spcPct val="50000"/>
                        </a:lnSpc>
                        <a:spcBef>
                          <a:spcPts val="1100"/>
                        </a:spcBef>
                        <a:spcAft>
                          <a:spcPts val="1100"/>
                        </a:spcAft>
                        <a:buNone/>
                      </a:pPr>
                      <a:r>
                        <a:rPr lang="de-CH" sz="1150"/>
                        <a:t>2.</a:t>
                      </a:r>
                      <a:endParaRPr sz="1150"/>
                    </a:p>
                  </a:txBody>
                  <a:tcPr marT="91425" marB="91425" marR="91425" marL="91425"/>
                </a:tc>
                <a:tc>
                  <a:txBody>
                    <a:bodyPr/>
                    <a:lstStyle/>
                    <a:p>
                      <a:pPr indent="0" lvl="0" marL="0" rtl="0" algn="just">
                        <a:lnSpc>
                          <a:spcPct val="50000"/>
                        </a:lnSpc>
                        <a:spcBef>
                          <a:spcPts val="1100"/>
                        </a:spcBef>
                        <a:spcAft>
                          <a:spcPts val="1100"/>
                        </a:spcAft>
                        <a:buNone/>
                      </a:pPr>
                      <a:r>
                        <a:rPr lang="de-CH" sz="1150"/>
                        <a:t>Dr. Surekha Dholay</a:t>
                      </a:r>
                      <a:endParaRPr sz="1150"/>
                    </a:p>
                  </a:txBody>
                  <a:tcPr marT="91425" marB="91425" marR="91425" marL="91425"/>
                </a:tc>
                <a:tc>
                  <a:txBody>
                    <a:bodyPr/>
                    <a:lstStyle/>
                    <a:p>
                      <a:pPr indent="0" lvl="0" marL="0" rtl="0" algn="just">
                        <a:lnSpc>
                          <a:spcPct val="50000"/>
                        </a:lnSpc>
                        <a:spcBef>
                          <a:spcPts val="1100"/>
                        </a:spcBef>
                        <a:spcAft>
                          <a:spcPts val="1100"/>
                        </a:spcAft>
                        <a:buNone/>
                      </a:pPr>
                      <a:r>
                        <a:rPr lang="de-CH" sz="1150"/>
                        <a:t>9.</a:t>
                      </a:r>
                      <a:endParaRPr sz="1150"/>
                    </a:p>
                  </a:txBody>
                  <a:tcPr marT="91425" marB="91425" marR="91425" marL="91425"/>
                </a:tc>
                <a:tc>
                  <a:txBody>
                    <a:bodyPr/>
                    <a:lstStyle/>
                    <a:p>
                      <a:pPr indent="0" lvl="0" marL="0" rtl="0" algn="just">
                        <a:lnSpc>
                          <a:spcPct val="50000"/>
                        </a:lnSpc>
                        <a:spcBef>
                          <a:spcPts val="1100"/>
                        </a:spcBef>
                        <a:spcAft>
                          <a:spcPts val="1100"/>
                        </a:spcAft>
                        <a:buNone/>
                      </a:pPr>
                      <a:r>
                        <a:rPr lang="de-CH" sz="1150"/>
                        <a:t>Prof. Anand Godbole</a:t>
                      </a:r>
                      <a:endParaRPr sz="1150"/>
                    </a:p>
                  </a:txBody>
                  <a:tcPr marT="91425" marB="91425" marR="91425" marL="91425"/>
                </a:tc>
              </a:tr>
              <a:tr h="95250">
                <a:tc>
                  <a:txBody>
                    <a:bodyPr/>
                    <a:lstStyle/>
                    <a:p>
                      <a:pPr indent="0" lvl="0" marL="0" rtl="0" algn="just">
                        <a:lnSpc>
                          <a:spcPct val="50000"/>
                        </a:lnSpc>
                        <a:spcBef>
                          <a:spcPts val="1100"/>
                        </a:spcBef>
                        <a:spcAft>
                          <a:spcPts val="1100"/>
                        </a:spcAft>
                        <a:buNone/>
                      </a:pPr>
                      <a:r>
                        <a:rPr lang="de-CH" sz="1150"/>
                        <a:t>3.</a:t>
                      </a:r>
                      <a:endParaRPr sz="1150"/>
                    </a:p>
                  </a:txBody>
                  <a:tcPr marT="91425" marB="91425" marR="91425" marL="91425"/>
                </a:tc>
                <a:tc>
                  <a:txBody>
                    <a:bodyPr/>
                    <a:lstStyle/>
                    <a:p>
                      <a:pPr indent="0" lvl="0" marL="0" rtl="0" algn="just">
                        <a:lnSpc>
                          <a:spcPct val="50000"/>
                        </a:lnSpc>
                        <a:spcBef>
                          <a:spcPts val="1100"/>
                        </a:spcBef>
                        <a:spcAft>
                          <a:spcPts val="1100"/>
                        </a:spcAft>
                        <a:buNone/>
                      </a:pPr>
                      <a:r>
                        <a:rPr lang="de-CH" sz="1150"/>
                        <a:t>Dr. Anant Nimkar</a:t>
                      </a:r>
                      <a:endParaRPr sz="1150"/>
                    </a:p>
                  </a:txBody>
                  <a:tcPr marT="91425" marB="91425" marR="91425" marL="91425"/>
                </a:tc>
                <a:tc>
                  <a:txBody>
                    <a:bodyPr/>
                    <a:lstStyle/>
                    <a:p>
                      <a:pPr indent="0" lvl="0" marL="0" rtl="0" algn="just">
                        <a:lnSpc>
                          <a:spcPct val="50000"/>
                        </a:lnSpc>
                        <a:spcBef>
                          <a:spcPts val="1100"/>
                        </a:spcBef>
                        <a:spcAft>
                          <a:spcPts val="1100"/>
                        </a:spcAft>
                        <a:buNone/>
                      </a:pPr>
                      <a:r>
                        <a:rPr lang="de-CH" sz="1150"/>
                        <a:t>10.</a:t>
                      </a:r>
                      <a:endParaRPr sz="1150"/>
                    </a:p>
                  </a:txBody>
                  <a:tcPr marT="91425" marB="91425" marR="91425" marL="91425"/>
                </a:tc>
                <a:tc>
                  <a:txBody>
                    <a:bodyPr/>
                    <a:lstStyle/>
                    <a:p>
                      <a:pPr indent="0" lvl="0" marL="0" rtl="0" algn="just">
                        <a:lnSpc>
                          <a:spcPct val="50000"/>
                        </a:lnSpc>
                        <a:spcBef>
                          <a:spcPts val="1100"/>
                        </a:spcBef>
                        <a:spcAft>
                          <a:spcPts val="1100"/>
                        </a:spcAft>
                        <a:buNone/>
                      </a:pPr>
                      <a:r>
                        <a:rPr lang="de-CH" sz="1150"/>
                        <a:t>Prof. Reeta Koshy</a:t>
                      </a:r>
                      <a:endParaRPr sz="1150"/>
                    </a:p>
                  </a:txBody>
                  <a:tcPr marT="91425" marB="91425" marR="91425" marL="91425"/>
                </a:tc>
              </a:tr>
              <a:tr h="95250">
                <a:tc>
                  <a:txBody>
                    <a:bodyPr/>
                    <a:lstStyle/>
                    <a:p>
                      <a:pPr indent="0" lvl="0" marL="0" rtl="0" algn="just">
                        <a:lnSpc>
                          <a:spcPct val="50000"/>
                        </a:lnSpc>
                        <a:spcBef>
                          <a:spcPts val="1100"/>
                        </a:spcBef>
                        <a:spcAft>
                          <a:spcPts val="1100"/>
                        </a:spcAft>
                        <a:buNone/>
                      </a:pPr>
                      <a:r>
                        <a:rPr lang="de-CH" sz="1150"/>
                        <a:t>4.</a:t>
                      </a:r>
                      <a:endParaRPr sz="1150"/>
                    </a:p>
                  </a:txBody>
                  <a:tcPr marT="91425" marB="91425" marR="91425" marL="91425"/>
                </a:tc>
                <a:tc>
                  <a:txBody>
                    <a:bodyPr/>
                    <a:lstStyle/>
                    <a:p>
                      <a:pPr indent="0" lvl="0" marL="0" rtl="0" algn="just">
                        <a:lnSpc>
                          <a:spcPct val="50000"/>
                        </a:lnSpc>
                        <a:spcBef>
                          <a:spcPts val="1100"/>
                        </a:spcBef>
                        <a:spcAft>
                          <a:spcPts val="1100"/>
                        </a:spcAft>
                        <a:buNone/>
                      </a:pPr>
                      <a:r>
                        <a:rPr lang="de-CH" sz="1150"/>
                        <a:t>Dr. Nataasha Raul</a:t>
                      </a:r>
                      <a:endParaRPr sz="1150"/>
                    </a:p>
                  </a:txBody>
                  <a:tcPr marT="91425" marB="91425" marR="91425" marL="91425"/>
                </a:tc>
                <a:tc>
                  <a:txBody>
                    <a:bodyPr/>
                    <a:lstStyle/>
                    <a:p>
                      <a:pPr indent="0" lvl="0" marL="0" rtl="0" algn="just">
                        <a:lnSpc>
                          <a:spcPct val="50000"/>
                        </a:lnSpc>
                        <a:spcBef>
                          <a:spcPts val="1100"/>
                        </a:spcBef>
                        <a:spcAft>
                          <a:spcPts val="1100"/>
                        </a:spcAft>
                        <a:buNone/>
                      </a:pPr>
                      <a:r>
                        <a:rPr lang="de-CH" sz="1150"/>
                        <a:t>11.</a:t>
                      </a:r>
                      <a:endParaRPr sz="1150"/>
                    </a:p>
                  </a:txBody>
                  <a:tcPr marT="91425" marB="91425" marR="91425" marL="91425"/>
                </a:tc>
                <a:tc>
                  <a:txBody>
                    <a:bodyPr/>
                    <a:lstStyle/>
                    <a:p>
                      <a:pPr indent="0" lvl="0" marL="0" rtl="0" algn="just">
                        <a:lnSpc>
                          <a:spcPct val="50000"/>
                        </a:lnSpc>
                        <a:spcBef>
                          <a:spcPts val="1100"/>
                        </a:spcBef>
                        <a:spcAft>
                          <a:spcPts val="1100"/>
                        </a:spcAft>
                        <a:buNone/>
                      </a:pPr>
                      <a:r>
                        <a:rPr lang="de-CH" sz="1150"/>
                        <a:t>Prof. Sunil Ghane</a:t>
                      </a:r>
                      <a:endParaRPr sz="1150"/>
                    </a:p>
                  </a:txBody>
                  <a:tcPr marT="91425" marB="91425" marR="91425" marL="91425"/>
                </a:tc>
              </a:tr>
              <a:tr h="95250">
                <a:tc>
                  <a:txBody>
                    <a:bodyPr/>
                    <a:lstStyle/>
                    <a:p>
                      <a:pPr indent="0" lvl="0" marL="0" rtl="0" algn="just">
                        <a:lnSpc>
                          <a:spcPct val="50000"/>
                        </a:lnSpc>
                        <a:spcBef>
                          <a:spcPts val="1100"/>
                        </a:spcBef>
                        <a:spcAft>
                          <a:spcPts val="1100"/>
                        </a:spcAft>
                        <a:buNone/>
                      </a:pPr>
                      <a:r>
                        <a:rPr lang="de-CH" sz="1150"/>
                        <a:t>5.</a:t>
                      </a:r>
                      <a:endParaRPr sz="1150"/>
                    </a:p>
                  </a:txBody>
                  <a:tcPr marT="91425" marB="91425" marR="91425" marL="91425"/>
                </a:tc>
                <a:tc>
                  <a:txBody>
                    <a:bodyPr/>
                    <a:lstStyle/>
                    <a:p>
                      <a:pPr indent="0" lvl="0" marL="0" rtl="0" algn="just">
                        <a:lnSpc>
                          <a:spcPct val="50000"/>
                        </a:lnSpc>
                        <a:spcBef>
                          <a:spcPts val="1100"/>
                        </a:spcBef>
                        <a:spcAft>
                          <a:spcPts val="1100"/>
                        </a:spcAft>
                        <a:buNone/>
                      </a:pPr>
                      <a:r>
                        <a:rPr lang="de-CH" sz="1150"/>
                        <a:t>Dr. Pramod Bide</a:t>
                      </a:r>
                      <a:endParaRPr sz="1150"/>
                    </a:p>
                  </a:txBody>
                  <a:tcPr marT="91425" marB="91425" marR="91425" marL="91425"/>
                </a:tc>
                <a:tc>
                  <a:txBody>
                    <a:bodyPr/>
                    <a:lstStyle/>
                    <a:p>
                      <a:pPr indent="0" lvl="0" marL="0" rtl="0" algn="just">
                        <a:lnSpc>
                          <a:spcPct val="50000"/>
                        </a:lnSpc>
                        <a:spcBef>
                          <a:spcPts val="1100"/>
                        </a:spcBef>
                        <a:spcAft>
                          <a:spcPts val="1100"/>
                        </a:spcAft>
                        <a:buNone/>
                      </a:pPr>
                      <a:r>
                        <a:rPr lang="de-CH" sz="1150"/>
                        <a:t>12.</a:t>
                      </a:r>
                      <a:endParaRPr sz="1150"/>
                    </a:p>
                  </a:txBody>
                  <a:tcPr marT="91425" marB="91425" marR="91425" marL="91425"/>
                </a:tc>
                <a:tc>
                  <a:txBody>
                    <a:bodyPr/>
                    <a:lstStyle/>
                    <a:p>
                      <a:pPr indent="0" lvl="0" marL="0" rtl="0" algn="just">
                        <a:lnSpc>
                          <a:spcPct val="50000"/>
                        </a:lnSpc>
                        <a:spcBef>
                          <a:spcPts val="1100"/>
                        </a:spcBef>
                        <a:spcAft>
                          <a:spcPts val="1100"/>
                        </a:spcAft>
                        <a:buNone/>
                      </a:pPr>
                      <a:r>
                        <a:rPr lang="de-CH" sz="1150"/>
                        <a:t>Prof. Abhijeet Salunke</a:t>
                      </a:r>
                      <a:endParaRPr sz="1150"/>
                    </a:p>
                  </a:txBody>
                  <a:tcPr marT="91425" marB="91425" marR="91425" marL="91425"/>
                </a:tc>
              </a:tr>
              <a:tr h="95250">
                <a:tc>
                  <a:txBody>
                    <a:bodyPr/>
                    <a:lstStyle/>
                    <a:p>
                      <a:pPr indent="0" lvl="0" marL="0" rtl="0" algn="just">
                        <a:lnSpc>
                          <a:spcPct val="50000"/>
                        </a:lnSpc>
                        <a:spcBef>
                          <a:spcPts val="1100"/>
                        </a:spcBef>
                        <a:spcAft>
                          <a:spcPts val="1100"/>
                        </a:spcAft>
                        <a:buNone/>
                      </a:pPr>
                      <a:r>
                        <a:rPr lang="de-CH" sz="1150"/>
                        <a:t>6.</a:t>
                      </a:r>
                      <a:endParaRPr sz="1150"/>
                    </a:p>
                  </a:txBody>
                  <a:tcPr marT="91425" marB="91425" marR="91425" marL="91425"/>
                </a:tc>
                <a:tc>
                  <a:txBody>
                    <a:bodyPr/>
                    <a:lstStyle/>
                    <a:p>
                      <a:pPr indent="0" lvl="0" marL="0" rtl="0" algn="just">
                        <a:lnSpc>
                          <a:spcPct val="50000"/>
                        </a:lnSpc>
                        <a:spcBef>
                          <a:spcPts val="1100"/>
                        </a:spcBef>
                        <a:spcAft>
                          <a:spcPts val="1100"/>
                        </a:spcAft>
                        <a:buNone/>
                      </a:pPr>
                      <a:r>
                        <a:rPr lang="de-CH" sz="1150"/>
                        <a:t>Dr. Kailas Devadkar</a:t>
                      </a:r>
                      <a:endParaRPr sz="1150"/>
                    </a:p>
                  </a:txBody>
                  <a:tcPr marT="91425" marB="91425" marR="91425" marL="91425"/>
                </a:tc>
                <a:tc>
                  <a:txBody>
                    <a:bodyPr/>
                    <a:lstStyle/>
                    <a:p>
                      <a:pPr indent="0" lvl="0" marL="0" rtl="0" algn="just">
                        <a:lnSpc>
                          <a:spcPct val="50000"/>
                        </a:lnSpc>
                        <a:spcBef>
                          <a:spcPts val="1100"/>
                        </a:spcBef>
                        <a:spcAft>
                          <a:spcPts val="1100"/>
                        </a:spcAft>
                        <a:buNone/>
                      </a:pPr>
                      <a:r>
                        <a:rPr lang="de-CH" sz="1150"/>
                        <a:t>13.</a:t>
                      </a:r>
                      <a:endParaRPr sz="1150"/>
                    </a:p>
                  </a:txBody>
                  <a:tcPr marT="91425" marB="91425" marR="91425" marL="91425"/>
                </a:tc>
                <a:tc>
                  <a:txBody>
                    <a:bodyPr/>
                    <a:lstStyle/>
                    <a:p>
                      <a:pPr indent="0" lvl="0" marL="0" rtl="0" algn="just">
                        <a:lnSpc>
                          <a:spcPct val="50000"/>
                        </a:lnSpc>
                        <a:spcBef>
                          <a:spcPts val="1100"/>
                        </a:spcBef>
                        <a:spcAft>
                          <a:spcPts val="1100"/>
                        </a:spcAft>
                        <a:buNone/>
                      </a:pPr>
                      <a:r>
                        <a:rPr lang="de-CH" sz="1150"/>
                        <a:t>Prof. Jyoti Ramteke</a:t>
                      </a:r>
                      <a:endParaRPr sz="1150"/>
                    </a:p>
                  </a:txBody>
                  <a:tcPr marT="91425" marB="91425" marR="91425" marL="91425"/>
                </a:tc>
              </a:tr>
              <a:tr h="95250">
                <a:tc>
                  <a:txBody>
                    <a:bodyPr/>
                    <a:lstStyle/>
                    <a:p>
                      <a:pPr indent="0" lvl="0" marL="0" rtl="0" algn="just">
                        <a:lnSpc>
                          <a:spcPct val="50000"/>
                        </a:lnSpc>
                        <a:spcBef>
                          <a:spcPts val="1100"/>
                        </a:spcBef>
                        <a:spcAft>
                          <a:spcPts val="1100"/>
                        </a:spcAft>
                        <a:buNone/>
                      </a:pPr>
                      <a:r>
                        <a:rPr lang="de-CH" sz="1150"/>
                        <a:t>7.</a:t>
                      </a:r>
                      <a:endParaRPr sz="1150"/>
                    </a:p>
                  </a:txBody>
                  <a:tcPr marT="91425" marB="91425" marR="91425" marL="91425"/>
                </a:tc>
                <a:tc>
                  <a:txBody>
                    <a:bodyPr/>
                    <a:lstStyle/>
                    <a:p>
                      <a:pPr indent="0" lvl="0" marL="0" rtl="0" algn="just">
                        <a:lnSpc>
                          <a:spcPct val="50000"/>
                        </a:lnSpc>
                        <a:spcBef>
                          <a:spcPts val="1100"/>
                        </a:spcBef>
                        <a:spcAft>
                          <a:spcPts val="1100"/>
                        </a:spcAft>
                        <a:buNone/>
                      </a:pPr>
                      <a:r>
                        <a:rPr lang="de-CH" sz="1150"/>
                        <a:t>Dr. Disha Sail</a:t>
                      </a:r>
                      <a:endParaRPr sz="1150"/>
                    </a:p>
                  </a:txBody>
                  <a:tcPr marT="91425" marB="91425" marR="91425" marL="91425"/>
                </a:tc>
                <a:tc>
                  <a:txBody>
                    <a:bodyPr/>
                    <a:lstStyle/>
                    <a:p>
                      <a:pPr indent="0" lvl="0" marL="0" rtl="0" algn="just">
                        <a:lnSpc>
                          <a:spcPct val="50000"/>
                        </a:lnSpc>
                        <a:spcBef>
                          <a:spcPts val="1100"/>
                        </a:spcBef>
                        <a:spcAft>
                          <a:spcPts val="1100"/>
                        </a:spcAft>
                        <a:buNone/>
                      </a:pPr>
                      <a:r>
                        <a:rPr lang="de-CH" sz="1150"/>
                        <a:t>14.</a:t>
                      </a:r>
                      <a:endParaRPr sz="1150"/>
                    </a:p>
                  </a:txBody>
                  <a:tcPr marT="91425" marB="91425" marR="91425" marL="91425"/>
                </a:tc>
                <a:tc>
                  <a:txBody>
                    <a:bodyPr/>
                    <a:lstStyle/>
                    <a:p>
                      <a:pPr indent="0" lvl="0" marL="0" rtl="0" algn="just">
                        <a:lnSpc>
                          <a:spcPct val="50000"/>
                        </a:lnSpc>
                        <a:spcBef>
                          <a:spcPts val="1100"/>
                        </a:spcBef>
                        <a:spcAft>
                          <a:spcPts val="1100"/>
                        </a:spcAft>
                        <a:buNone/>
                      </a:pPr>
                      <a:r>
                        <a:rPr lang="de-CH" sz="1150"/>
                        <a:t>Prof. Swapnali Kurhade</a:t>
                      </a:r>
                      <a:endParaRPr sz="1150"/>
                    </a:p>
                  </a:txBody>
                  <a:tcPr marT="91425" marB="91425" marR="91425" marL="9142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
          <p:cNvSpPr txBox="1"/>
          <p:nvPr>
            <p:ph type="title"/>
          </p:nvPr>
        </p:nvSpPr>
        <p:spPr>
          <a:xfrm>
            <a:off x="127800" y="341550"/>
            <a:ext cx="8888400" cy="4460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0"/>
              </a:spcAft>
              <a:buSzPts val="3600"/>
              <a:buNone/>
            </a:pPr>
            <a:r>
              <a:rPr lang="de-CH" sz="3000">
                <a:latin typeface="Times New Roman"/>
                <a:ea typeface="Times New Roman"/>
                <a:cs typeface="Times New Roman"/>
                <a:sym typeface="Times New Roman"/>
              </a:rPr>
              <a:t>Vision - Mission of the Institute -  </a:t>
            </a:r>
            <a:r>
              <a:rPr lang="de-CH" sz="3000">
                <a:solidFill>
                  <a:srgbClr val="FF0000"/>
                </a:solidFill>
                <a:latin typeface="Times New Roman"/>
                <a:ea typeface="Times New Roman"/>
                <a:cs typeface="Times New Roman"/>
                <a:sym typeface="Times New Roman"/>
              </a:rPr>
              <a:t>Rupali S.</a:t>
            </a:r>
            <a:endParaRPr sz="3000">
              <a:solidFill>
                <a:srgbClr val="FF0000"/>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SzPts val="3600"/>
              <a:buNone/>
            </a:pPr>
            <a:r>
              <a:t/>
            </a:r>
            <a:endParaRPr sz="1300">
              <a:latin typeface="Times New Roman"/>
              <a:ea typeface="Times New Roman"/>
              <a:cs typeface="Times New Roman"/>
              <a:sym typeface="Times New Roman"/>
            </a:endParaRPr>
          </a:p>
          <a:p>
            <a:pPr indent="0" lvl="0" marL="0" rtl="0" algn="ctr">
              <a:lnSpc>
                <a:spcPct val="115000"/>
              </a:lnSpc>
              <a:spcBef>
                <a:spcPts val="0"/>
              </a:spcBef>
              <a:spcAft>
                <a:spcPts val="0"/>
              </a:spcAft>
              <a:buNone/>
            </a:pPr>
            <a:r>
              <a:rPr lang="de-CH" sz="1200">
                <a:solidFill>
                  <a:srgbClr val="3D3D3D"/>
                </a:solidFill>
                <a:highlight>
                  <a:srgbClr val="FFFFFF"/>
                </a:highlight>
                <a:latin typeface="Arial"/>
                <a:ea typeface="Arial"/>
                <a:cs typeface="Arial"/>
                <a:sym typeface="Arial"/>
              </a:rPr>
              <a:t>Vision</a:t>
            </a:r>
            <a:endParaRPr sz="1200">
              <a:solidFill>
                <a:srgbClr val="3D3D3D"/>
              </a:solidFill>
              <a:highlight>
                <a:srgbClr val="FFFFFF"/>
              </a:highlight>
              <a:latin typeface="Arial"/>
              <a:ea typeface="Arial"/>
              <a:cs typeface="Arial"/>
              <a:sym typeface="Arial"/>
            </a:endParaRPr>
          </a:p>
          <a:p>
            <a:pPr indent="0" lvl="0" marL="190500" rtl="0" algn="l">
              <a:lnSpc>
                <a:spcPct val="115000"/>
              </a:lnSpc>
              <a:spcBef>
                <a:spcPts val="2000"/>
              </a:spcBef>
              <a:spcAft>
                <a:spcPts val="0"/>
              </a:spcAft>
              <a:buNone/>
            </a:pPr>
            <a:r>
              <a:rPr i="1" lang="de-CH" sz="1200">
                <a:solidFill>
                  <a:srgbClr val="6B6B6B"/>
                </a:solidFill>
                <a:highlight>
                  <a:srgbClr val="FFFFFF"/>
                </a:highlight>
                <a:latin typeface="Arial"/>
                <a:ea typeface="Arial"/>
                <a:cs typeface="Arial"/>
                <a:sym typeface="Arial"/>
              </a:rPr>
              <a:t>“To be a leading technical institution constantly pursuing excellence to develop holistic contributors for the society.”</a:t>
            </a:r>
            <a:endParaRPr i="1" sz="1200">
              <a:solidFill>
                <a:srgbClr val="6B6B6B"/>
              </a:solidFill>
              <a:highlight>
                <a:srgbClr val="FFFFFF"/>
              </a:highlight>
              <a:latin typeface="Arial"/>
              <a:ea typeface="Arial"/>
              <a:cs typeface="Arial"/>
              <a:sym typeface="Arial"/>
            </a:endParaRPr>
          </a:p>
          <a:p>
            <a:pPr indent="0" lvl="0" marL="0" rtl="0" algn="ctr">
              <a:lnSpc>
                <a:spcPct val="115000"/>
              </a:lnSpc>
              <a:spcBef>
                <a:spcPts val="2000"/>
              </a:spcBef>
              <a:spcAft>
                <a:spcPts val="0"/>
              </a:spcAft>
              <a:buNone/>
            </a:pPr>
            <a:r>
              <a:rPr lang="de-CH" sz="1200">
                <a:solidFill>
                  <a:srgbClr val="3D3D3D"/>
                </a:solidFill>
                <a:highlight>
                  <a:srgbClr val="FFFFFF"/>
                </a:highlight>
                <a:latin typeface="Arial"/>
                <a:ea typeface="Arial"/>
                <a:cs typeface="Arial"/>
                <a:sym typeface="Arial"/>
              </a:rPr>
              <a:t>Mission</a:t>
            </a:r>
            <a:endParaRPr sz="1200">
              <a:solidFill>
                <a:srgbClr val="3D3D3D"/>
              </a:solidFill>
              <a:highlight>
                <a:srgbClr val="FFFFFF"/>
              </a:highlight>
              <a:latin typeface="Arial"/>
              <a:ea typeface="Arial"/>
              <a:cs typeface="Arial"/>
              <a:sym typeface="Arial"/>
            </a:endParaRPr>
          </a:p>
          <a:p>
            <a:pPr indent="-304800" lvl="0" marL="647700" rtl="0" algn="l">
              <a:lnSpc>
                <a:spcPct val="165000"/>
              </a:lnSpc>
              <a:spcBef>
                <a:spcPts val="0"/>
              </a:spcBef>
              <a:spcAft>
                <a:spcPts val="0"/>
              </a:spcAft>
              <a:buClr>
                <a:srgbClr val="3D3D3D"/>
              </a:buClr>
              <a:buSzPts val="1200"/>
              <a:buFont typeface="Arial"/>
              <a:buChar char="●"/>
            </a:pPr>
            <a:r>
              <a:rPr b="0" lang="de-CH" sz="1200">
                <a:solidFill>
                  <a:srgbClr val="3D3D3D"/>
                </a:solidFill>
                <a:highlight>
                  <a:srgbClr val="FFFFFF"/>
                </a:highlight>
                <a:latin typeface="Arial"/>
                <a:ea typeface="Arial"/>
                <a:cs typeface="Arial"/>
                <a:sym typeface="Arial"/>
              </a:rPr>
              <a:t>To provide a conducive academic and research environment that stimulates learning, promotes intellectual growth, and ensures professional development of students, faculty, and staff.</a:t>
            </a:r>
            <a:endParaRPr b="0" sz="1200">
              <a:solidFill>
                <a:srgbClr val="3D3D3D"/>
              </a:solidFill>
              <a:highlight>
                <a:srgbClr val="FFFFFF"/>
              </a:highlight>
              <a:latin typeface="Arial"/>
              <a:ea typeface="Arial"/>
              <a:cs typeface="Arial"/>
              <a:sym typeface="Arial"/>
            </a:endParaRPr>
          </a:p>
          <a:p>
            <a:pPr indent="-304800" lvl="0" marL="647700" rtl="0" algn="l">
              <a:lnSpc>
                <a:spcPct val="165000"/>
              </a:lnSpc>
              <a:spcBef>
                <a:spcPts val="0"/>
              </a:spcBef>
              <a:spcAft>
                <a:spcPts val="0"/>
              </a:spcAft>
              <a:buClr>
                <a:srgbClr val="3D3D3D"/>
              </a:buClr>
              <a:buSzPts val="1200"/>
              <a:buFont typeface="Arial"/>
              <a:buChar char="●"/>
            </a:pPr>
            <a:r>
              <a:rPr b="0" lang="de-CH" sz="1200">
                <a:solidFill>
                  <a:srgbClr val="3D3D3D"/>
                </a:solidFill>
                <a:highlight>
                  <a:srgbClr val="FFFFFF"/>
                </a:highlight>
                <a:latin typeface="Arial"/>
                <a:ea typeface="Arial"/>
                <a:cs typeface="Arial"/>
                <a:sym typeface="Arial"/>
              </a:rPr>
              <a:t>To collaborate with renowned industry, academic institutions, and research laboratories for academics and research to solve real life problems.</a:t>
            </a:r>
            <a:endParaRPr b="0" sz="1200">
              <a:solidFill>
                <a:srgbClr val="3D3D3D"/>
              </a:solidFill>
              <a:highlight>
                <a:srgbClr val="FFFFFF"/>
              </a:highlight>
              <a:latin typeface="Arial"/>
              <a:ea typeface="Arial"/>
              <a:cs typeface="Arial"/>
              <a:sym typeface="Arial"/>
            </a:endParaRPr>
          </a:p>
          <a:p>
            <a:pPr indent="-304800" lvl="0" marL="647700" rtl="0" algn="l">
              <a:lnSpc>
                <a:spcPct val="165000"/>
              </a:lnSpc>
              <a:spcBef>
                <a:spcPts val="0"/>
              </a:spcBef>
              <a:spcAft>
                <a:spcPts val="0"/>
              </a:spcAft>
              <a:buClr>
                <a:srgbClr val="3D3D3D"/>
              </a:buClr>
              <a:buSzPts val="1200"/>
              <a:buFont typeface="Arial"/>
              <a:buChar char="●"/>
            </a:pPr>
            <a:r>
              <a:rPr b="0" lang="de-CH" sz="1200">
                <a:solidFill>
                  <a:srgbClr val="3D3D3D"/>
                </a:solidFill>
                <a:highlight>
                  <a:srgbClr val="FFFFFF"/>
                </a:highlight>
                <a:latin typeface="Arial"/>
                <a:ea typeface="Arial"/>
                <a:cs typeface="Arial"/>
                <a:sym typeface="Arial"/>
              </a:rPr>
              <a:t>To leverage the strength of alumni to foster industry-relevant coaching and mentoring of the students.</a:t>
            </a:r>
            <a:endParaRPr b="0" sz="1200">
              <a:solidFill>
                <a:srgbClr val="3D3D3D"/>
              </a:solidFill>
              <a:highlight>
                <a:srgbClr val="FFFFFF"/>
              </a:highlight>
              <a:latin typeface="Arial"/>
              <a:ea typeface="Arial"/>
              <a:cs typeface="Arial"/>
              <a:sym typeface="Arial"/>
            </a:endParaRPr>
          </a:p>
          <a:p>
            <a:pPr indent="-304800" lvl="0" marL="647700" rtl="0" algn="l">
              <a:lnSpc>
                <a:spcPct val="165000"/>
              </a:lnSpc>
              <a:spcBef>
                <a:spcPts val="0"/>
              </a:spcBef>
              <a:spcAft>
                <a:spcPts val="0"/>
              </a:spcAft>
              <a:buClr>
                <a:srgbClr val="3D3D3D"/>
              </a:buClr>
              <a:buSzPts val="1200"/>
              <a:buFont typeface="Arial"/>
              <a:buChar char="●"/>
            </a:pPr>
            <a:r>
              <a:rPr b="0" lang="de-CH" sz="1200">
                <a:solidFill>
                  <a:srgbClr val="3D3D3D"/>
                </a:solidFill>
                <a:highlight>
                  <a:srgbClr val="FFFFFF"/>
                </a:highlight>
                <a:latin typeface="Arial"/>
                <a:ea typeface="Arial"/>
                <a:cs typeface="Arial"/>
                <a:sym typeface="Arial"/>
              </a:rPr>
              <a:t>To nurture values with a sense of social responsibility and inculcate attitude and skills required for holistic development of the students.</a:t>
            </a:r>
            <a:endParaRPr b="0" sz="1200">
              <a:solidFill>
                <a:srgbClr val="3D3D3D"/>
              </a:solidFill>
              <a:highlight>
                <a:srgbClr val="FFFFFF"/>
              </a:highlight>
              <a:latin typeface="Arial"/>
              <a:ea typeface="Arial"/>
              <a:cs typeface="Arial"/>
              <a:sym typeface="Arial"/>
            </a:endParaRPr>
          </a:p>
          <a:p>
            <a:pPr indent="0" lvl="0" marL="0" rtl="0" algn="just">
              <a:lnSpc>
                <a:spcPct val="115000"/>
              </a:lnSpc>
              <a:spcBef>
                <a:spcPts val="2100"/>
              </a:spcBef>
              <a:spcAft>
                <a:spcPts val="0"/>
              </a:spcAft>
              <a:buSzPts val="3600"/>
              <a:buNone/>
            </a:pPr>
            <a:r>
              <a:t/>
            </a:r>
            <a:endParaRPr sz="1200"/>
          </a:p>
          <a:p>
            <a:pPr indent="0" lvl="0" marL="0" rtl="0" algn="just">
              <a:lnSpc>
                <a:spcPct val="115000"/>
              </a:lnSpc>
              <a:spcBef>
                <a:spcPts val="1200"/>
              </a:spcBef>
              <a:spcAft>
                <a:spcPts val="0"/>
              </a:spcAft>
              <a:buSzPts val="3600"/>
              <a:buNone/>
            </a:pPr>
            <a:r>
              <a:t/>
            </a:r>
            <a:endParaRPr sz="1200"/>
          </a:p>
          <a:p>
            <a:pPr indent="0" lvl="0" marL="0" rtl="0" algn="just">
              <a:lnSpc>
                <a:spcPct val="115000"/>
              </a:lnSpc>
              <a:spcBef>
                <a:spcPts val="1200"/>
              </a:spcBef>
              <a:spcAft>
                <a:spcPts val="0"/>
              </a:spcAft>
              <a:buSzPts val="3600"/>
              <a:buNone/>
            </a:pPr>
            <a:r>
              <a:t/>
            </a:r>
            <a:endParaRPr sz="1200"/>
          </a:p>
          <a:p>
            <a:pPr indent="0" lvl="0" marL="0" rtl="0" algn="just">
              <a:lnSpc>
                <a:spcPct val="115000"/>
              </a:lnSpc>
              <a:spcBef>
                <a:spcPts val="1200"/>
              </a:spcBef>
              <a:spcAft>
                <a:spcPts val="0"/>
              </a:spcAft>
              <a:buSzPts val="3600"/>
              <a:buNone/>
            </a:pPr>
            <a:r>
              <a:t/>
            </a:r>
            <a:endParaRPr sz="1200"/>
          </a:p>
          <a:p>
            <a:pPr indent="0" lvl="0" marL="0" rtl="0" algn="just">
              <a:lnSpc>
                <a:spcPct val="115000"/>
              </a:lnSpc>
              <a:spcBef>
                <a:spcPts val="1200"/>
              </a:spcBef>
              <a:spcAft>
                <a:spcPts val="0"/>
              </a:spcAft>
              <a:buSzPts val="3600"/>
              <a:buNone/>
            </a:pPr>
            <a:r>
              <a:t/>
            </a:r>
            <a:endParaRPr sz="1200"/>
          </a:p>
          <a:p>
            <a:pPr indent="0" lvl="0" marL="0" rtl="0" algn="just">
              <a:lnSpc>
                <a:spcPct val="115000"/>
              </a:lnSpc>
              <a:spcBef>
                <a:spcPts val="1200"/>
              </a:spcBef>
              <a:spcAft>
                <a:spcPts val="0"/>
              </a:spcAft>
              <a:buSzPts val="3600"/>
              <a:buNone/>
            </a:pPr>
            <a:r>
              <a:t/>
            </a:r>
            <a:endParaRPr sz="1200"/>
          </a:p>
          <a:p>
            <a:pPr indent="0" lvl="0" marL="0" rtl="0" algn="just">
              <a:lnSpc>
                <a:spcPct val="115000"/>
              </a:lnSpc>
              <a:spcBef>
                <a:spcPts val="1200"/>
              </a:spcBef>
              <a:spcAft>
                <a:spcPts val="0"/>
              </a:spcAft>
              <a:buSzPts val="3600"/>
              <a:buNone/>
            </a:pPr>
            <a:r>
              <a:t/>
            </a:r>
            <a:endParaRPr sz="1200"/>
          </a:p>
          <a:p>
            <a:pPr indent="0" lvl="0" marL="0" rtl="0" algn="just">
              <a:lnSpc>
                <a:spcPct val="115000"/>
              </a:lnSpc>
              <a:spcBef>
                <a:spcPts val="1200"/>
              </a:spcBef>
              <a:spcAft>
                <a:spcPts val="0"/>
              </a:spcAft>
              <a:buSzPts val="3600"/>
              <a:buNone/>
            </a:pPr>
            <a:r>
              <a:t/>
            </a:r>
            <a:endParaRPr sz="1200"/>
          </a:p>
          <a:p>
            <a:pPr indent="0" lvl="0" marL="0" rtl="0" algn="just">
              <a:lnSpc>
                <a:spcPct val="115000"/>
              </a:lnSpc>
              <a:spcBef>
                <a:spcPts val="1200"/>
              </a:spcBef>
              <a:spcAft>
                <a:spcPts val="0"/>
              </a:spcAft>
              <a:buSzPts val="3600"/>
              <a:buNone/>
            </a:pPr>
            <a:r>
              <a:t/>
            </a:r>
            <a:endParaRPr sz="1200"/>
          </a:p>
          <a:p>
            <a:pPr indent="0" lvl="0" marL="0" rtl="0" algn="l">
              <a:lnSpc>
                <a:spcPct val="115000"/>
              </a:lnSpc>
              <a:spcBef>
                <a:spcPts val="1200"/>
              </a:spcBef>
              <a:spcAft>
                <a:spcPts val="1200"/>
              </a:spcAft>
              <a:buSzPts val="3600"/>
              <a:buNone/>
            </a:pPr>
            <a:r>
              <a:t/>
            </a:r>
            <a:endParaRPr sz="3000"/>
          </a:p>
        </p:txBody>
      </p:sp>
      <p:sp>
        <p:nvSpPr>
          <p:cNvPr id="136" name="Google Shape;136;p2"/>
          <p:cNvSpPr txBox="1"/>
          <p:nvPr/>
        </p:nvSpPr>
        <p:spPr>
          <a:xfrm>
            <a:off x="8530275" y="1047275"/>
            <a:ext cx="914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2785df75f99_3_11"/>
          <p:cNvSpPr txBox="1"/>
          <p:nvPr>
            <p:ph type="title"/>
          </p:nvPr>
        </p:nvSpPr>
        <p:spPr>
          <a:xfrm>
            <a:off x="125325" y="399425"/>
            <a:ext cx="8888400" cy="4460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0"/>
              </a:spcAft>
              <a:buSzPts val="3600"/>
              <a:buNone/>
            </a:pPr>
            <a:r>
              <a:rPr lang="de-CH" sz="3000">
                <a:latin typeface="Times New Roman"/>
                <a:ea typeface="Times New Roman"/>
                <a:cs typeface="Times New Roman"/>
                <a:sym typeface="Times New Roman"/>
              </a:rPr>
              <a:t>Vision - Mission Computer Engineering Department- </a:t>
            </a:r>
            <a:r>
              <a:rPr lang="de-CH" sz="3000">
                <a:solidFill>
                  <a:srgbClr val="FF0000"/>
                </a:solidFill>
                <a:latin typeface="Times New Roman"/>
                <a:ea typeface="Times New Roman"/>
                <a:cs typeface="Times New Roman"/>
                <a:sym typeface="Times New Roman"/>
              </a:rPr>
              <a:t>Rupali S.</a:t>
            </a:r>
            <a:endParaRPr sz="3000">
              <a:solidFill>
                <a:srgbClr val="FF0000"/>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SzPts val="3600"/>
              <a:buNone/>
            </a:pPr>
            <a:r>
              <a:t/>
            </a:r>
            <a:endParaRPr sz="1200">
              <a:latin typeface="Times New Roman"/>
              <a:ea typeface="Times New Roman"/>
              <a:cs typeface="Times New Roman"/>
              <a:sym typeface="Times New Roman"/>
            </a:endParaRPr>
          </a:p>
          <a:p>
            <a:pPr indent="0" lvl="0" marL="0" rtl="0" algn="ctr">
              <a:lnSpc>
                <a:spcPct val="150000"/>
              </a:lnSpc>
              <a:spcBef>
                <a:spcPts val="0"/>
              </a:spcBef>
              <a:spcAft>
                <a:spcPts val="0"/>
              </a:spcAft>
              <a:buNone/>
            </a:pPr>
            <a:r>
              <a:rPr lang="de-CH" sz="1050">
                <a:solidFill>
                  <a:srgbClr val="666666"/>
                </a:solidFill>
                <a:highlight>
                  <a:srgbClr val="FFFFFF"/>
                </a:highlight>
                <a:latin typeface="Open Sans"/>
                <a:ea typeface="Open Sans"/>
                <a:cs typeface="Open Sans"/>
                <a:sym typeface="Open Sans"/>
              </a:rPr>
              <a:t>Vision</a:t>
            </a:r>
            <a:endParaRPr sz="1050">
              <a:solidFill>
                <a:srgbClr val="666666"/>
              </a:solidFill>
              <a:highlight>
                <a:srgbClr val="FFFFFF"/>
              </a:highlight>
              <a:latin typeface="Open Sans"/>
              <a:ea typeface="Open Sans"/>
              <a:cs typeface="Open Sans"/>
              <a:sym typeface="Open Sans"/>
            </a:endParaRPr>
          </a:p>
          <a:p>
            <a:pPr indent="0" lvl="0" marL="0" rtl="0" algn="ctr">
              <a:lnSpc>
                <a:spcPct val="150000"/>
              </a:lnSpc>
              <a:spcBef>
                <a:spcPts val="1100"/>
              </a:spcBef>
              <a:spcAft>
                <a:spcPts val="0"/>
              </a:spcAft>
              <a:buNone/>
            </a:pPr>
            <a:r>
              <a:rPr b="0" lang="de-CH" sz="1050">
                <a:solidFill>
                  <a:srgbClr val="666666"/>
                </a:solidFill>
                <a:highlight>
                  <a:srgbClr val="FFFFFF"/>
                </a:highlight>
                <a:latin typeface="Open Sans"/>
                <a:ea typeface="Open Sans"/>
                <a:cs typeface="Open Sans"/>
                <a:sym typeface="Open Sans"/>
              </a:rPr>
              <a:t>“To impart the education that graduates globally competent, socially sensitive,     contributory computer professionals.”</a:t>
            </a:r>
            <a:endParaRPr b="0" sz="1050">
              <a:solidFill>
                <a:srgbClr val="666666"/>
              </a:solidFill>
              <a:highlight>
                <a:srgbClr val="FFFFFF"/>
              </a:highlight>
              <a:latin typeface="Open Sans"/>
              <a:ea typeface="Open Sans"/>
              <a:cs typeface="Open Sans"/>
              <a:sym typeface="Open Sans"/>
            </a:endParaRPr>
          </a:p>
          <a:p>
            <a:pPr indent="0" lvl="0" marL="0" rtl="0" algn="ctr">
              <a:lnSpc>
                <a:spcPct val="150000"/>
              </a:lnSpc>
              <a:spcBef>
                <a:spcPts val="1100"/>
              </a:spcBef>
              <a:spcAft>
                <a:spcPts val="0"/>
              </a:spcAft>
              <a:buNone/>
            </a:pPr>
            <a:r>
              <a:rPr lang="de-CH" sz="1050">
                <a:solidFill>
                  <a:srgbClr val="666666"/>
                </a:solidFill>
                <a:highlight>
                  <a:srgbClr val="FFFFFF"/>
                </a:highlight>
                <a:latin typeface="Open Sans"/>
                <a:ea typeface="Open Sans"/>
                <a:cs typeface="Open Sans"/>
                <a:sym typeface="Open Sans"/>
              </a:rPr>
              <a:t>Mission</a:t>
            </a:r>
            <a:endParaRPr sz="1050">
              <a:solidFill>
                <a:srgbClr val="666666"/>
              </a:solidFill>
              <a:highlight>
                <a:srgbClr val="FFFFFF"/>
              </a:highlight>
              <a:latin typeface="Open Sans"/>
              <a:ea typeface="Open Sans"/>
              <a:cs typeface="Open Sans"/>
              <a:sym typeface="Open Sans"/>
            </a:endParaRPr>
          </a:p>
          <a:p>
            <a:pPr indent="-295275" lvl="0" marL="457200" rtl="0" algn="l">
              <a:lnSpc>
                <a:spcPct val="115000"/>
              </a:lnSpc>
              <a:spcBef>
                <a:spcPts val="1100"/>
              </a:spcBef>
              <a:spcAft>
                <a:spcPts val="0"/>
              </a:spcAft>
              <a:buClr>
                <a:srgbClr val="666666"/>
              </a:buClr>
              <a:buSzPts val="1050"/>
              <a:buFont typeface="Open Sans"/>
              <a:buChar char="●"/>
            </a:pPr>
            <a:r>
              <a:rPr b="0" lang="de-CH" sz="1050">
                <a:solidFill>
                  <a:srgbClr val="666666"/>
                </a:solidFill>
                <a:highlight>
                  <a:srgbClr val="FFFFFF"/>
                </a:highlight>
                <a:latin typeface="Open Sans"/>
                <a:ea typeface="Open Sans"/>
                <a:cs typeface="Open Sans"/>
                <a:sym typeface="Open Sans"/>
              </a:rPr>
              <a:t>To provide rigorous, conducive academic environment and constantly innovate in the design of the curriculum and its deployment (T-L-E-A Processes). </a:t>
            </a:r>
            <a:endParaRPr b="0" sz="1050">
              <a:solidFill>
                <a:srgbClr val="666666"/>
              </a:solidFill>
              <a:highlight>
                <a:srgbClr val="FFFFFF"/>
              </a:highlight>
              <a:latin typeface="Open Sans"/>
              <a:ea typeface="Open Sans"/>
              <a:cs typeface="Open Sans"/>
              <a:sym typeface="Open Sans"/>
            </a:endParaRPr>
          </a:p>
          <a:p>
            <a:pPr indent="-295275" lvl="0" marL="457200" rtl="0" algn="l">
              <a:lnSpc>
                <a:spcPct val="115000"/>
              </a:lnSpc>
              <a:spcBef>
                <a:spcPts val="0"/>
              </a:spcBef>
              <a:spcAft>
                <a:spcPts val="0"/>
              </a:spcAft>
              <a:buClr>
                <a:srgbClr val="666666"/>
              </a:buClr>
              <a:buSzPts val="1050"/>
              <a:buFont typeface="Open Sans"/>
              <a:buChar char="●"/>
            </a:pPr>
            <a:r>
              <a:rPr b="0" lang="de-CH" sz="1050">
                <a:solidFill>
                  <a:srgbClr val="666666"/>
                </a:solidFill>
                <a:highlight>
                  <a:srgbClr val="FFFFFF"/>
                </a:highlight>
                <a:latin typeface="Open Sans"/>
                <a:ea typeface="Open Sans"/>
                <a:cs typeface="Open Sans"/>
                <a:sym typeface="Open Sans"/>
              </a:rPr>
              <a:t>To collaborate with industries and academia to strengthen education and ensure relevant research.</a:t>
            </a:r>
            <a:endParaRPr b="0" sz="1050">
              <a:solidFill>
                <a:srgbClr val="666666"/>
              </a:solidFill>
              <a:highlight>
                <a:srgbClr val="FFFFFF"/>
              </a:highlight>
              <a:latin typeface="Open Sans"/>
              <a:ea typeface="Open Sans"/>
              <a:cs typeface="Open Sans"/>
              <a:sym typeface="Open Sans"/>
            </a:endParaRPr>
          </a:p>
          <a:p>
            <a:pPr indent="-295275" lvl="0" marL="457200" rtl="0" algn="l">
              <a:lnSpc>
                <a:spcPct val="115000"/>
              </a:lnSpc>
              <a:spcBef>
                <a:spcPts val="0"/>
              </a:spcBef>
              <a:spcAft>
                <a:spcPts val="0"/>
              </a:spcAft>
              <a:buClr>
                <a:srgbClr val="666666"/>
              </a:buClr>
              <a:buSzPts val="1050"/>
              <a:buFont typeface="Open Sans"/>
              <a:buChar char="●"/>
            </a:pPr>
            <a:r>
              <a:rPr b="0" lang="de-CH" sz="1050">
                <a:solidFill>
                  <a:srgbClr val="666666"/>
                </a:solidFill>
                <a:highlight>
                  <a:srgbClr val="FFFFFF"/>
                </a:highlight>
                <a:latin typeface="Open Sans"/>
                <a:ea typeface="Open Sans"/>
                <a:cs typeface="Open Sans"/>
                <a:sym typeface="Open Sans"/>
              </a:rPr>
              <a:t>To focus on experiential learning and inculcate problem solving, leadership, professional ethics, teamwork and sensitivity to the real-world problems.</a:t>
            </a:r>
            <a:endParaRPr b="0" sz="1050">
              <a:solidFill>
                <a:srgbClr val="666666"/>
              </a:solidFill>
              <a:highlight>
                <a:srgbClr val="FFFFFF"/>
              </a:highlight>
              <a:latin typeface="Open Sans"/>
              <a:ea typeface="Open Sans"/>
              <a:cs typeface="Open Sans"/>
              <a:sym typeface="Open Sans"/>
            </a:endParaRPr>
          </a:p>
          <a:p>
            <a:pPr indent="-295275" lvl="0" marL="457200" rtl="0" algn="l">
              <a:lnSpc>
                <a:spcPct val="115000"/>
              </a:lnSpc>
              <a:spcBef>
                <a:spcPts val="0"/>
              </a:spcBef>
              <a:spcAft>
                <a:spcPts val="0"/>
              </a:spcAft>
              <a:buClr>
                <a:srgbClr val="666666"/>
              </a:buClr>
              <a:buSzPts val="1050"/>
              <a:buFont typeface="Open Sans"/>
              <a:buChar char="●"/>
            </a:pPr>
            <a:r>
              <a:rPr b="0" lang="de-CH" sz="1050">
                <a:solidFill>
                  <a:srgbClr val="666666"/>
                </a:solidFill>
                <a:highlight>
                  <a:srgbClr val="FFFFFF"/>
                </a:highlight>
                <a:latin typeface="Open Sans"/>
                <a:ea typeface="Open Sans"/>
                <a:cs typeface="Open Sans"/>
                <a:sym typeface="Open Sans"/>
              </a:rPr>
              <a:t>To ensure a professional growth mindset that translates to lifelong learning for all.</a:t>
            </a:r>
            <a:endParaRPr b="0" sz="1050">
              <a:solidFill>
                <a:srgbClr val="666666"/>
              </a:solidFill>
              <a:highlight>
                <a:srgbClr val="FFFFFF"/>
              </a:highlight>
              <a:latin typeface="Open Sans"/>
              <a:ea typeface="Open Sans"/>
              <a:cs typeface="Open Sans"/>
              <a:sym typeface="Open Sans"/>
            </a:endParaRPr>
          </a:p>
          <a:p>
            <a:pPr indent="0" lvl="0" marL="0" rtl="0" algn="just">
              <a:lnSpc>
                <a:spcPct val="115000"/>
              </a:lnSpc>
              <a:spcBef>
                <a:spcPts val="1200"/>
              </a:spcBef>
              <a:spcAft>
                <a:spcPts val="0"/>
              </a:spcAft>
              <a:buSzPts val="3600"/>
              <a:buNone/>
            </a:pPr>
            <a:r>
              <a:t/>
            </a:r>
            <a:endParaRPr sz="1200"/>
          </a:p>
          <a:p>
            <a:pPr indent="0" lvl="0" marL="0" rtl="0" algn="just">
              <a:lnSpc>
                <a:spcPct val="115000"/>
              </a:lnSpc>
              <a:spcBef>
                <a:spcPts val="1200"/>
              </a:spcBef>
              <a:spcAft>
                <a:spcPts val="0"/>
              </a:spcAft>
              <a:buSzPts val="3600"/>
              <a:buNone/>
            </a:pPr>
            <a:r>
              <a:t/>
            </a:r>
            <a:endParaRPr sz="1200"/>
          </a:p>
          <a:p>
            <a:pPr indent="0" lvl="0" marL="0" rtl="0" algn="just">
              <a:lnSpc>
                <a:spcPct val="115000"/>
              </a:lnSpc>
              <a:spcBef>
                <a:spcPts val="1200"/>
              </a:spcBef>
              <a:spcAft>
                <a:spcPts val="0"/>
              </a:spcAft>
              <a:buSzPts val="3600"/>
              <a:buNone/>
            </a:pPr>
            <a:r>
              <a:t/>
            </a:r>
            <a:endParaRPr sz="1200"/>
          </a:p>
          <a:p>
            <a:pPr indent="0" lvl="0" marL="0" rtl="0" algn="just">
              <a:lnSpc>
                <a:spcPct val="115000"/>
              </a:lnSpc>
              <a:spcBef>
                <a:spcPts val="1200"/>
              </a:spcBef>
              <a:spcAft>
                <a:spcPts val="0"/>
              </a:spcAft>
              <a:buSzPts val="3600"/>
              <a:buNone/>
            </a:pPr>
            <a:r>
              <a:t/>
            </a:r>
            <a:endParaRPr sz="1200"/>
          </a:p>
          <a:p>
            <a:pPr indent="0" lvl="0" marL="0" rtl="0" algn="just">
              <a:lnSpc>
                <a:spcPct val="115000"/>
              </a:lnSpc>
              <a:spcBef>
                <a:spcPts val="1200"/>
              </a:spcBef>
              <a:spcAft>
                <a:spcPts val="0"/>
              </a:spcAft>
              <a:buSzPts val="3600"/>
              <a:buNone/>
            </a:pPr>
            <a:r>
              <a:t/>
            </a:r>
            <a:endParaRPr sz="1200"/>
          </a:p>
          <a:p>
            <a:pPr indent="0" lvl="0" marL="0" rtl="0" algn="just">
              <a:lnSpc>
                <a:spcPct val="115000"/>
              </a:lnSpc>
              <a:spcBef>
                <a:spcPts val="1200"/>
              </a:spcBef>
              <a:spcAft>
                <a:spcPts val="0"/>
              </a:spcAft>
              <a:buSzPts val="3600"/>
              <a:buNone/>
            </a:pPr>
            <a:r>
              <a:t/>
            </a:r>
            <a:endParaRPr sz="1200"/>
          </a:p>
          <a:p>
            <a:pPr indent="0" lvl="0" marL="0" rtl="0" algn="just">
              <a:lnSpc>
                <a:spcPct val="115000"/>
              </a:lnSpc>
              <a:spcBef>
                <a:spcPts val="1200"/>
              </a:spcBef>
              <a:spcAft>
                <a:spcPts val="0"/>
              </a:spcAft>
              <a:buSzPts val="3600"/>
              <a:buNone/>
            </a:pPr>
            <a:r>
              <a:t/>
            </a:r>
            <a:endParaRPr sz="1200"/>
          </a:p>
          <a:p>
            <a:pPr indent="0" lvl="0" marL="0" rtl="0" algn="just">
              <a:lnSpc>
                <a:spcPct val="115000"/>
              </a:lnSpc>
              <a:spcBef>
                <a:spcPts val="1200"/>
              </a:spcBef>
              <a:spcAft>
                <a:spcPts val="0"/>
              </a:spcAft>
              <a:buSzPts val="3600"/>
              <a:buNone/>
            </a:pPr>
            <a:r>
              <a:t/>
            </a:r>
            <a:endParaRPr sz="1200"/>
          </a:p>
          <a:p>
            <a:pPr indent="0" lvl="0" marL="0" rtl="0" algn="just">
              <a:lnSpc>
                <a:spcPct val="115000"/>
              </a:lnSpc>
              <a:spcBef>
                <a:spcPts val="1200"/>
              </a:spcBef>
              <a:spcAft>
                <a:spcPts val="0"/>
              </a:spcAft>
              <a:buSzPts val="3600"/>
              <a:buNone/>
            </a:pPr>
            <a:r>
              <a:t/>
            </a:r>
            <a:endParaRPr sz="1200"/>
          </a:p>
          <a:p>
            <a:pPr indent="0" lvl="0" marL="0" rtl="0" algn="l">
              <a:lnSpc>
                <a:spcPct val="115000"/>
              </a:lnSpc>
              <a:spcBef>
                <a:spcPts val="1200"/>
              </a:spcBef>
              <a:spcAft>
                <a:spcPts val="1200"/>
              </a:spcAft>
              <a:buSzPts val="3600"/>
              <a:buNone/>
            </a:pPr>
            <a:r>
              <a:t/>
            </a:r>
            <a:endParaRPr sz="3000"/>
          </a:p>
        </p:txBody>
      </p:sp>
      <p:sp>
        <p:nvSpPr>
          <p:cNvPr id="142" name="Google Shape;142;g2785df75f99_3_11"/>
          <p:cNvSpPr txBox="1"/>
          <p:nvPr/>
        </p:nvSpPr>
        <p:spPr>
          <a:xfrm>
            <a:off x="8530275" y="1047275"/>
            <a:ext cx="914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g28ea2419252_13_14"/>
          <p:cNvSpPr txBox="1"/>
          <p:nvPr>
            <p:ph type="title"/>
          </p:nvPr>
        </p:nvSpPr>
        <p:spPr>
          <a:xfrm>
            <a:off x="829750" y="1165975"/>
            <a:ext cx="7303200" cy="1881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0"/>
              </a:spcAft>
              <a:buSzPts val="3600"/>
              <a:buNone/>
            </a:pPr>
            <a:r>
              <a:rPr lang="de-CH" sz="3000"/>
              <a:t>CRITERIA A -</a:t>
            </a:r>
            <a:endParaRPr sz="3000"/>
          </a:p>
          <a:p>
            <a:pPr indent="0" lvl="0" marL="0" rtl="0" algn="ctr">
              <a:lnSpc>
                <a:spcPct val="115000"/>
              </a:lnSpc>
              <a:spcBef>
                <a:spcPts val="1200"/>
              </a:spcBef>
              <a:spcAft>
                <a:spcPts val="0"/>
              </a:spcAft>
              <a:buSzPts val="3600"/>
              <a:buNone/>
            </a:pPr>
            <a:r>
              <a:rPr lang="de-CH" sz="3000"/>
              <a:t>CURRICULUM DESIGN   2024-25 &amp; 2025-26</a:t>
            </a:r>
            <a:endParaRPr sz="3000"/>
          </a:p>
          <a:p>
            <a:pPr indent="0" lvl="0" marL="0" rtl="0" algn="ctr">
              <a:lnSpc>
                <a:spcPct val="115000"/>
              </a:lnSpc>
              <a:spcBef>
                <a:spcPts val="1200"/>
              </a:spcBef>
              <a:spcAft>
                <a:spcPts val="0"/>
              </a:spcAft>
              <a:buSzPts val="3600"/>
              <a:buNone/>
            </a:pPr>
            <a:r>
              <a:rPr lang="de-CH" sz="3000">
                <a:solidFill>
                  <a:srgbClr val="FF0000"/>
                </a:solidFill>
              </a:rPr>
              <a:t>AVS</a:t>
            </a:r>
            <a:endParaRPr sz="3000">
              <a:solidFill>
                <a:srgbClr val="FF0000"/>
              </a:solidFill>
            </a:endParaRPr>
          </a:p>
          <a:p>
            <a:pPr indent="0" lvl="0" marL="0" rtl="0" algn="ctr">
              <a:lnSpc>
                <a:spcPct val="115000"/>
              </a:lnSpc>
              <a:spcBef>
                <a:spcPts val="1200"/>
              </a:spcBef>
              <a:spcAft>
                <a:spcPts val="0"/>
              </a:spcAft>
              <a:buSzPts val="3600"/>
              <a:buNone/>
            </a:pPr>
            <a:r>
              <a:t/>
            </a:r>
            <a:endParaRPr sz="3000"/>
          </a:p>
          <a:p>
            <a:pPr indent="0" lvl="0" marL="0" rtl="0" algn="l">
              <a:lnSpc>
                <a:spcPct val="115000"/>
              </a:lnSpc>
              <a:spcBef>
                <a:spcPts val="1200"/>
              </a:spcBef>
              <a:spcAft>
                <a:spcPts val="1200"/>
              </a:spcAft>
              <a:buSzPts val="3600"/>
              <a:buNone/>
            </a:pPr>
            <a:r>
              <a:t/>
            </a:r>
            <a:endParaRPr sz="3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28ea2419252_1_177"/>
          <p:cNvSpPr txBox="1"/>
          <p:nvPr>
            <p:ph type="title"/>
          </p:nvPr>
        </p:nvSpPr>
        <p:spPr>
          <a:xfrm>
            <a:off x="311700" y="73056"/>
            <a:ext cx="8520600" cy="6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de-CH" sz="1750">
                <a:latin typeface="Times New Roman"/>
                <a:ea typeface="Times New Roman"/>
                <a:cs typeface="Times New Roman"/>
                <a:sym typeface="Times New Roman"/>
              </a:rPr>
              <a:t>A.1. </a:t>
            </a:r>
            <a:r>
              <a:rPr b="0" lang="de-CH" sz="1200">
                <a:solidFill>
                  <a:srgbClr val="000000"/>
                </a:solidFill>
                <a:latin typeface="Calibri"/>
                <a:ea typeface="Calibri"/>
                <a:cs typeface="Calibri"/>
                <a:sym typeface="Calibri"/>
              </a:rPr>
              <a:t>The curriculum is well thought and makes sincere attempt to follow the National Guidelines in terms of number of credits of the program, balance of credits for Mathematics, Science, Engineering Science, Program Core, Program Electives and Humanities and Social science related courses.</a:t>
            </a:r>
            <a:r>
              <a:rPr lang="de-CH" sz="1779">
                <a:latin typeface="Times New Roman"/>
                <a:ea typeface="Times New Roman"/>
                <a:cs typeface="Times New Roman"/>
                <a:sym typeface="Times New Roman"/>
              </a:rPr>
              <a:t>    </a:t>
            </a:r>
            <a:endParaRPr sz="1779">
              <a:latin typeface="Times New Roman"/>
              <a:ea typeface="Times New Roman"/>
              <a:cs typeface="Times New Roman"/>
              <a:sym typeface="Times New Roman"/>
            </a:endParaRPr>
          </a:p>
          <a:p>
            <a:pPr indent="0" lvl="0" marL="0" rtl="0" algn="l">
              <a:lnSpc>
                <a:spcPct val="100000"/>
              </a:lnSpc>
              <a:spcBef>
                <a:spcPts val="0"/>
              </a:spcBef>
              <a:spcAft>
                <a:spcPts val="0"/>
              </a:spcAft>
              <a:buSzPts val="990"/>
              <a:buNone/>
            </a:pPr>
            <a:r>
              <a:t/>
            </a:r>
            <a:endParaRPr sz="3100"/>
          </a:p>
        </p:txBody>
      </p:sp>
      <p:sp>
        <p:nvSpPr>
          <p:cNvPr id="153" name="Google Shape;153;g28ea2419252_1_177"/>
          <p:cNvSpPr txBox="1"/>
          <p:nvPr>
            <p:ph idx="1" type="body"/>
          </p:nvPr>
        </p:nvSpPr>
        <p:spPr>
          <a:xfrm>
            <a:off x="311700" y="1280525"/>
            <a:ext cx="8520600" cy="3302700"/>
          </a:xfrm>
          <a:prstGeom prst="rect">
            <a:avLst/>
          </a:prstGeom>
          <a:noFill/>
          <a:ln>
            <a:noFill/>
          </a:ln>
        </p:spPr>
        <p:txBody>
          <a:bodyPr anchorCtr="0" anchor="t" bIns="91425" lIns="91425" spcFirstLastPara="1" rIns="91425" wrap="square" tIns="91425">
            <a:normAutofit/>
          </a:bodyPr>
          <a:lstStyle/>
          <a:p>
            <a:pPr indent="0" lvl="0" marL="457200" rtl="0" algn="l">
              <a:lnSpc>
                <a:spcPct val="115000"/>
              </a:lnSpc>
              <a:spcBef>
                <a:spcPts val="0"/>
              </a:spcBef>
              <a:spcAft>
                <a:spcPts val="0"/>
              </a:spcAft>
              <a:buNone/>
            </a:pPr>
            <a:r>
              <a:t/>
            </a:r>
            <a:endParaRPr>
              <a:solidFill>
                <a:schemeClr val="dk2"/>
              </a:solidFill>
              <a:latin typeface="Times New Roman"/>
              <a:ea typeface="Times New Roman"/>
              <a:cs typeface="Times New Roman"/>
              <a:sym typeface="Times New Roman"/>
            </a:endParaRPr>
          </a:p>
        </p:txBody>
      </p:sp>
      <p:pic>
        <p:nvPicPr>
          <p:cNvPr id="154" name="Google Shape;154;g28ea2419252_1_177"/>
          <p:cNvPicPr preferRelativeResize="0"/>
          <p:nvPr/>
        </p:nvPicPr>
        <p:blipFill rotWithShape="1">
          <a:blip r:embed="rId3">
            <a:alphaModFix/>
          </a:blip>
          <a:srcRect b="12416" l="20047" r="19679" t="37978"/>
          <a:stretch/>
        </p:blipFill>
        <p:spPr>
          <a:xfrm>
            <a:off x="189450" y="889165"/>
            <a:ext cx="8765100" cy="40556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hd72da3054435e2_25_186"/>
          <p:cNvSpPr txBox="1"/>
          <p:nvPr>
            <p:ph type="title"/>
          </p:nvPr>
        </p:nvSpPr>
        <p:spPr>
          <a:xfrm>
            <a:off x="311700" y="2164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86419"/>
              <a:buNone/>
            </a:pPr>
            <a:r>
              <a:rPr b="1" lang="de-CH"/>
              <a:t>Credit Distribution</a:t>
            </a:r>
            <a:endParaRPr b="1">
              <a:solidFill>
                <a:srgbClr val="FF0000"/>
              </a:solidFill>
            </a:endParaRPr>
          </a:p>
        </p:txBody>
      </p:sp>
      <p:pic>
        <p:nvPicPr>
          <p:cNvPr id="160" name="Google Shape;160;hd72da3054435e2_25_186"/>
          <p:cNvPicPr preferRelativeResize="0"/>
          <p:nvPr/>
        </p:nvPicPr>
        <p:blipFill rotWithShape="1">
          <a:blip r:embed="rId3">
            <a:alphaModFix/>
          </a:blip>
          <a:srcRect b="19484" l="25462" r="24168" t="37420"/>
          <a:stretch/>
        </p:blipFill>
        <p:spPr>
          <a:xfrm>
            <a:off x="4178075" y="915375"/>
            <a:ext cx="4889723" cy="2861875"/>
          </a:xfrm>
          <a:prstGeom prst="rect">
            <a:avLst/>
          </a:prstGeom>
          <a:noFill/>
          <a:ln cap="flat" cmpd="sng" w="9525">
            <a:solidFill>
              <a:schemeClr val="dk2"/>
            </a:solidFill>
            <a:prstDash val="solid"/>
            <a:round/>
            <a:headEnd len="sm" w="sm" type="none"/>
            <a:tailEnd len="sm" w="sm" type="none"/>
          </a:ln>
        </p:spPr>
      </p:pic>
      <p:pic>
        <p:nvPicPr>
          <p:cNvPr id="161" name="Google Shape;161;hd72da3054435e2_25_186"/>
          <p:cNvPicPr preferRelativeResize="0"/>
          <p:nvPr/>
        </p:nvPicPr>
        <p:blipFill rotWithShape="1">
          <a:blip r:embed="rId4">
            <a:alphaModFix/>
          </a:blip>
          <a:srcRect b="23435" l="28921" r="30871" t="25840"/>
          <a:stretch/>
        </p:blipFill>
        <p:spPr>
          <a:xfrm>
            <a:off x="57425" y="915375"/>
            <a:ext cx="4034751" cy="2861875"/>
          </a:xfrm>
          <a:prstGeom prst="rect">
            <a:avLst/>
          </a:prstGeom>
          <a:noFill/>
          <a:ln cap="flat" cmpd="sng" w="9525">
            <a:solidFill>
              <a:schemeClr val="dk2"/>
            </a:solidFill>
            <a:prstDash val="solid"/>
            <a:round/>
            <a:headEnd len="sm" w="sm" type="none"/>
            <a:tailEnd len="sm" w="sm" type="none"/>
          </a:ln>
        </p:spPr>
      </p:pic>
      <p:sp>
        <p:nvSpPr>
          <p:cNvPr id="162" name="Google Shape;162;hd72da3054435e2_25_18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CH"/>
              <a:t>‹#›</a:t>
            </a:fld>
            <a:endParaRPr/>
          </a:p>
        </p:txBody>
      </p:sp>
      <p:sp>
        <p:nvSpPr>
          <p:cNvPr id="163" name="Google Shape;163;hd72da3054435e2_25_186"/>
          <p:cNvSpPr txBox="1"/>
          <p:nvPr/>
        </p:nvSpPr>
        <p:spPr>
          <a:xfrm>
            <a:off x="413850" y="3842850"/>
            <a:ext cx="8280300" cy="7941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Clr>
                <a:srgbClr val="000000"/>
              </a:buClr>
              <a:buSzPts val="1200"/>
              <a:buFont typeface="Arial"/>
              <a:buNone/>
            </a:pPr>
            <a:r>
              <a:rPr b="0" i="0" lang="de-CH" sz="1200" u="none" cap="none" strike="noStrike">
                <a:solidFill>
                  <a:schemeClr val="dk2"/>
                </a:solidFill>
                <a:latin typeface="Open Sans"/>
                <a:ea typeface="Open Sans"/>
                <a:cs typeface="Open Sans"/>
                <a:sym typeface="Open Sans"/>
              </a:rPr>
              <a:t>*The curriculum is well thought and makes sincere attempt to follow the National Guidelines in terms of number of credits of the program, balance of credits for Mathematics, Science, Engineering Science, Program Core, Program Electives and Humanities and Social science related courses. </a:t>
            </a:r>
            <a:endParaRPr b="0" i="0" sz="1200" u="none" cap="none" strike="noStrike">
              <a:solidFill>
                <a:schemeClr val="dk2"/>
              </a:solidFill>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hd72da3054435e2_25_201"/>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6419"/>
              <a:buNone/>
            </a:pPr>
            <a:r>
              <a:rPr b="1" lang="de-CH"/>
              <a:t>                        Link to Curriculum Scheme </a:t>
            </a:r>
            <a:endParaRPr b="1"/>
          </a:p>
        </p:txBody>
      </p:sp>
      <p:sp>
        <p:nvSpPr>
          <p:cNvPr id="169" name="Google Shape;169;hd72da3054435e2_25_201"/>
          <p:cNvSpPr txBox="1"/>
          <p:nvPr>
            <p:ph idx="1" type="body"/>
          </p:nvPr>
        </p:nvSpPr>
        <p:spPr>
          <a:xfrm>
            <a:off x="311700" y="1152475"/>
            <a:ext cx="86958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800"/>
              <a:buNone/>
            </a:pPr>
            <a:r>
              <a:rPr b="1" lang="de-CH">
                <a:solidFill>
                  <a:schemeClr val="dk1"/>
                </a:solidFill>
              </a:rPr>
              <a:t>Scheme </a:t>
            </a:r>
            <a:endParaRPr b="1">
              <a:solidFill>
                <a:schemeClr val="dk1"/>
              </a:solidFill>
            </a:endParaRPr>
          </a:p>
          <a:p>
            <a:pPr indent="0" lvl="0" marL="0" rtl="0" algn="l">
              <a:lnSpc>
                <a:spcPct val="115000"/>
              </a:lnSpc>
              <a:spcBef>
                <a:spcPts val="1200"/>
              </a:spcBef>
              <a:spcAft>
                <a:spcPts val="0"/>
              </a:spcAft>
              <a:buSzPts val="1800"/>
              <a:buNone/>
            </a:pPr>
            <a:r>
              <a:rPr b="1" lang="de-CH" u="sng">
                <a:solidFill>
                  <a:schemeClr val="hlink"/>
                </a:solidFill>
                <a:hlinkClick r:id="rId3"/>
              </a:rPr>
              <a:t>comp-scheme-2024.pdf</a:t>
            </a:r>
            <a:r>
              <a:rPr b="1" lang="de-CH" u="sng">
                <a:solidFill>
                  <a:schemeClr val="hlink"/>
                </a:solidFill>
              </a:rPr>
              <a:t> </a:t>
            </a:r>
            <a:endParaRPr b="1">
              <a:solidFill>
                <a:schemeClr val="dk1"/>
              </a:solidFill>
            </a:endParaRPr>
          </a:p>
          <a:p>
            <a:pPr indent="0" lvl="0" marL="0" rtl="0" algn="l">
              <a:lnSpc>
                <a:spcPct val="115000"/>
              </a:lnSpc>
              <a:spcBef>
                <a:spcPts val="1200"/>
              </a:spcBef>
              <a:spcAft>
                <a:spcPts val="0"/>
              </a:spcAft>
              <a:buSzPts val="1800"/>
              <a:buNone/>
            </a:pPr>
            <a:r>
              <a:t/>
            </a:r>
            <a:endParaRPr b="1">
              <a:solidFill>
                <a:schemeClr val="dk1"/>
              </a:solidFill>
            </a:endParaRPr>
          </a:p>
          <a:p>
            <a:pPr indent="0" lvl="0" marL="0" rtl="0" algn="l">
              <a:lnSpc>
                <a:spcPct val="115000"/>
              </a:lnSpc>
              <a:spcBef>
                <a:spcPts val="1200"/>
              </a:spcBef>
              <a:spcAft>
                <a:spcPts val="0"/>
              </a:spcAft>
              <a:buSzPts val="1800"/>
              <a:buNone/>
            </a:pPr>
            <a:r>
              <a:rPr b="1" lang="de-CH">
                <a:solidFill>
                  <a:schemeClr val="dk1"/>
                </a:solidFill>
              </a:rPr>
              <a:t>Syllabus </a:t>
            </a:r>
            <a:endParaRPr b="1">
              <a:solidFill>
                <a:schemeClr val="dk1"/>
              </a:solidFill>
            </a:endParaRPr>
          </a:p>
          <a:p>
            <a:pPr indent="0" lvl="0" marL="0" rtl="0" algn="l">
              <a:lnSpc>
                <a:spcPct val="115000"/>
              </a:lnSpc>
              <a:spcBef>
                <a:spcPts val="1200"/>
              </a:spcBef>
              <a:spcAft>
                <a:spcPts val="0"/>
              </a:spcAft>
              <a:buSzPts val="1800"/>
              <a:buNone/>
            </a:pPr>
            <a:r>
              <a:rPr b="1" lang="de-CH" u="sng">
                <a:solidFill>
                  <a:schemeClr val="hlink"/>
                </a:solidFill>
                <a:hlinkClick r:id="rId4"/>
              </a:rPr>
              <a:t>Computer Engineering Syllabus SPIT NEP 2023-2027_v15_Website.docx</a:t>
            </a:r>
            <a:r>
              <a:rPr lang="de-CH" sz="1100">
                <a:solidFill>
                  <a:srgbClr val="000000"/>
                </a:solidFill>
                <a:latin typeface="Arial"/>
                <a:ea typeface="Arial"/>
                <a:cs typeface="Arial"/>
                <a:sym typeface="Arial"/>
              </a:rPr>
              <a:t> </a:t>
            </a:r>
            <a:endParaRPr b="1">
              <a:solidFill>
                <a:schemeClr val="dk1"/>
              </a:solidFill>
            </a:endParaRPr>
          </a:p>
        </p:txBody>
      </p:sp>
      <p:sp>
        <p:nvSpPr>
          <p:cNvPr id="170" name="Google Shape;170;hd72da3054435e2_25_20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CH"/>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h7b893a0582d097ac_1_0"/>
          <p:cNvSpPr txBox="1"/>
          <p:nvPr>
            <p:ph type="title"/>
          </p:nvPr>
        </p:nvSpPr>
        <p:spPr>
          <a:xfrm>
            <a:off x="311700" y="165825"/>
            <a:ext cx="8520600" cy="6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de-CH" sz="1750">
                <a:latin typeface="Times New Roman"/>
                <a:ea typeface="Times New Roman"/>
                <a:cs typeface="Times New Roman"/>
                <a:sym typeface="Times New Roman"/>
              </a:rPr>
              <a:t>A.2. </a:t>
            </a:r>
            <a:r>
              <a:rPr b="0" lang="de-CH" sz="1200">
                <a:solidFill>
                  <a:srgbClr val="000000"/>
                </a:solidFill>
                <a:latin typeface="Calibri"/>
                <a:ea typeface="Calibri"/>
                <a:cs typeface="Calibri"/>
                <a:sym typeface="Calibri"/>
              </a:rPr>
              <a:t>Enough flexibility is incorporated in the curriculum to enable students to take courses of their choice wherever possible. Some sincere efforts towards CBCS are observed.</a:t>
            </a:r>
            <a:r>
              <a:rPr lang="de-CH" sz="1779">
                <a:latin typeface="Times New Roman"/>
                <a:ea typeface="Times New Roman"/>
                <a:cs typeface="Times New Roman"/>
                <a:sym typeface="Times New Roman"/>
              </a:rPr>
              <a:t>    </a:t>
            </a:r>
            <a:endParaRPr sz="1779">
              <a:latin typeface="Times New Roman"/>
              <a:ea typeface="Times New Roman"/>
              <a:cs typeface="Times New Roman"/>
              <a:sym typeface="Times New Roman"/>
            </a:endParaRPr>
          </a:p>
          <a:p>
            <a:pPr indent="0" lvl="0" marL="0" rtl="0" algn="l">
              <a:lnSpc>
                <a:spcPct val="100000"/>
              </a:lnSpc>
              <a:spcBef>
                <a:spcPts val="0"/>
              </a:spcBef>
              <a:spcAft>
                <a:spcPts val="0"/>
              </a:spcAft>
              <a:buSzPts val="990"/>
              <a:buNone/>
            </a:pPr>
            <a:r>
              <a:t/>
            </a:r>
            <a:endParaRPr sz="3100"/>
          </a:p>
        </p:txBody>
      </p:sp>
      <p:sp>
        <p:nvSpPr>
          <p:cNvPr id="176" name="Google Shape;176;h7b893a0582d097ac_1_0"/>
          <p:cNvSpPr txBox="1"/>
          <p:nvPr>
            <p:ph idx="1" type="body"/>
          </p:nvPr>
        </p:nvSpPr>
        <p:spPr>
          <a:xfrm>
            <a:off x="311700" y="1280525"/>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de-CH">
                <a:latin typeface="Times New Roman"/>
                <a:ea typeface="Times New Roman"/>
                <a:cs typeface="Times New Roman"/>
                <a:sym typeface="Times New Roman"/>
              </a:rPr>
              <a:t>Flexibility of choice is provided through courses such as,</a:t>
            </a:r>
            <a:endParaRPr>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de-CH">
                <a:latin typeface="Times New Roman"/>
                <a:ea typeface="Times New Roman"/>
                <a:cs typeface="Times New Roman"/>
                <a:sym typeface="Times New Roman"/>
              </a:rPr>
              <a:t>Program Elective</a:t>
            </a:r>
            <a:endParaRPr>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de-CH">
                <a:latin typeface="Times New Roman"/>
                <a:ea typeface="Times New Roman"/>
                <a:cs typeface="Times New Roman"/>
                <a:sym typeface="Times New Roman"/>
              </a:rPr>
              <a:t>Open Elective</a:t>
            </a:r>
            <a:endParaRPr>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de-CH">
                <a:latin typeface="Times New Roman"/>
                <a:ea typeface="Times New Roman"/>
                <a:cs typeface="Times New Roman"/>
                <a:sym typeface="Times New Roman"/>
              </a:rPr>
              <a:t>Multidisciplinary</a:t>
            </a:r>
            <a:r>
              <a:rPr lang="de-CH">
                <a:latin typeface="Times New Roman"/>
                <a:ea typeface="Times New Roman"/>
                <a:cs typeface="Times New Roman"/>
                <a:sym typeface="Times New Roman"/>
              </a:rPr>
              <a:t> Minor</a:t>
            </a:r>
            <a:endParaRPr>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de-CH">
                <a:latin typeface="Times New Roman"/>
                <a:ea typeface="Times New Roman"/>
                <a:cs typeface="Times New Roman"/>
                <a:sym typeface="Times New Roman"/>
              </a:rPr>
              <a:t>Liberal Learning</a:t>
            </a:r>
            <a:endParaRPr>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de-CH">
                <a:latin typeface="Times New Roman"/>
                <a:ea typeface="Times New Roman"/>
                <a:cs typeface="Times New Roman"/>
                <a:sym typeface="Times New Roman"/>
              </a:rPr>
              <a:t>Humanities and Social Science</a:t>
            </a:r>
            <a:endParaRPr>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latin typeface="Times New Roman"/>
              <a:ea typeface="Times New Roman"/>
              <a:cs typeface="Times New Roman"/>
              <a:sym typeface="Times New Roman"/>
            </a:endParaRPr>
          </a:p>
          <a:p>
            <a:pPr indent="0" lvl="0" marL="0" rtl="0" algn="just">
              <a:spcBef>
                <a:spcPts val="0"/>
              </a:spcBef>
              <a:spcAft>
                <a:spcPts val="0"/>
              </a:spcAft>
              <a:buNone/>
            </a:pPr>
            <a:r>
              <a:rPr lang="de-CH">
                <a:latin typeface="Times New Roman"/>
                <a:ea typeface="Times New Roman"/>
                <a:cs typeface="Times New Roman"/>
                <a:sym typeface="Times New Roman"/>
              </a:rPr>
              <a:t>Students can select electives as per their interests. </a:t>
            </a:r>
            <a:endParaRPr>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28ea2419252_1_23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de-CH" sz="1750">
                <a:latin typeface="Times New Roman"/>
                <a:ea typeface="Times New Roman"/>
                <a:cs typeface="Times New Roman"/>
                <a:sym typeface="Times New Roman"/>
              </a:rPr>
              <a:t>A.3. </a:t>
            </a:r>
            <a:r>
              <a:rPr b="0" lang="de-CH" sz="1200">
                <a:solidFill>
                  <a:srgbClr val="000000"/>
                </a:solidFill>
                <a:latin typeface="Calibri"/>
                <a:ea typeface="Calibri"/>
                <a:cs typeface="Calibri"/>
                <a:sym typeface="Calibri"/>
              </a:rPr>
              <a:t>Curriculum has a balance of theory and laboratory sessions, to ensure strong hands-on learning.</a:t>
            </a:r>
            <a:endParaRPr sz="3000">
              <a:solidFill>
                <a:srgbClr val="FF0000"/>
              </a:solidFill>
            </a:endParaRPr>
          </a:p>
          <a:p>
            <a:pPr indent="0" lvl="0" marL="0" rtl="0" algn="l">
              <a:lnSpc>
                <a:spcPct val="100000"/>
              </a:lnSpc>
              <a:spcBef>
                <a:spcPts val="0"/>
              </a:spcBef>
              <a:spcAft>
                <a:spcPts val="0"/>
              </a:spcAft>
              <a:buSzPts val="990"/>
              <a:buNone/>
            </a:pPr>
            <a:r>
              <a:t/>
            </a:r>
            <a:endParaRPr sz="3100"/>
          </a:p>
        </p:txBody>
      </p:sp>
      <p:graphicFrame>
        <p:nvGraphicFramePr>
          <p:cNvPr id="182" name="Google Shape;182;g28ea2419252_1_237"/>
          <p:cNvGraphicFramePr/>
          <p:nvPr/>
        </p:nvGraphicFramePr>
        <p:xfrm>
          <a:off x="474350" y="2100125"/>
          <a:ext cx="3000000" cy="3000000"/>
        </p:xfrm>
        <a:graphic>
          <a:graphicData uri="http://schemas.openxmlformats.org/drawingml/2006/table">
            <a:tbl>
              <a:tblPr>
                <a:noFill/>
                <a:tableStyleId>{E7B27597-F740-405F-8D09-B14D3A350EA3}</a:tableStyleId>
              </a:tblPr>
              <a:tblGrid>
                <a:gridCol w="388250"/>
                <a:gridCol w="1476750"/>
                <a:gridCol w="756675"/>
              </a:tblGrid>
              <a:tr h="200025">
                <a:tc>
                  <a:txBody>
                    <a:bodyPr/>
                    <a:lstStyle/>
                    <a:p>
                      <a:pPr indent="0" lvl="0" marL="0" marR="0" rtl="0" algn="l">
                        <a:lnSpc>
                          <a:spcPct val="115000"/>
                        </a:lnSpc>
                        <a:spcBef>
                          <a:spcPts val="0"/>
                        </a:spcBef>
                        <a:spcAft>
                          <a:spcPts val="0"/>
                        </a:spcAft>
                        <a:buClr>
                          <a:srgbClr val="000000"/>
                        </a:buClr>
                        <a:buSzPts val="1000"/>
                        <a:buFont typeface="Arial"/>
                        <a:buNone/>
                      </a:pPr>
                      <a:r>
                        <a:rPr lang="de-CH" sz="1000" u="none" cap="none" strike="noStrike"/>
                        <a:t>L</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de-CH" sz="1000" u="none" cap="none" strike="noStrike"/>
                        <a:t>Lecture Hour</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de-CH" sz="1000" u="none" cap="none" strike="noStrike"/>
                        <a:t>102</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de-CH" sz="1000" u="none" cap="none" strike="noStrike"/>
                        <a:t>T</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de-CH" sz="1000" u="none" cap="none" strike="noStrike"/>
                        <a:t>Tutorial Hour</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de-CH" sz="1000" u="none" cap="none" strike="noStrike"/>
                        <a:t>3</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de-CH" sz="1000" u="none" cap="none" strike="noStrike"/>
                        <a:t>L</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de-CH" sz="1000" u="none" cap="none" strike="noStrike"/>
                        <a:t>Laboratory Hour</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de-CH" sz="1000" u="none" cap="none" strike="noStrike"/>
                        <a:t>76</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de-CH" sz="1000" u="none" cap="none" strike="noStrike"/>
                        <a:t>O</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de-CH" sz="1000" u="none" cap="none" strike="noStrike"/>
                        <a:t>Other Work (Self Study)</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de-CH" sz="1000" u="none" cap="none" strike="noStrike"/>
                        <a:t>231</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de-CH" sz="1000" u="none" cap="none" strike="noStrike"/>
                        <a:t>T</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de-CH" sz="1000" u="none" cap="none" strike="noStrike"/>
                        <a:t>Total Engagement in Hours</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de-CH" sz="1000" u="none" cap="none" strike="noStrike"/>
                        <a:t>410</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de-CH" sz="1000" u="none" cap="none" strike="noStrike"/>
                        <a:t>C</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de-CH" sz="1000" u="none" cap="none" strike="noStrike"/>
                        <a:t>Credit Assigned</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de-CH" sz="1000" u="none" cap="none" strike="noStrike"/>
                        <a:t>160</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pic>
        <p:nvPicPr>
          <p:cNvPr id="183" name="Google Shape;183;g28ea2419252_1_237" title="Chart"/>
          <p:cNvPicPr preferRelativeResize="0"/>
          <p:nvPr/>
        </p:nvPicPr>
        <p:blipFill rotWithShape="1">
          <a:blip r:embed="rId3">
            <a:alphaModFix/>
          </a:blip>
          <a:srcRect b="0" l="0" r="0" t="0"/>
          <a:stretch/>
        </p:blipFill>
        <p:spPr>
          <a:xfrm>
            <a:off x="3172225" y="1144575"/>
            <a:ext cx="5743173" cy="355119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28ea2419252_1_29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de-CH" sz="1750">
                <a:latin typeface="Times New Roman"/>
                <a:ea typeface="Times New Roman"/>
                <a:cs typeface="Times New Roman"/>
                <a:sym typeface="Times New Roman"/>
              </a:rPr>
              <a:t>A.4. </a:t>
            </a:r>
            <a:r>
              <a:rPr b="0" lang="de-CH" sz="1700">
                <a:solidFill>
                  <a:srgbClr val="000000"/>
                </a:solidFill>
                <a:latin typeface="Calibri"/>
                <a:ea typeface="Calibri"/>
                <a:cs typeface="Calibri"/>
                <a:sym typeface="Calibri"/>
              </a:rPr>
              <a:t>The curriculum encourages the learning from the MOOCs/NPTEL</a:t>
            </a:r>
            <a:endParaRPr sz="3000">
              <a:solidFill>
                <a:srgbClr val="FF0000"/>
              </a:solidFill>
            </a:endParaRPr>
          </a:p>
          <a:p>
            <a:pPr indent="0" lvl="0" marL="0" rtl="0" algn="l">
              <a:lnSpc>
                <a:spcPct val="100000"/>
              </a:lnSpc>
              <a:spcBef>
                <a:spcPts val="0"/>
              </a:spcBef>
              <a:spcAft>
                <a:spcPts val="0"/>
              </a:spcAft>
              <a:buSzPts val="990"/>
              <a:buNone/>
            </a:pPr>
            <a:r>
              <a:t/>
            </a:r>
            <a:endParaRPr sz="1750">
              <a:latin typeface="Times New Roman"/>
              <a:ea typeface="Times New Roman"/>
              <a:cs typeface="Times New Roman"/>
              <a:sym typeface="Times New Roman"/>
            </a:endParaRPr>
          </a:p>
          <a:p>
            <a:pPr indent="0" lvl="0" marL="0" rtl="0" algn="l">
              <a:lnSpc>
                <a:spcPct val="100000"/>
              </a:lnSpc>
              <a:spcBef>
                <a:spcPts val="0"/>
              </a:spcBef>
              <a:spcAft>
                <a:spcPts val="0"/>
              </a:spcAft>
              <a:buSzPts val="990"/>
              <a:buNone/>
            </a:pPr>
            <a:r>
              <a:t/>
            </a:r>
            <a:endParaRPr sz="3100"/>
          </a:p>
        </p:txBody>
      </p:sp>
      <p:sp>
        <p:nvSpPr>
          <p:cNvPr id="189" name="Google Shape;189;g28ea2419252_1_297"/>
          <p:cNvSpPr txBox="1"/>
          <p:nvPr>
            <p:ph idx="1" type="body"/>
          </p:nvPr>
        </p:nvSpPr>
        <p:spPr>
          <a:xfrm>
            <a:off x="311700" y="1610700"/>
            <a:ext cx="8520600" cy="2958300"/>
          </a:xfrm>
          <a:prstGeom prst="rect">
            <a:avLst/>
          </a:prstGeom>
          <a:noFill/>
          <a:ln>
            <a:noFill/>
          </a:ln>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de-CH"/>
              <a:t>MOOC and NPTEL courses are introduced as a part of Program Electives and HSSE courses.</a:t>
            </a:r>
            <a:endParaRPr/>
          </a:p>
          <a:p>
            <a:pPr indent="-342900" lvl="0" marL="457200" rtl="0" algn="l">
              <a:spcBef>
                <a:spcPts val="0"/>
              </a:spcBef>
              <a:spcAft>
                <a:spcPts val="0"/>
              </a:spcAft>
              <a:buSzPts val="1800"/>
              <a:buChar char="●"/>
            </a:pPr>
            <a:r>
              <a:rPr lang="de-CH"/>
              <a:t>MOOC courses are selected considering the requirements from the industry  and in track with Syllabus</a:t>
            </a:r>
            <a:endParaRPr/>
          </a:p>
          <a:p>
            <a:pPr indent="0" lvl="0" marL="457200" rtl="0" algn="l">
              <a:spcBef>
                <a:spcPts val="0"/>
              </a:spcBef>
              <a:spcAft>
                <a:spcPts val="0"/>
              </a:spcAft>
              <a:buSzPts val="1800"/>
              <a:buNone/>
            </a:pPr>
            <a:r>
              <a:t/>
            </a:r>
            <a:endParaRPr/>
          </a:p>
          <a:p>
            <a:pPr indent="0" lvl="0" marL="457200" rtl="0" algn="l">
              <a:spcBef>
                <a:spcPts val="0"/>
              </a:spcBef>
              <a:spcAft>
                <a:spcPts val="0"/>
              </a:spcAft>
              <a:buSzPts val="1800"/>
              <a:buNone/>
            </a:pPr>
            <a:r>
              <a:t/>
            </a:r>
            <a:endParaRPr/>
          </a:p>
          <a:p>
            <a:pPr indent="0" lvl="0" marL="457200" rtl="0" algn="l">
              <a:lnSpc>
                <a:spcPct val="115000"/>
              </a:lnSpc>
              <a:spcBef>
                <a:spcPts val="0"/>
              </a:spcBef>
              <a:spcAft>
                <a:spcPts val="0"/>
              </a:spcAft>
              <a:buSzPts val="18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28ea2419252_1_357"/>
          <p:cNvSpPr txBox="1"/>
          <p:nvPr>
            <p:ph type="title"/>
          </p:nvPr>
        </p:nvSpPr>
        <p:spPr>
          <a:xfrm>
            <a:off x="311700" y="309375"/>
            <a:ext cx="8520600" cy="75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de-CH" sz="1750">
                <a:latin typeface="Times New Roman"/>
                <a:ea typeface="Times New Roman"/>
                <a:cs typeface="Times New Roman"/>
                <a:sym typeface="Times New Roman"/>
              </a:rPr>
              <a:t>A.5. </a:t>
            </a:r>
            <a:r>
              <a:rPr b="0" lang="de-CH" sz="1700">
                <a:solidFill>
                  <a:srgbClr val="000000"/>
                </a:solidFill>
                <a:latin typeface="Calibri"/>
                <a:ea typeface="Calibri"/>
                <a:cs typeface="Calibri"/>
                <a:sym typeface="Calibri"/>
              </a:rPr>
              <a:t>Curriculum justifies the Program Outcomes and PSOs articulated</a:t>
            </a:r>
            <a:r>
              <a:rPr b="0" lang="de-CH" sz="1200">
                <a:solidFill>
                  <a:srgbClr val="000000"/>
                </a:solidFill>
                <a:latin typeface="Calibri"/>
                <a:ea typeface="Calibri"/>
                <a:cs typeface="Calibri"/>
                <a:sym typeface="Calibri"/>
              </a:rPr>
              <a:t> </a:t>
            </a:r>
            <a:r>
              <a:rPr lang="de-CH" sz="1750">
                <a:latin typeface="Times New Roman"/>
                <a:ea typeface="Times New Roman"/>
                <a:cs typeface="Times New Roman"/>
                <a:sym typeface="Times New Roman"/>
              </a:rPr>
              <a:t> </a:t>
            </a:r>
            <a:endParaRPr sz="3000">
              <a:solidFill>
                <a:srgbClr val="FF0000"/>
              </a:solidFill>
            </a:endParaRPr>
          </a:p>
          <a:p>
            <a:pPr indent="0" lvl="0" marL="0" rtl="0" algn="l">
              <a:lnSpc>
                <a:spcPct val="100000"/>
              </a:lnSpc>
              <a:spcBef>
                <a:spcPts val="0"/>
              </a:spcBef>
              <a:spcAft>
                <a:spcPts val="0"/>
              </a:spcAft>
              <a:buSzPts val="990"/>
              <a:buNone/>
            </a:pPr>
            <a:r>
              <a:rPr b="0" lang="de-CH" sz="1800">
                <a:solidFill>
                  <a:schemeClr val="dk2"/>
                </a:solidFill>
                <a:latin typeface="Times New Roman"/>
                <a:ea typeface="Times New Roman"/>
                <a:cs typeface="Times New Roman"/>
                <a:sym typeface="Times New Roman"/>
              </a:rPr>
              <a:t>Each course syllabus individually </a:t>
            </a:r>
            <a:r>
              <a:rPr b="0" lang="de-CH" sz="1800">
                <a:solidFill>
                  <a:schemeClr val="dk2"/>
                </a:solidFill>
                <a:latin typeface="Times New Roman"/>
                <a:ea typeface="Times New Roman"/>
                <a:cs typeface="Times New Roman"/>
                <a:sym typeface="Times New Roman"/>
              </a:rPr>
              <a:t>maps</a:t>
            </a:r>
            <a:r>
              <a:rPr b="0" lang="de-CH" sz="1800">
                <a:solidFill>
                  <a:schemeClr val="dk2"/>
                </a:solidFill>
                <a:latin typeface="Times New Roman"/>
                <a:ea typeface="Times New Roman"/>
                <a:cs typeface="Times New Roman"/>
                <a:sym typeface="Times New Roman"/>
              </a:rPr>
              <a:t> its course outcomes with PO</a:t>
            </a:r>
            <a:r>
              <a:rPr lang="de-CH" sz="3100"/>
              <a:t> </a:t>
            </a:r>
            <a:r>
              <a:rPr b="0" lang="de-CH" sz="1800">
                <a:solidFill>
                  <a:schemeClr val="dk2"/>
                </a:solidFill>
                <a:latin typeface="Times New Roman"/>
                <a:ea typeface="Times New Roman"/>
                <a:cs typeface="Times New Roman"/>
                <a:sym typeface="Times New Roman"/>
              </a:rPr>
              <a:t>and PSO. </a:t>
            </a:r>
            <a:endParaRPr sz="3100"/>
          </a:p>
          <a:p>
            <a:pPr indent="0" lvl="0" marL="0" rtl="0" algn="l">
              <a:lnSpc>
                <a:spcPct val="115000"/>
              </a:lnSpc>
              <a:spcBef>
                <a:spcPts val="0"/>
              </a:spcBef>
              <a:spcAft>
                <a:spcPts val="0"/>
              </a:spcAft>
              <a:buSzPts val="3600"/>
              <a:buNone/>
            </a:pPr>
            <a:r>
              <a:t/>
            </a:r>
            <a:endParaRPr b="0" sz="1000">
              <a:solidFill>
                <a:srgbClr val="000000"/>
              </a:solidFill>
              <a:latin typeface="Arial"/>
              <a:ea typeface="Arial"/>
              <a:cs typeface="Arial"/>
              <a:sym typeface="Arial"/>
            </a:endParaRPr>
          </a:p>
          <a:p>
            <a:pPr indent="0" lvl="0" marL="0" rtl="0" algn="l">
              <a:lnSpc>
                <a:spcPct val="100000"/>
              </a:lnSpc>
              <a:spcBef>
                <a:spcPts val="0"/>
              </a:spcBef>
              <a:spcAft>
                <a:spcPts val="0"/>
              </a:spcAft>
              <a:buSzPts val="990"/>
              <a:buNone/>
            </a:pPr>
            <a:r>
              <a:t/>
            </a:r>
            <a:endParaRPr sz="3100"/>
          </a:p>
        </p:txBody>
      </p:sp>
      <p:pic>
        <p:nvPicPr>
          <p:cNvPr id="195" name="Google Shape;195;g28ea2419252_1_357"/>
          <p:cNvPicPr preferRelativeResize="0"/>
          <p:nvPr/>
        </p:nvPicPr>
        <p:blipFill>
          <a:blip r:embed="rId3">
            <a:alphaModFix/>
          </a:blip>
          <a:stretch>
            <a:fillRect/>
          </a:stretch>
        </p:blipFill>
        <p:spPr>
          <a:xfrm>
            <a:off x="1987161" y="1229788"/>
            <a:ext cx="4692480" cy="37703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28ea2419252_1_41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de-CH" sz="1750">
                <a:latin typeface="Times New Roman"/>
                <a:ea typeface="Times New Roman"/>
                <a:cs typeface="Times New Roman"/>
                <a:sym typeface="Times New Roman"/>
              </a:rPr>
              <a:t>A.6. </a:t>
            </a:r>
            <a:r>
              <a:rPr b="0" lang="de-CH" sz="1700">
                <a:solidFill>
                  <a:srgbClr val="000000"/>
                </a:solidFill>
                <a:latin typeface="Calibri"/>
                <a:ea typeface="Calibri"/>
                <a:cs typeface="Calibri"/>
                <a:sym typeface="Calibri"/>
              </a:rPr>
              <a:t>Curriculum is well thought, innovative, suits the outcome-based education and has sufficient bandwidth as well as depth of domain.</a:t>
            </a:r>
            <a:r>
              <a:rPr lang="de-CH" sz="1700">
                <a:latin typeface="Times New Roman"/>
                <a:ea typeface="Times New Roman"/>
                <a:cs typeface="Times New Roman"/>
                <a:sym typeface="Times New Roman"/>
              </a:rPr>
              <a:t> </a:t>
            </a:r>
            <a:r>
              <a:rPr lang="de-CH" sz="1750">
                <a:latin typeface="Times New Roman"/>
                <a:ea typeface="Times New Roman"/>
                <a:cs typeface="Times New Roman"/>
                <a:sym typeface="Times New Roman"/>
              </a:rPr>
              <a:t> </a:t>
            </a:r>
            <a:endParaRPr sz="3000">
              <a:solidFill>
                <a:srgbClr val="FF0000"/>
              </a:solidFill>
            </a:endParaRPr>
          </a:p>
          <a:p>
            <a:pPr indent="0" lvl="0" marL="0" rtl="0" algn="l">
              <a:lnSpc>
                <a:spcPct val="100000"/>
              </a:lnSpc>
              <a:spcBef>
                <a:spcPts val="0"/>
              </a:spcBef>
              <a:spcAft>
                <a:spcPts val="0"/>
              </a:spcAft>
              <a:buSzPts val="990"/>
              <a:buNone/>
            </a:pPr>
            <a:r>
              <a:t/>
            </a:r>
            <a:endParaRPr sz="1750">
              <a:latin typeface="Times New Roman"/>
              <a:ea typeface="Times New Roman"/>
              <a:cs typeface="Times New Roman"/>
              <a:sym typeface="Times New Roman"/>
            </a:endParaRPr>
          </a:p>
          <a:p>
            <a:pPr indent="0" lvl="0" marL="0" rtl="0" algn="l">
              <a:lnSpc>
                <a:spcPct val="100000"/>
              </a:lnSpc>
              <a:spcBef>
                <a:spcPts val="0"/>
              </a:spcBef>
              <a:spcAft>
                <a:spcPts val="0"/>
              </a:spcAft>
              <a:buSzPts val="990"/>
              <a:buNone/>
            </a:pPr>
            <a:r>
              <a:t/>
            </a:r>
            <a:endParaRPr sz="3100"/>
          </a:p>
        </p:txBody>
      </p:sp>
      <p:sp>
        <p:nvSpPr>
          <p:cNvPr id="201" name="Google Shape;201;g28ea2419252_1_417"/>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t/>
            </a:r>
            <a:endParaRPr>
              <a:solidFill>
                <a:schemeClr val="dk2"/>
              </a:solidFill>
            </a:endParaRPr>
          </a:p>
          <a:p>
            <a:pPr indent="-342900" lvl="0" marL="457200" rtl="0" algn="l">
              <a:lnSpc>
                <a:spcPct val="115000"/>
              </a:lnSpc>
              <a:spcBef>
                <a:spcPts val="0"/>
              </a:spcBef>
              <a:spcAft>
                <a:spcPts val="0"/>
              </a:spcAft>
              <a:buSzPts val="1800"/>
              <a:buChar char="●"/>
            </a:pPr>
            <a:r>
              <a:rPr lang="de-CH"/>
              <a:t>The curriculum </a:t>
            </a:r>
            <a:r>
              <a:rPr lang="de-CH"/>
              <a:t>satisfy</a:t>
            </a:r>
            <a:r>
              <a:rPr lang="de-CH"/>
              <a:t> all the </a:t>
            </a:r>
            <a:r>
              <a:rPr lang="de-CH"/>
              <a:t>requirements</a:t>
            </a:r>
            <a:r>
              <a:rPr lang="de-CH"/>
              <a:t> of NEP.</a:t>
            </a:r>
            <a:endParaRPr/>
          </a:p>
          <a:p>
            <a:pPr indent="-342900" lvl="0" marL="457200" rtl="0" algn="l">
              <a:lnSpc>
                <a:spcPct val="115000"/>
              </a:lnSpc>
              <a:spcBef>
                <a:spcPts val="0"/>
              </a:spcBef>
              <a:spcAft>
                <a:spcPts val="0"/>
              </a:spcAft>
              <a:buSzPts val="1800"/>
              <a:buChar char="●"/>
            </a:pPr>
            <a:r>
              <a:rPr lang="de-CH"/>
              <a:t>It is </a:t>
            </a:r>
            <a:r>
              <a:rPr lang="de-CH"/>
              <a:t>designed</a:t>
            </a:r>
            <a:r>
              <a:rPr lang="de-CH"/>
              <a:t> on the basis of outcome based education framework.</a:t>
            </a:r>
            <a:endParaRPr/>
          </a:p>
          <a:p>
            <a:pPr indent="-342900" lvl="0" marL="457200" rtl="0" algn="l">
              <a:lnSpc>
                <a:spcPct val="115000"/>
              </a:lnSpc>
              <a:spcBef>
                <a:spcPts val="0"/>
              </a:spcBef>
              <a:spcAft>
                <a:spcPts val="0"/>
              </a:spcAft>
              <a:buSzPts val="1800"/>
              <a:buChar char="●"/>
            </a:pPr>
            <a:r>
              <a:rPr lang="de-CH"/>
              <a:t>It includes novel ideas such as research internship, MDM, Industry </a:t>
            </a:r>
            <a:r>
              <a:rPr lang="de-CH"/>
              <a:t>internship</a:t>
            </a:r>
            <a:r>
              <a:rPr lang="de-CH"/>
              <a:t> and </a:t>
            </a:r>
            <a:r>
              <a:rPr lang="de-CH"/>
              <a:t>research</a:t>
            </a:r>
            <a:r>
              <a:rPr lang="de-CH"/>
              <a:t> with honours. </a:t>
            </a:r>
            <a:endParaRPr>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28ea2419252_1_66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600"/>
              <a:buNone/>
            </a:pPr>
            <a:r>
              <a:rPr lang="de-CH" sz="2840"/>
              <a:t>B	TEACHING-LEARNING PROCESS</a:t>
            </a:r>
            <a:endParaRPr sz="2840"/>
          </a:p>
        </p:txBody>
      </p:sp>
      <p:sp>
        <p:nvSpPr>
          <p:cNvPr id="207" name="Google Shape;207;g28ea2419252_1_662"/>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fontScale="62500" lnSpcReduction="20000"/>
          </a:bodyPr>
          <a:lstStyle/>
          <a:p>
            <a:pPr indent="0" lvl="0" marL="0" rtl="0" algn="l">
              <a:lnSpc>
                <a:spcPct val="100000"/>
              </a:lnSpc>
              <a:spcBef>
                <a:spcPts val="400"/>
              </a:spcBef>
              <a:spcAft>
                <a:spcPts val="0"/>
              </a:spcAft>
              <a:buSzPct val="128571"/>
              <a:buNone/>
            </a:pPr>
            <a:r>
              <a:t/>
            </a:r>
            <a:endParaRPr b="1" sz="1400">
              <a:latin typeface="Times New Roman"/>
              <a:ea typeface="Times New Roman"/>
              <a:cs typeface="Times New Roman"/>
              <a:sym typeface="Times New Roman"/>
            </a:endParaRPr>
          </a:p>
          <a:p>
            <a:pPr indent="0" lvl="0" marL="0" rtl="0" algn="l">
              <a:lnSpc>
                <a:spcPct val="115000"/>
              </a:lnSpc>
              <a:spcBef>
                <a:spcPts val="0"/>
              </a:spcBef>
              <a:spcAft>
                <a:spcPts val="0"/>
              </a:spcAft>
              <a:buSzPct val="61643"/>
              <a:buNone/>
            </a:pPr>
            <a:r>
              <a:rPr lang="de-CH" sz="2920">
                <a:latin typeface="Times New Roman"/>
                <a:ea typeface="Times New Roman"/>
                <a:cs typeface="Times New Roman"/>
                <a:sym typeface="Times New Roman"/>
              </a:rPr>
              <a:t>This includes various process such as </a:t>
            </a:r>
            <a:endParaRPr sz="2920">
              <a:latin typeface="Times New Roman"/>
              <a:ea typeface="Times New Roman"/>
              <a:cs typeface="Times New Roman"/>
              <a:sym typeface="Times New Roman"/>
            </a:endParaRPr>
          </a:p>
          <a:p>
            <a:pPr indent="-331656" lvl="0" marL="457200" rtl="0" algn="l">
              <a:lnSpc>
                <a:spcPct val="115000"/>
              </a:lnSpc>
              <a:spcBef>
                <a:spcPts val="1200"/>
              </a:spcBef>
              <a:spcAft>
                <a:spcPts val="0"/>
              </a:spcAft>
              <a:buClr>
                <a:srgbClr val="000000"/>
              </a:buClr>
              <a:buSzPct val="100000"/>
              <a:buFont typeface="Times New Roman"/>
              <a:buChar char="●"/>
            </a:pPr>
            <a:r>
              <a:rPr lang="de-CH" sz="2595">
                <a:solidFill>
                  <a:srgbClr val="000000"/>
                </a:solidFill>
                <a:latin typeface="Times New Roman"/>
                <a:ea typeface="Times New Roman"/>
                <a:cs typeface="Times New Roman"/>
                <a:sym typeface="Times New Roman"/>
              </a:rPr>
              <a:t>Process to improve instruction methods</a:t>
            </a:r>
            <a:endParaRPr sz="2595">
              <a:solidFill>
                <a:srgbClr val="000000"/>
              </a:solidFill>
              <a:latin typeface="Times New Roman"/>
              <a:ea typeface="Times New Roman"/>
              <a:cs typeface="Times New Roman"/>
              <a:sym typeface="Times New Roman"/>
            </a:endParaRPr>
          </a:p>
          <a:p>
            <a:pPr indent="-331656" lvl="0" marL="457200" rtl="0" algn="l">
              <a:lnSpc>
                <a:spcPct val="115000"/>
              </a:lnSpc>
              <a:spcBef>
                <a:spcPts val="0"/>
              </a:spcBef>
              <a:spcAft>
                <a:spcPts val="0"/>
              </a:spcAft>
              <a:buClr>
                <a:srgbClr val="000000"/>
              </a:buClr>
              <a:buSzPct val="100000"/>
              <a:buFont typeface="Times New Roman"/>
              <a:buChar char="●"/>
            </a:pPr>
            <a:r>
              <a:rPr lang="de-CH" sz="2595">
                <a:solidFill>
                  <a:srgbClr val="000000"/>
                </a:solidFill>
                <a:latin typeface="Times New Roman"/>
                <a:ea typeface="Times New Roman"/>
                <a:cs typeface="Times New Roman"/>
                <a:sym typeface="Times New Roman"/>
              </a:rPr>
              <a:t>Process for collaborative learning</a:t>
            </a:r>
            <a:endParaRPr sz="2595">
              <a:solidFill>
                <a:srgbClr val="000000"/>
              </a:solidFill>
              <a:latin typeface="Times New Roman"/>
              <a:ea typeface="Times New Roman"/>
              <a:cs typeface="Times New Roman"/>
              <a:sym typeface="Times New Roman"/>
            </a:endParaRPr>
          </a:p>
          <a:p>
            <a:pPr indent="-331656" lvl="0" marL="457200" rtl="0" algn="l">
              <a:lnSpc>
                <a:spcPct val="115000"/>
              </a:lnSpc>
              <a:spcBef>
                <a:spcPts val="0"/>
              </a:spcBef>
              <a:spcAft>
                <a:spcPts val="0"/>
              </a:spcAft>
              <a:buClr>
                <a:srgbClr val="000000"/>
              </a:buClr>
              <a:buSzPct val="100000"/>
              <a:buFont typeface="Times New Roman"/>
              <a:buChar char="●"/>
            </a:pPr>
            <a:r>
              <a:rPr lang="de-CH" sz="2595">
                <a:solidFill>
                  <a:srgbClr val="000000"/>
                </a:solidFill>
                <a:latin typeface="Times New Roman"/>
                <a:ea typeface="Times New Roman"/>
                <a:cs typeface="Times New Roman"/>
                <a:sym typeface="Times New Roman"/>
              </a:rPr>
              <a:t>Process for improving quality of laboratory experience</a:t>
            </a:r>
            <a:endParaRPr sz="2595">
              <a:solidFill>
                <a:srgbClr val="000000"/>
              </a:solidFill>
              <a:latin typeface="Times New Roman"/>
              <a:ea typeface="Times New Roman"/>
              <a:cs typeface="Times New Roman"/>
              <a:sym typeface="Times New Roman"/>
            </a:endParaRPr>
          </a:p>
          <a:p>
            <a:pPr indent="-331656" lvl="0" marL="457200" rtl="0" algn="l">
              <a:lnSpc>
                <a:spcPct val="115000"/>
              </a:lnSpc>
              <a:spcBef>
                <a:spcPts val="0"/>
              </a:spcBef>
              <a:spcAft>
                <a:spcPts val="0"/>
              </a:spcAft>
              <a:buClr>
                <a:srgbClr val="000000"/>
              </a:buClr>
              <a:buSzPct val="100000"/>
              <a:buFont typeface="Times New Roman"/>
              <a:buChar char="●"/>
            </a:pPr>
            <a:r>
              <a:rPr lang="de-CH" sz="2595">
                <a:solidFill>
                  <a:srgbClr val="000000"/>
                </a:solidFill>
                <a:latin typeface="Times New Roman"/>
                <a:ea typeface="Times New Roman"/>
                <a:cs typeface="Times New Roman"/>
                <a:sym typeface="Times New Roman"/>
              </a:rPr>
              <a:t>Process for encouraging bright students</a:t>
            </a:r>
            <a:endParaRPr sz="2595">
              <a:solidFill>
                <a:srgbClr val="000000"/>
              </a:solidFill>
              <a:latin typeface="Times New Roman"/>
              <a:ea typeface="Times New Roman"/>
              <a:cs typeface="Times New Roman"/>
              <a:sym typeface="Times New Roman"/>
            </a:endParaRPr>
          </a:p>
          <a:p>
            <a:pPr indent="-331656" lvl="0" marL="457200" rtl="0" algn="l">
              <a:lnSpc>
                <a:spcPct val="115000"/>
              </a:lnSpc>
              <a:spcBef>
                <a:spcPts val="0"/>
              </a:spcBef>
              <a:spcAft>
                <a:spcPts val="0"/>
              </a:spcAft>
              <a:buClr>
                <a:srgbClr val="000000"/>
              </a:buClr>
              <a:buSzPct val="100000"/>
              <a:buFont typeface="Times New Roman"/>
              <a:buChar char="●"/>
            </a:pPr>
            <a:r>
              <a:rPr lang="de-CH" sz="2595">
                <a:solidFill>
                  <a:srgbClr val="000000"/>
                </a:solidFill>
                <a:latin typeface="Times New Roman"/>
                <a:ea typeface="Times New Roman"/>
                <a:cs typeface="Times New Roman"/>
                <a:sym typeface="Times New Roman"/>
              </a:rPr>
              <a:t>Process for assisting weak students</a:t>
            </a:r>
            <a:endParaRPr sz="2595">
              <a:solidFill>
                <a:srgbClr val="000000"/>
              </a:solidFill>
              <a:latin typeface="Times New Roman"/>
              <a:ea typeface="Times New Roman"/>
              <a:cs typeface="Times New Roman"/>
              <a:sym typeface="Times New Roman"/>
            </a:endParaRPr>
          </a:p>
          <a:p>
            <a:pPr indent="-331656" lvl="0" marL="457200" rtl="0" algn="l">
              <a:lnSpc>
                <a:spcPct val="115000"/>
              </a:lnSpc>
              <a:spcBef>
                <a:spcPts val="0"/>
              </a:spcBef>
              <a:spcAft>
                <a:spcPts val="0"/>
              </a:spcAft>
              <a:buClr>
                <a:srgbClr val="000000"/>
              </a:buClr>
              <a:buSzPct val="100000"/>
              <a:buFont typeface="Times New Roman"/>
              <a:buChar char="●"/>
            </a:pPr>
            <a:r>
              <a:rPr lang="de-CH" sz="2595">
                <a:solidFill>
                  <a:srgbClr val="000000"/>
                </a:solidFill>
                <a:latin typeface="Times New Roman"/>
                <a:ea typeface="Times New Roman"/>
                <a:cs typeface="Times New Roman"/>
                <a:sym typeface="Times New Roman"/>
              </a:rPr>
              <a:t>Initiatives to improve quality of internal assessment </a:t>
            </a:r>
            <a:endParaRPr sz="2595">
              <a:solidFill>
                <a:srgbClr val="000000"/>
              </a:solidFill>
              <a:latin typeface="Times New Roman"/>
              <a:ea typeface="Times New Roman"/>
              <a:cs typeface="Times New Roman"/>
              <a:sym typeface="Times New Roman"/>
            </a:endParaRPr>
          </a:p>
          <a:p>
            <a:pPr indent="-331656" lvl="0" marL="457200" rtl="0" algn="l">
              <a:lnSpc>
                <a:spcPct val="115000"/>
              </a:lnSpc>
              <a:spcBef>
                <a:spcPts val="0"/>
              </a:spcBef>
              <a:spcAft>
                <a:spcPts val="0"/>
              </a:spcAft>
              <a:buClr>
                <a:srgbClr val="000000"/>
              </a:buClr>
              <a:buSzPct val="100000"/>
              <a:buFont typeface="Times New Roman"/>
              <a:buChar char="●"/>
            </a:pPr>
            <a:r>
              <a:rPr lang="de-CH" sz="2595">
                <a:solidFill>
                  <a:srgbClr val="000000"/>
                </a:solidFill>
                <a:latin typeface="Times New Roman"/>
                <a:ea typeface="Times New Roman"/>
                <a:cs typeface="Times New Roman"/>
                <a:sym typeface="Times New Roman"/>
              </a:rPr>
              <a:t>Process to improve quality of Mid/End Semester Question Papers</a:t>
            </a:r>
            <a:endParaRPr sz="2595">
              <a:solidFill>
                <a:srgbClr val="000000"/>
              </a:solidFill>
              <a:latin typeface="Times New Roman"/>
              <a:ea typeface="Times New Roman"/>
              <a:cs typeface="Times New Roman"/>
              <a:sym typeface="Times New Roman"/>
            </a:endParaRPr>
          </a:p>
          <a:p>
            <a:pPr indent="-331656" lvl="0" marL="457200" rtl="0" algn="l">
              <a:lnSpc>
                <a:spcPct val="115000"/>
              </a:lnSpc>
              <a:spcBef>
                <a:spcPts val="0"/>
              </a:spcBef>
              <a:spcAft>
                <a:spcPts val="0"/>
              </a:spcAft>
              <a:buClr>
                <a:srgbClr val="000000"/>
              </a:buClr>
              <a:buSzPct val="100000"/>
              <a:buFont typeface="Times New Roman"/>
              <a:buChar char="●"/>
            </a:pPr>
            <a:r>
              <a:rPr lang="de-CH" sz="2595">
                <a:solidFill>
                  <a:srgbClr val="000000"/>
                </a:solidFill>
                <a:latin typeface="Times New Roman"/>
                <a:ea typeface="Times New Roman"/>
                <a:cs typeface="Times New Roman"/>
                <a:sym typeface="Times New Roman"/>
              </a:rPr>
              <a:t>Process to improve quality of assignments</a:t>
            </a:r>
            <a:endParaRPr sz="2595">
              <a:solidFill>
                <a:srgbClr val="000000"/>
              </a:solidFill>
              <a:latin typeface="Times New Roman"/>
              <a:ea typeface="Times New Roman"/>
              <a:cs typeface="Times New Roman"/>
              <a:sym typeface="Times New Roman"/>
            </a:endParaRPr>
          </a:p>
          <a:p>
            <a:pPr indent="-331656" lvl="0" marL="457200" rtl="0" algn="l">
              <a:lnSpc>
                <a:spcPct val="115000"/>
              </a:lnSpc>
              <a:spcBef>
                <a:spcPts val="0"/>
              </a:spcBef>
              <a:spcAft>
                <a:spcPts val="0"/>
              </a:spcAft>
              <a:buClr>
                <a:srgbClr val="000000"/>
              </a:buClr>
              <a:buSzPct val="100000"/>
              <a:buFont typeface="Times New Roman"/>
              <a:buChar char="●"/>
            </a:pPr>
            <a:r>
              <a:rPr lang="de-CH" sz="2595">
                <a:solidFill>
                  <a:srgbClr val="000000"/>
                </a:solidFill>
                <a:latin typeface="Times New Roman"/>
                <a:ea typeface="Times New Roman"/>
                <a:cs typeface="Times New Roman"/>
                <a:sym typeface="Times New Roman"/>
              </a:rPr>
              <a:t>Process to improve the evaluation</a:t>
            </a:r>
            <a:endParaRPr sz="2595">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ct val="150000"/>
              <a:buNone/>
            </a:pPr>
            <a:r>
              <a:t/>
            </a:r>
            <a:endParaRPr sz="12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ct val="150000"/>
              <a:buNone/>
            </a:pPr>
            <a:r>
              <a:t/>
            </a:r>
            <a:endParaRPr sz="1200">
              <a:solidFill>
                <a:srgbClr val="000000"/>
              </a:solidFill>
              <a:latin typeface="Times New Roman"/>
              <a:ea typeface="Times New Roman"/>
              <a:cs typeface="Times New Roman"/>
              <a:sym typeface="Times New Roman"/>
            </a:endParaRPr>
          </a:p>
          <a:p>
            <a:pPr indent="0" lvl="0" marL="0" rtl="0" algn="l">
              <a:lnSpc>
                <a:spcPct val="115000"/>
              </a:lnSpc>
              <a:spcBef>
                <a:spcPts val="0"/>
              </a:spcBef>
              <a:spcAft>
                <a:spcPts val="0"/>
              </a:spcAft>
              <a:buSzPct val="150000"/>
              <a:buNone/>
            </a:pPr>
            <a:r>
              <a:t/>
            </a:r>
            <a:endParaRPr sz="1200">
              <a:solidFill>
                <a:srgbClr val="000000"/>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28ea2419252_1_667"/>
          <p:cNvSpPr txBox="1"/>
          <p:nvPr>
            <p:ph type="title"/>
          </p:nvPr>
        </p:nvSpPr>
        <p:spPr>
          <a:xfrm>
            <a:off x="311700" y="272675"/>
            <a:ext cx="8520600" cy="795900"/>
          </a:xfrm>
          <a:prstGeom prst="rect">
            <a:avLst/>
          </a:prstGeom>
          <a:noFill/>
          <a:ln>
            <a:noFill/>
          </a:ln>
        </p:spPr>
        <p:txBody>
          <a:bodyPr anchorCtr="0" anchor="t" bIns="91425" lIns="91425" spcFirstLastPara="1" rIns="91425" wrap="square" tIns="91425">
            <a:noAutofit/>
          </a:bodyPr>
          <a:lstStyle/>
          <a:p>
            <a:pPr indent="-228600" lvl="0" marL="292100" rtl="0" algn="just">
              <a:lnSpc>
                <a:spcPct val="100000"/>
              </a:lnSpc>
              <a:spcBef>
                <a:spcPts val="0"/>
              </a:spcBef>
              <a:spcAft>
                <a:spcPts val="0"/>
              </a:spcAft>
              <a:buSzPts val="3600"/>
              <a:buNone/>
            </a:pPr>
            <a:r>
              <a:rPr lang="de-CH" sz="1350">
                <a:solidFill>
                  <a:srgbClr val="000000"/>
                </a:solidFill>
                <a:latin typeface="Times New Roman"/>
                <a:ea typeface="Times New Roman"/>
                <a:cs typeface="Times New Roman"/>
                <a:sym typeface="Times New Roman"/>
              </a:rPr>
              <a:t>B.1. </a:t>
            </a:r>
            <a:r>
              <a:rPr lang="de-CH" sz="1400">
                <a:solidFill>
                  <a:srgbClr val="000000"/>
                </a:solidFill>
                <a:latin typeface="Times New Roman"/>
                <a:ea typeface="Times New Roman"/>
                <a:cs typeface="Times New Roman"/>
                <a:sym typeface="Times New Roman"/>
              </a:rPr>
              <a:t> </a:t>
            </a:r>
            <a:r>
              <a:rPr b="0" lang="de-CH" sz="1400">
                <a:solidFill>
                  <a:srgbClr val="000000"/>
                </a:solidFill>
                <a:latin typeface="Calibri"/>
                <a:ea typeface="Calibri"/>
                <a:cs typeface="Calibri"/>
                <a:sym typeface="Calibri"/>
              </a:rPr>
              <a:t>Department makes sincere attempts to collaborate for the design and delivery of the teaching and learning processes of the program, tries to follow best practices of higher institutions, and optimizes available resources, in pursuit of the excellence.  </a:t>
            </a:r>
            <a:r>
              <a:rPr b="0" lang="de-CH" sz="100">
                <a:solidFill>
                  <a:srgbClr val="000000"/>
                </a:solidFill>
                <a:latin typeface="Calibri"/>
                <a:ea typeface="Calibri"/>
                <a:cs typeface="Calibri"/>
                <a:sym typeface="Calibri"/>
              </a:rPr>
              <a:t> </a:t>
            </a:r>
            <a:r>
              <a:rPr lang="de-CH" sz="1200">
                <a:solidFill>
                  <a:srgbClr val="FF0000"/>
                </a:solidFill>
                <a:latin typeface="Calibri"/>
                <a:ea typeface="Calibri"/>
                <a:cs typeface="Calibri"/>
                <a:sym typeface="Calibri"/>
              </a:rPr>
              <a:t>GG</a:t>
            </a:r>
            <a:endParaRPr sz="1200">
              <a:solidFill>
                <a:srgbClr val="FF0000"/>
              </a:solidFill>
              <a:latin typeface="Times New Roman"/>
              <a:ea typeface="Times New Roman"/>
              <a:cs typeface="Times New Roman"/>
              <a:sym typeface="Times New Roman"/>
            </a:endParaRPr>
          </a:p>
        </p:txBody>
      </p:sp>
      <p:sp>
        <p:nvSpPr>
          <p:cNvPr id="213" name="Google Shape;213;g28ea2419252_1_667"/>
          <p:cNvSpPr txBox="1"/>
          <p:nvPr>
            <p:ph idx="1" type="body"/>
          </p:nvPr>
        </p:nvSpPr>
        <p:spPr>
          <a:xfrm>
            <a:off x="150250" y="1137125"/>
            <a:ext cx="4945800" cy="3874800"/>
          </a:xfrm>
          <a:prstGeom prst="rect">
            <a:avLst/>
          </a:prstGeom>
          <a:noFill/>
          <a:ln>
            <a:noFill/>
          </a:ln>
        </p:spPr>
        <p:txBody>
          <a:bodyPr anchorCtr="0" anchor="t" bIns="91425" lIns="91425" spcFirstLastPara="1" rIns="91425" wrap="square" tIns="91425">
            <a:normAutofit fontScale="92500" lnSpcReduction="20000"/>
          </a:bodyPr>
          <a:lstStyle/>
          <a:p>
            <a:pPr indent="-304959" lvl="0" marL="457200" rtl="0" algn="just">
              <a:lnSpc>
                <a:spcPct val="115000"/>
              </a:lnSpc>
              <a:spcBef>
                <a:spcPts val="0"/>
              </a:spcBef>
              <a:spcAft>
                <a:spcPts val="0"/>
              </a:spcAft>
              <a:buSzPct val="100000"/>
              <a:buFont typeface="Calibri"/>
              <a:buChar char="●"/>
            </a:pPr>
            <a:r>
              <a:rPr lang="de-CH" sz="1300">
                <a:latin typeface="Calibri"/>
                <a:ea typeface="Calibri"/>
                <a:cs typeface="Calibri"/>
                <a:sym typeface="Calibri"/>
              </a:rPr>
              <a:t>Students are provided digital content for the subjects on moodle </a:t>
            </a:r>
            <a:r>
              <a:rPr lang="de-CH" sz="1300" u="sng">
                <a:solidFill>
                  <a:schemeClr val="hlink"/>
                </a:solidFill>
                <a:latin typeface="Calibri"/>
                <a:ea typeface="Calibri"/>
                <a:cs typeface="Calibri"/>
                <a:sym typeface="Calibri"/>
                <a:hlinkClick r:id="rId3"/>
              </a:rPr>
              <a:t>LMS</a:t>
            </a:r>
            <a:r>
              <a:rPr lang="de-CH" sz="1300">
                <a:latin typeface="Calibri"/>
                <a:ea typeface="Calibri"/>
                <a:cs typeface="Calibri"/>
                <a:sym typeface="Calibri"/>
              </a:rPr>
              <a:t>.</a:t>
            </a:r>
            <a:endParaRPr sz="1300">
              <a:latin typeface="Calibri"/>
              <a:ea typeface="Calibri"/>
              <a:cs typeface="Calibri"/>
              <a:sym typeface="Calibri"/>
            </a:endParaRPr>
          </a:p>
          <a:p>
            <a:pPr indent="-304959" lvl="0" marL="457200" rtl="0" algn="just">
              <a:lnSpc>
                <a:spcPct val="115000"/>
              </a:lnSpc>
              <a:spcBef>
                <a:spcPts val="0"/>
              </a:spcBef>
              <a:spcAft>
                <a:spcPts val="0"/>
              </a:spcAft>
              <a:buSzPct val="100000"/>
              <a:buFont typeface="Calibri"/>
              <a:buChar char="●"/>
            </a:pPr>
            <a:r>
              <a:rPr lang="de-CH" sz="1300">
                <a:latin typeface="Calibri"/>
                <a:ea typeface="Calibri"/>
                <a:cs typeface="Calibri"/>
                <a:sym typeface="Calibri"/>
              </a:rPr>
              <a:t>Evaluation of students is done using elaborate </a:t>
            </a:r>
            <a:r>
              <a:rPr lang="de-CH" sz="1300" u="sng">
                <a:solidFill>
                  <a:schemeClr val="hlink"/>
                </a:solidFill>
                <a:latin typeface="Calibri"/>
                <a:ea typeface="Calibri"/>
                <a:cs typeface="Calibri"/>
                <a:sym typeface="Calibri"/>
                <a:hlinkClick r:id="rId4"/>
              </a:rPr>
              <a:t>rubrics</a:t>
            </a:r>
            <a:r>
              <a:rPr lang="de-CH" sz="1300">
                <a:latin typeface="Calibri"/>
                <a:ea typeface="Calibri"/>
                <a:cs typeface="Calibri"/>
                <a:sym typeface="Calibri"/>
              </a:rPr>
              <a:t> that are used in the laboratory for a thorough evaluation.. </a:t>
            </a:r>
            <a:endParaRPr sz="1300">
              <a:latin typeface="Calibri"/>
              <a:ea typeface="Calibri"/>
              <a:cs typeface="Calibri"/>
              <a:sym typeface="Calibri"/>
            </a:endParaRPr>
          </a:p>
          <a:p>
            <a:pPr indent="-304959" lvl="0" marL="457200" rtl="0" algn="just">
              <a:lnSpc>
                <a:spcPct val="115000"/>
              </a:lnSpc>
              <a:spcBef>
                <a:spcPts val="0"/>
              </a:spcBef>
              <a:spcAft>
                <a:spcPts val="0"/>
              </a:spcAft>
              <a:buSzPct val="100000"/>
              <a:buFont typeface="Calibri"/>
              <a:buChar char="●"/>
            </a:pPr>
            <a:r>
              <a:rPr lang="de-CH" sz="1300">
                <a:latin typeface="Calibri"/>
                <a:ea typeface="Calibri"/>
                <a:cs typeface="Calibri"/>
                <a:sym typeface="Calibri"/>
              </a:rPr>
              <a:t>Industry provided skill enhancement programs for </a:t>
            </a:r>
            <a:r>
              <a:rPr lang="de-CH" sz="1300">
                <a:latin typeface="Calibri"/>
                <a:ea typeface="Calibri"/>
                <a:cs typeface="Calibri"/>
                <a:sym typeface="Calibri"/>
              </a:rPr>
              <a:t>students</a:t>
            </a:r>
            <a:r>
              <a:rPr lang="de-CH" sz="1300">
                <a:latin typeface="Calibri"/>
                <a:ea typeface="Calibri"/>
                <a:cs typeface="Calibri"/>
                <a:sym typeface="Calibri"/>
              </a:rPr>
              <a:t>  from NVIDIA DLI for AI/ML domain.</a:t>
            </a:r>
            <a:endParaRPr sz="1300">
              <a:latin typeface="Calibri"/>
              <a:ea typeface="Calibri"/>
              <a:cs typeface="Calibri"/>
              <a:sym typeface="Calibri"/>
            </a:endParaRPr>
          </a:p>
          <a:p>
            <a:pPr indent="-304959" lvl="0" marL="457200" rtl="0" algn="just">
              <a:lnSpc>
                <a:spcPct val="115000"/>
              </a:lnSpc>
              <a:spcBef>
                <a:spcPts val="0"/>
              </a:spcBef>
              <a:spcAft>
                <a:spcPts val="0"/>
              </a:spcAft>
              <a:buSzPct val="100000"/>
              <a:buFont typeface="Calibri"/>
              <a:buChar char="●"/>
            </a:pPr>
            <a:r>
              <a:rPr lang="de-CH" sz="1300">
                <a:latin typeface="Calibri"/>
                <a:ea typeface="Calibri"/>
                <a:cs typeface="Calibri"/>
                <a:sym typeface="Calibri"/>
              </a:rPr>
              <a:t>Cross domain Skill enhancement programs for students during summer break under the aegis of ‘</a:t>
            </a:r>
            <a:r>
              <a:rPr lang="de-CH" sz="1300" u="sng">
                <a:solidFill>
                  <a:schemeClr val="hlink"/>
                </a:solidFill>
                <a:latin typeface="Calibri"/>
                <a:ea typeface="Calibri"/>
                <a:cs typeface="Calibri"/>
                <a:sym typeface="Calibri"/>
                <a:hlinkClick r:id="rId5"/>
              </a:rPr>
              <a:t>Beyond the Degree</a:t>
            </a:r>
            <a:r>
              <a:rPr lang="de-CH" sz="1300">
                <a:latin typeface="Calibri"/>
                <a:ea typeface="Calibri"/>
                <a:cs typeface="Calibri"/>
                <a:sym typeface="Calibri"/>
              </a:rPr>
              <a:t>’.</a:t>
            </a:r>
            <a:endParaRPr sz="1300">
              <a:latin typeface="Calibri"/>
              <a:ea typeface="Calibri"/>
              <a:cs typeface="Calibri"/>
              <a:sym typeface="Calibri"/>
            </a:endParaRPr>
          </a:p>
          <a:p>
            <a:pPr indent="-304959" lvl="0" marL="457200" rtl="0" algn="just">
              <a:lnSpc>
                <a:spcPct val="115000"/>
              </a:lnSpc>
              <a:spcBef>
                <a:spcPts val="0"/>
              </a:spcBef>
              <a:spcAft>
                <a:spcPts val="0"/>
              </a:spcAft>
              <a:buSzPct val="100000"/>
              <a:buFont typeface="Calibri"/>
              <a:buChar char="●"/>
            </a:pPr>
            <a:r>
              <a:rPr lang="de-CH" sz="1300" u="sng">
                <a:solidFill>
                  <a:schemeClr val="hlink"/>
                </a:solidFill>
                <a:latin typeface="Calibri"/>
                <a:ea typeface="Calibri"/>
                <a:cs typeface="Calibri"/>
                <a:sym typeface="Calibri"/>
                <a:hlinkClick r:id="rId6"/>
              </a:rPr>
              <a:t>MoU</a:t>
            </a:r>
            <a:r>
              <a:rPr lang="de-CH" sz="1300">
                <a:latin typeface="Calibri"/>
                <a:ea typeface="Calibri"/>
                <a:cs typeface="Calibri"/>
                <a:sym typeface="Calibri"/>
              </a:rPr>
              <a:t> with Linux Professional Institute , Canada to provide curriculum for Cloud, Linux administration, DevOps and also preparing students for industry certifications.</a:t>
            </a:r>
            <a:endParaRPr sz="1300">
              <a:latin typeface="Calibri"/>
              <a:ea typeface="Calibri"/>
              <a:cs typeface="Calibri"/>
              <a:sym typeface="Calibri"/>
            </a:endParaRPr>
          </a:p>
          <a:p>
            <a:pPr indent="-304959" lvl="0" marL="457200" rtl="0" algn="just">
              <a:lnSpc>
                <a:spcPct val="115000"/>
              </a:lnSpc>
              <a:spcBef>
                <a:spcPts val="0"/>
              </a:spcBef>
              <a:spcAft>
                <a:spcPts val="0"/>
              </a:spcAft>
              <a:buSzPct val="100000"/>
              <a:buFont typeface="Calibri"/>
              <a:buChar char="●"/>
            </a:pPr>
            <a:r>
              <a:rPr lang="de-CH" sz="1300">
                <a:latin typeface="Calibri"/>
                <a:ea typeface="Calibri"/>
                <a:cs typeface="Calibri"/>
                <a:sym typeface="Calibri"/>
              </a:rPr>
              <a:t>24hr. hackathon like </a:t>
            </a:r>
            <a:r>
              <a:rPr lang="de-CH" sz="1300" u="sng">
                <a:solidFill>
                  <a:schemeClr val="hlink"/>
                </a:solidFill>
                <a:latin typeface="Calibri"/>
                <a:ea typeface="Calibri"/>
                <a:cs typeface="Calibri"/>
                <a:sym typeface="Calibri"/>
                <a:hlinkClick r:id="rId7"/>
              </a:rPr>
              <a:t>AIRAVAT</a:t>
            </a:r>
            <a:r>
              <a:rPr lang="de-CH" sz="1300">
                <a:latin typeface="Calibri"/>
                <a:ea typeface="Calibri"/>
                <a:cs typeface="Calibri"/>
                <a:sym typeface="Calibri"/>
              </a:rPr>
              <a:t> is organised for the students.</a:t>
            </a:r>
            <a:endParaRPr sz="1300">
              <a:latin typeface="Calibri"/>
              <a:ea typeface="Calibri"/>
              <a:cs typeface="Calibri"/>
              <a:sym typeface="Calibri"/>
            </a:endParaRPr>
          </a:p>
          <a:p>
            <a:pPr indent="-304959" lvl="0" marL="457200" rtl="0" algn="just">
              <a:lnSpc>
                <a:spcPct val="115000"/>
              </a:lnSpc>
              <a:spcBef>
                <a:spcPts val="0"/>
              </a:spcBef>
              <a:spcAft>
                <a:spcPts val="0"/>
              </a:spcAft>
              <a:buSzPct val="100000"/>
              <a:buFont typeface="Calibri"/>
              <a:buChar char="●"/>
            </a:pPr>
            <a:r>
              <a:rPr lang="de-CH" sz="1300">
                <a:latin typeface="Calibri"/>
                <a:ea typeface="Calibri"/>
                <a:cs typeface="Calibri"/>
                <a:sym typeface="Calibri"/>
              </a:rPr>
              <a:t>Events like </a:t>
            </a:r>
            <a:r>
              <a:rPr lang="de-CH" sz="1300" u="sng">
                <a:solidFill>
                  <a:schemeClr val="hlink"/>
                </a:solidFill>
                <a:latin typeface="Calibri"/>
                <a:ea typeface="Calibri"/>
                <a:cs typeface="Calibri"/>
                <a:sym typeface="Calibri"/>
                <a:hlinkClick r:id="rId8"/>
              </a:rPr>
              <a:t>Quantum Computing Conclave</a:t>
            </a:r>
            <a:r>
              <a:rPr lang="de-CH" sz="1300">
                <a:latin typeface="Calibri"/>
                <a:ea typeface="Calibri"/>
                <a:cs typeface="Calibri"/>
                <a:sym typeface="Calibri"/>
              </a:rPr>
              <a:t> for  sunrise sectors like Quantum Computing for students and faculty alike.</a:t>
            </a:r>
            <a:endParaRPr sz="1300">
              <a:latin typeface="Calibri"/>
              <a:ea typeface="Calibri"/>
              <a:cs typeface="Calibri"/>
              <a:sym typeface="Calibri"/>
            </a:endParaRPr>
          </a:p>
          <a:p>
            <a:pPr indent="-304959" lvl="0" marL="457200" rtl="0" algn="just">
              <a:lnSpc>
                <a:spcPct val="115000"/>
              </a:lnSpc>
              <a:spcBef>
                <a:spcPts val="0"/>
              </a:spcBef>
              <a:spcAft>
                <a:spcPts val="0"/>
              </a:spcAft>
              <a:buSzPct val="100000"/>
              <a:buFont typeface="Calibri"/>
              <a:buChar char="●"/>
            </a:pPr>
            <a:r>
              <a:rPr lang="de-CH" sz="1300">
                <a:latin typeface="Calibri"/>
                <a:ea typeface="Calibri"/>
                <a:cs typeface="Calibri"/>
                <a:sym typeface="Calibri"/>
              </a:rPr>
              <a:t>FDP’s covering latest technologies like </a:t>
            </a:r>
            <a:r>
              <a:rPr lang="de-CH" sz="1300" u="sng">
                <a:solidFill>
                  <a:schemeClr val="hlink"/>
                </a:solidFill>
                <a:latin typeface="Calibri"/>
                <a:ea typeface="Calibri"/>
                <a:cs typeface="Calibri"/>
                <a:sym typeface="Calibri"/>
                <a:hlinkClick r:id="rId9"/>
              </a:rPr>
              <a:t>GENLANG 5.0</a:t>
            </a:r>
            <a:r>
              <a:rPr lang="de-CH" sz="1300">
                <a:latin typeface="Calibri"/>
                <a:ea typeface="Calibri"/>
                <a:cs typeface="Calibri"/>
                <a:sym typeface="Calibri"/>
              </a:rPr>
              <a:t> gave the faculty a new avenue to explore and learn.</a:t>
            </a:r>
            <a:endParaRPr sz="1300">
              <a:latin typeface="Calibri"/>
              <a:ea typeface="Calibri"/>
              <a:cs typeface="Calibri"/>
              <a:sym typeface="Calibri"/>
            </a:endParaRPr>
          </a:p>
          <a:p>
            <a:pPr indent="-304959" lvl="0" marL="457200" rtl="0" algn="just">
              <a:lnSpc>
                <a:spcPct val="115000"/>
              </a:lnSpc>
              <a:spcBef>
                <a:spcPts val="0"/>
              </a:spcBef>
              <a:spcAft>
                <a:spcPts val="0"/>
              </a:spcAft>
              <a:buSzPct val="100000"/>
              <a:buFont typeface="Calibri"/>
              <a:buChar char="●"/>
            </a:pPr>
            <a:r>
              <a:rPr lang="de-CH" sz="1300">
                <a:latin typeface="Calibri"/>
                <a:ea typeface="Calibri"/>
                <a:cs typeface="Calibri"/>
                <a:sym typeface="Calibri"/>
              </a:rPr>
              <a:t>Faculty of CE department are encouraged to participate in cross domain STTP like the one on NI LABVIEW delivered by industry partner </a:t>
            </a:r>
            <a:r>
              <a:rPr lang="de-CH" sz="1300" u="sng">
                <a:solidFill>
                  <a:schemeClr val="hlink"/>
                </a:solidFill>
                <a:latin typeface="Calibri"/>
                <a:ea typeface="Calibri"/>
                <a:cs typeface="Calibri"/>
                <a:sym typeface="Calibri"/>
                <a:hlinkClick r:id="rId10"/>
              </a:rPr>
              <a:t>NI-Emerson.</a:t>
            </a:r>
            <a:endParaRPr sz="1300">
              <a:latin typeface="Calibri"/>
              <a:ea typeface="Calibri"/>
              <a:cs typeface="Calibri"/>
              <a:sym typeface="Calibri"/>
            </a:endParaRPr>
          </a:p>
          <a:p>
            <a:pPr indent="0" lvl="0" marL="457200" rtl="0" algn="just">
              <a:lnSpc>
                <a:spcPct val="115000"/>
              </a:lnSpc>
              <a:spcBef>
                <a:spcPts val="0"/>
              </a:spcBef>
              <a:spcAft>
                <a:spcPts val="0"/>
              </a:spcAft>
              <a:buNone/>
            </a:pPr>
            <a:r>
              <a:t/>
            </a:r>
            <a:endParaRPr sz="1300">
              <a:latin typeface="Calibri"/>
              <a:ea typeface="Calibri"/>
              <a:cs typeface="Calibri"/>
              <a:sym typeface="Calibri"/>
            </a:endParaRPr>
          </a:p>
        </p:txBody>
      </p:sp>
      <p:pic>
        <p:nvPicPr>
          <p:cNvPr id="214" name="Google Shape;214;g28ea2419252_1_667" title="NvidiaDLPic.jpg"/>
          <p:cNvPicPr preferRelativeResize="0"/>
          <p:nvPr/>
        </p:nvPicPr>
        <p:blipFill>
          <a:blip r:embed="rId11">
            <a:alphaModFix/>
          </a:blip>
          <a:stretch>
            <a:fillRect/>
          </a:stretch>
        </p:blipFill>
        <p:spPr>
          <a:xfrm>
            <a:off x="5188075" y="1540750"/>
            <a:ext cx="3702200" cy="3079173"/>
          </a:xfrm>
          <a:prstGeom prst="rect">
            <a:avLst/>
          </a:prstGeom>
          <a:noFill/>
          <a:ln>
            <a:noFill/>
          </a:ln>
        </p:spPr>
      </p:pic>
      <p:sp>
        <p:nvSpPr>
          <p:cNvPr id="215" name="Google Shape;215;g28ea2419252_1_667"/>
          <p:cNvSpPr txBox="1"/>
          <p:nvPr/>
        </p:nvSpPr>
        <p:spPr>
          <a:xfrm>
            <a:off x="5188075" y="1068563"/>
            <a:ext cx="3402000" cy="21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de-CH" sz="1700">
                <a:solidFill>
                  <a:schemeClr val="accent1"/>
                </a:solidFill>
                <a:latin typeface="Open Sans"/>
                <a:ea typeface="Open Sans"/>
                <a:cs typeface="Open Sans"/>
                <a:sym typeface="Open Sans"/>
              </a:rPr>
              <a:t>Cohort of NVIDIA DL program</a:t>
            </a:r>
            <a:endParaRPr b="1" sz="1700">
              <a:solidFill>
                <a:schemeClr val="accent1"/>
              </a:solidFill>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28ea2419252_1_672"/>
          <p:cNvSpPr txBox="1"/>
          <p:nvPr>
            <p:ph type="title"/>
          </p:nvPr>
        </p:nvSpPr>
        <p:spPr>
          <a:xfrm>
            <a:off x="125800" y="110375"/>
            <a:ext cx="8909400" cy="1042200"/>
          </a:xfrm>
          <a:prstGeom prst="rect">
            <a:avLst/>
          </a:prstGeom>
          <a:noFill/>
          <a:ln>
            <a:noFill/>
          </a:ln>
        </p:spPr>
        <p:txBody>
          <a:bodyPr anchorCtr="0" anchor="t" bIns="91425" lIns="91425" spcFirstLastPara="1" rIns="91425" wrap="square" tIns="91425">
            <a:noAutofit/>
          </a:bodyPr>
          <a:lstStyle/>
          <a:p>
            <a:pPr indent="57150" lvl="0" marL="171450" rtl="0" algn="l">
              <a:lnSpc>
                <a:spcPct val="115000"/>
              </a:lnSpc>
              <a:spcBef>
                <a:spcPts val="1200"/>
              </a:spcBef>
              <a:spcAft>
                <a:spcPts val="0"/>
              </a:spcAft>
              <a:buSzPts val="990"/>
              <a:buNone/>
            </a:pPr>
            <a:r>
              <a:rPr lang="de-CH" sz="1750">
                <a:solidFill>
                  <a:srgbClr val="000000"/>
                </a:solidFill>
                <a:latin typeface="Times New Roman"/>
                <a:ea typeface="Times New Roman"/>
                <a:cs typeface="Times New Roman"/>
                <a:sym typeface="Times New Roman"/>
              </a:rPr>
              <a:t>B.2.</a:t>
            </a:r>
            <a:r>
              <a:rPr b="0" lang="de-CH" sz="1800">
                <a:solidFill>
                  <a:srgbClr val="000000"/>
                </a:solidFill>
                <a:latin typeface="Calibri"/>
                <a:ea typeface="Calibri"/>
                <a:cs typeface="Calibri"/>
                <a:sym typeface="Calibri"/>
              </a:rPr>
              <a:t>Coursework (assignments, quizzes, lesson plan for various courses, laboratory  expts etc) offer sufficient breadth and depth appropriate for the degre</a:t>
            </a:r>
            <a:r>
              <a:rPr b="0" lang="de-CH" sz="1800">
                <a:solidFill>
                  <a:srgbClr val="000000"/>
                </a:solidFill>
                <a:latin typeface="Calibri"/>
                <a:ea typeface="Calibri"/>
                <a:cs typeface="Calibri"/>
                <a:sym typeface="Calibri"/>
              </a:rPr>
              <a:t>e offered.</a:t>
            </a:r>
            <a:r>
              <a:rPr lang="de-CH" sz="3000">
                <a:solidFill>
                  <a:srgbClr val="FF0000"/>
                </a:solidFill>
                <a:latin typeface="Calibri"/>
                <a:ea typeface="Calibri"/>
                <a:cs typeface="Calibri"/>
                <a:sym typeface="Calibri"/>
              </a:rPr>
              <a:t> </a:t>
            </a:r>
            <a:endParaRPr sz="3000">
              <a:solidFill>
                <a:srgbClr val="FF0000"/>
              </a:solidFill>
            </a:endParaRPr>
          </a:p>
          <a:p>
            <a:pPr indent="57150" lvl="0" marL="171450" rtl="0" algn="just">
              <a:lnSpc>
                <a:spcPct val="115000"/>
              </a:lnSpc>
              <a:spcBef>
                <a:spcPts val="1200"/>
              </a:spcBef>
              <a:spcAft>
                <a:spcPts val="1200"/>
              </a:spcAft>
              <a:buSzPts val="990"/>
              <a:buNone/>
            </a:pPr>
            <a:r>
              <a:t/>
            </a:r>
            <a:endParaRPr sz="1800">
              <a:solidFill>
                <a:srgbClr val="000000"/>
              </a:solidFill>
              <a:latin typeface="Times New Roman"/>
              <a:ea typeface="Times New Roman"/>
              <a:cs typeface="Times New Roman"/>
              <a:sym typeface="Times New Roman"/>
            </a:endParaRPr>
          </a:p>
        </p:txBody>
      </p:sp>
      <p:sp>
        <p:nvSpPr>
          <p:cNvPr id="221" name="Google Shape;221;g28ea2419252_1_672"/>
          <p:cNvSpPr txBox="1"/>
          <p:nvPr>
            <p:ph idx="1" type="body"/>
          </p:nvPr>
        </p:nvSpPr>
        <p:spPr>
          <a:xfrm>
            <a:off x="125800" y="1481475"/>
            <a:ext cx="8520600" cy="3302700"/>
          </a:xfrm>
          <a:prstGeom prst="rect">
            <a:avLst/>
          </a:prstGeom>
          <a:noFill/>
          <a:ln>
            <a:noFill/>
          </a:ln>
        </p:spPr>
        <p:txBody>
          <a:bodyPr anchorCtr="0" anchor="t" bIns="91425" lIns="91425" spcFirstLastPara="1" rIns="91425" wrap="square" tIns="91425">
            <a:normAutofit fontScale="92500" lnSpcReduction="20000"/>
          </a:bodyPr>
          <a:lstStyle/>
          <a:p>
            <a:pPr indent="0" lvl="0" marL="457200" rtl="0" algn="l">
              <a:spcBef>
                <a:spcPts val="0"/>
              </a:spcBef>
              <a:spcAft>
                <a:spcPts val="0"/>
              </a:spcAft>
              <a:buNone/>
            </a:pPr>
            <a:r>
              <a:rPr lang="de-CH"/>
              <a:t>Lesson plans are meticulously designed and mapped to Course Outcomes (COs) to ensure comprehensive topic coverage.</a:t>
            </a:r>
            <a:endParaRPr/>
          </a:p>
          <a:p>
            <a:pPr indent="0" lvl="0" marL="457200" rtl="0" algn="l">
              <a:spcBef>
                <a:spcPts val="0"/>
              </a:spcBef>
              <a:spcAft>
                <a:spcPts val="0"/>
              </a:spcAft>
              <a:buNone/>
            </a:pPr>
            <a:r>
              <a:t/>
            </a:r>
            <a:endParaRPr/>
          </a:p>
          <a:p>
            <a:pPr indent="0" lvl="0" marL="457200" rtl="0" algn="l">
              <a:spcBef>
                <a:spcPts val="0"/>
              </a:spcBef>
              <a:spcAft>
                <a:spcPts val="0"/>
              </a:spcAft>
              <a:buNone/>
            </a:pPr>
            <a:r>
              <a:rPr lang="de-CH"/>
              <a:t>Integration of real-world case studies to assess practical understanding and application.</a:t>
            </a:r>
            <a:endParaRPr/>
          </a:p>
          <a:p>
            <a:pPr indent="0" lvl="0" marL="457200" rtl="0" algn="l">
              <a:spcBef>
                <a:spcPts val="0"/>
              </a:spcBef>
              <a:spcAft>
                <a:spcPts val="0"/>
              </a:spcAft>
              <a:buNone/>
            </a:pPr>
            <a:r>
              <a:t/>
            </a:r>
            <a:endParaRPr/>
          </a:p>
          <a:p>
            <a:pPr indent="0" lvl="0" marL="457200" rtl="0" algn="l">
              <a:spcBef>
                <a:spcPts val="0"/>
              </a:spcBef>
              <a:spcAft>
                <a:spcPts val="0"/>
              </a:spcAft>
              <a:buNone/>
            </a:pPr>
            <a:r>
              <a:rPr lang="de-CH"/>
              <a:t>Assignments </a:t>
            </a:r>
            <a:r>
              <a:rPr lang="de-CH"/>
              <a:t>and quizzes</a:t>
            </a:r>
            <a:r>
              <a:rPr lang="de-CH"/>
              <a:t> are calibrated across various Bloom’s Taxonomy levels to test higher-order thinking.</a:t>
            </a:r>
            <a:endParaRPr/>
          </a:p>
          <a:p>
            <a:pPr indent="0" lvl="0" marL="457200" rtl="0" algn="l">
              <a:spcBef>
                <a:spcPts val="0"/>
              </a:spcBef>
              <a:spcAft>
                <a:spcPts val="0"/>
              </a:spcAft>
              <a:buNone/>
            </a:pPr>
            <a:r>
              <a:t/>
            </a:r>
            <a:endParaRPr/>
          </a:p>
          <a:p>
            <a:pPr indent="0" lvl="0" marL="457200" rtl="0" algn="l">
              <a:spcBef>
                <a:spcPts val="0"/>
              </a:spcBef>
              <a:spcAft>
                <a:spcPts val="0"/>
              </a:spcAft>
              <a:buNone/>
            </a:pPr>
            <a:r>
              <a:rPr lang="de-CH"/>
              <a:t>Extensive use of Project-Based Learning (PBL) to bridge theoretical concepts with hands-on development.</a:t>
            </a:r>
            <a:endParaRPr/>
          </a:p>
          <a:p>
            <a:pPr indent="0" lvl="0" marL="457200" rtl="0" algn="l">
              <a:lnSpc>
                <a:spcPct val="115000"/>
              </a:lnSpc>
              <a:spcBef>
                <a:spcPts val="0"/>
              </a:spcBef>
              <a:spcAft>
                <a:spcPts val="0"/>
              </a:spcAft>
              <a:buSzPct val="1000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g28ea2419252_1_677"/>
          <p:cNvSpPr txBox="1"/>
          <p:nvPr>
            <p:ph type="title"/>
          </p:nvPr>
        </p:nvSpPr>
        <p:spPr>
          <a:xfrm>
            <a:off x="0" y="86750"/>
            <a:ext cx="9144000" cy="783300"/>
          </a:xfrm>
          <a:prstGeom prst="rect">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114300" rtl="0" algn="just">
              <a:lnSpc>
                <a:spcPct val="115000"/>
              </a:lnSpc>
              <a:spcBef>
                <a:spcPts val="1200"/>
              </a:spcBef>
              <a:spcAft>
                <a:spcPts val="0"/>
              </a:spcAft>
              <a:buSzPts val="3600"/>
              <a:buNone/>
            </a:pPr>
            <a:r>
              <a:rPr lang="de-CH" sz="1800">
                <a:solidFill>
                  <a:srgbClr val="000000"/>
                </a:solidFill>
                <a:latin typeface="Times New Roman"/>
                <a:ea typeface="Times New Roman"/>
                <a:cs typeface="Times New Roman"/>
                <a:sym typeface="Times New Roman"/>
              </a:rPr>
              <a:t>B.3. </a:t>
            </a:r>
            <a:r>
              <a:rPr b="0" lang="de-CH" sz="1800">
                <a:solidFill>
                  <a:srgbClr val="000000"/>
                </a:solidFill>
                <a:latin typeface="Calibri"/>
                <a:ea typeface="Calibri"/>
                <a:cs typeface="Calibri"/>
                <a:sym typeface="Calibri"/>
              </a:rPr>
              <a:t>Department looks forward for Industry / alumni participation wherever possible, which is demonstrated by few examples of co-teaching, joint project work  </a:t>
            </a:r>
            <a:r>
              <a:rPr lang="de-CH" sz="3000">
                <a:solidFill>
                  <a:srgbClr val="FF0000"/>
                </a:solidFill>
                <a:latin typeface="Calibri"/>
                <a:ea typeface="Calibri"/>
                <a:cs typeface="Calibri"/>
                <a:sym typeface="Calibri"/>
              </a:rPr>
              <a:t> JR</a:t>
            </a:r>
            <a:endParaRPr sz="3000">
              <a:solidFill>
                <a:srgbClr val="FF0000"/>
              </a:solidFill>
              <a:latin typeface="Times New Roman"/>
              <a:ea typeface="Times New Roman"/>
              <a:cs typeface="Times New Roman"/>
              <a:sym typeface="Times New Roman"/>
            </a:endParaRPr>
          </a:p>
          <a:p>
            <a:pPr indent="0" lvl="0" marL="114300" rtl="0" algn="just">
              <a:lnSpc>
                <a:spcPct val="115000"/>
              </a:lnSpc>
              <a:spcBef>
                <a:spcPts val="1200"/>
              </a:spcBef>
              <a:spcAft>
                <a:spcPts val="1200"/>
              </a:spcAft>
              <a:buSzPts val="3600"/>
              <a:buNone/>
            </a:pPr>
            <a:r>
              <a:t/>
            </a:r>
            <a:endParaRPr sz="1800">
              <a:solidFill>
                <a:srgbClr val="000000"/>
              </a:solidFill>
              <a:latin typeface="Times New Roman"/>
              <a:ea typeface="Times New Roman"/>
              <a:cs typeface="Times New Roman"/>
              <a:sym typeface="Times New Roman"/>
            </a:endParaRPr>
          </a:p>
        </p:txBody>
      </p:sp>
      <p:sp>
        <p:nvSpPr>
          <p:cNvPr id="227" name="Google Shape;227;g28ea2419252_1_677"/>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0" lvl="0" marL="457200" rtl="0" algn="l">
              <a:lnSpc>
                <a:spcPct val="115000"/>
              </a:lnSpc>
              <a:spcBef>
                <a:spcPts val="0"/>
              </a:spcBef>
              <a:spcAft>
                <a:spcPts val="0"/>
              </a:spcAft>
              <a:buSzPts val="1946"/>
              <a:buNone/>
            </a:pPr>
            <a:r>
              <a:t/>
            </a:r>
            <a:endParaRPr>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hd72da3054435e2_38_0"/>
          <p:cNvSpPr txBox="1"/>
          <p:nvPr>
            <p:ph type="title"/>
          </p:nvPr>
        </p:nvSpPr>
        <p:spPr>
          <a:xfrm>
            <a:off x="0" y="86750"/>
            <a:ext cx="9144000" cy="783300"/>
          </a:xfrm>
          <a:prstGeom prst="rect">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114300" rtl="0" algn="just">
              <a:lnSpc>
                <a:spcPct val="115000"/>
              </a:lnSpc>
              <a:spcBef>
                <a:spcPts val="1200"/>
              </a:spcBef>
              <a:spcAft>
                <a:spcPts val="0"/>
              </a:spcAft>
              <a:buSzPts val="3600"/>
              <a:buNone/>
            </a:pPr>
            <a:r>
              <a:rPr lang="de-CH" sz="1800">
                <a:solidFill>
                  <a:srgbClr val="000000"/>
                </a:solidFill>
                <a:latin typeface="Times New Roman"/>
                <a:ea typeface="Times New Roman"/>
                <a:cs typeface="Times New Roman"/>
                <a:sym typeface="Times New Roman"/>
              </a:rPr>
              <a:t>B.3. </a:t>
            </a:r>
            <a:r>
              <a:rPr b="0" lang="de-CH" sz="1800">
                <a:solidFill>
                  <a:srgbClr val="000000"/>
                </a:solidFill>
                <a:latin typeface="Calibri"/>
                <a:ea typeface="Calibri"/>
                <a:cs typeface="Calibri"/>
                <a:sym typeface="Calibri"/>
              </a:rPr>
              <a:t>Department looks forward for Industry / alumni participation wherever possible, which is demonstrated by few examples of co-teaching, joint project work  </a:t>
            </a:r>
            <a:r>
              <a:rPr lang="de-CH" sz="3000">
                <a:solidFill>
                  <a:srgbClr val="FF0000"/>
                </a:solidFill>
                <a:latin typeface="Calibri"/>
                <a:ea typeface="Calibri"/>
                <a:cs typeface="Calibri"/>
                <a:sym typeface="Calibri"/>
              </a:rPr>
              <a:t> JR</a:t>
            </a:r>
            <a:endParaRPr sz="3000">
              <a:solidFill>
                <a:srgbClr val="FF0000"/>
              </a:solidFill>
              <a:latin typeface="Times New Roman"/>
              <a:ea typeface="Times New Roman"/>
              <a:cs typeface="Times New Roman"/>
              <a:sym typeface="Times New Roman"/>
            </a:endParaRPr>
          </a:p>
          <a:p>
            <a:pPr indent="0" lvl="0" marL="114300" rtl="0" algn="just">
              <a:lnSpc>
                <a:spcPct val="115000"/>
              </a:lnSpc>
              <a:spcBef>
                <a:spcPts val="1200"/>
              </a:spcBef>
              <a:spcAft>
                <a:spcPts val="1200"/>
              </a:spcAft>
              <a:buSzPts val="3600"/>
              <a:buNone/>
            </a:pPr>
            <a:r>
              <a:t/>
            </a:r>
            <a:endParaRPr sz="1800">
              <a:solidFill>
                <a:srgbClr val="000000"/>
              </a:solidFill>
              <a:latin typeface="Times New Roman"/>
              <a:ea typeface="Times New Roman"/>
              <a:cs typeface="Times New Roman"/>
              <a:sym typeface="Times New Roman"/>
            </a:endParaRPr>
          </a:p>
        </p:txBody>
      </p:sp>
      <p:sp>
        <p:nvSpPr>
          <p:cNvPr id="233" name="Google Shape;233;hd72da3054435e2_38_0"/>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946"/>
              <a:buNone/>
            </a:pPr>
            <a:r>
              <a:rPr lang="de-CH">
                <a:latin typeface="Times New Roman"/>
                <a:ea typeface="Times New Roman"/>
                <a:cs typeface="Times New Roman"/>
                <a:sym typeface="Times New Roman"/>
              </a:rPr>
              <a:t> Co teaching for Subject AIML, arranged by Prof. Swapnali Kurhade</a:t>
            </a:r>
            <a:endParaRPr>
              <a:latin typeface="Times New Roman"/>
              <a:ea typeface="Times New Roman"/>
              <a:cs typeface="Times New Roman"/>
              <a:sym typeface="Times New Roman"/>
            </a:endParaRPr>
          </a:p>
          <a:p>
            <a:pPr indent="0" lvl="0" marL="0" rtl="0" algn="l">
              <a:lnSpc>
                <a:spcPct val="115000"/>
              </a:lnSpc>
              <a:spcBef>
                <a:spcPts val="0"/>
              </a:spcBef>
              <a:spcAft>
                <a:spcPts val="0"/>
              </a:spcAft>
              <a:buSzPts val="1946"/>
              <a:buNone/>
            </a:pPr>
            <a:r>
              <a:rPr lang="de-CH">
                <a:latin typeface="Times New Roman"/>
                <a:ea typeface="Times New Roman"/>
                <a:cs typeface="Times New Roman"/>
                <a:sym typeface="Times New Roman"/>
              </a:rPr>
              <a:t> Delivered  by Dr. Maheshkumar H. Kolekar, IIT Patna on 13/10/2024</a:t>
            </a:r>
            <a:endParaRPr>
              <a:latin typeface="Times New Roman"/>
              <a:ea typeface="Times New Roman"/>
              <a:cs typeface="Times New Roman"/>
              <a:sym typeface="Times New Roman"/>
            </a:endParaRPr>
          </a:p>
          <a:p>
            <a:pPr indent="0" lvl="0" marL="457200" rtl="0" algn="l">
              <a:lnSpc>
                <a:spcPct val="115000"/>
              </a:lnSpc>
              <a:spcBef>
                <a:spcPts val="0"/>
              </a:spcBef>
              <a:spcAft>
                <a:spcPts val="0"/>
              </a:spcAft>
              <a:buSzPts val="1946"/>
              <a:buNone/>
            </a:pPr>
            <a:r>
              <a:t/>
            </a:r>
            <a:endParaRPr>
              <a:latin typeface="Times New Roman"/>
              <a:ea typeface="Times New Roman"/>
              <a:cs typeface="Times New Roman"/>
              <a:sym typeface="Times New Roman"/>
            </a:endParaRPr>
          </a:p>
        </p:txBody>
      </p:sp>
      <p:pic>
        <p:nvPicPr>
          <p:cNvPr id="234" name="Google Shape;234;hd72da3054435e2_38_0"/>
          <p:cNvPicPr preferRelativeResize="0"/>
          <p:nvPr/>
        </p:nvPicPr>
        <p:blipFill>
          <a:blip r:embed="rId3">
            <a:alphaModFix/>
          </a:blip>
          <a:stretch>
            <a:fillRect/>
          </a:stretch>
        </p:blipFill>
        <p:spPr>
          <a:xfrm>
            <a:off x="437925" y="2301150"/>
            <a:ext cx="3086750" cy="2102625"/>
          </a:xfrm>
          <a:prstGeom prst="rect">
            <a:avLst/>
          </a:prstGeom>
          <a:noFill/>
          <a:ln>
            <a:noFill/>
          </a:ln>
        </p:spPr>
      </p:pic>
      <p:pic>
        <p:nvPicPr>
          <p:cNvPr id="235" name="Google Shape;235;hd72da3054435e2_38_0"/>
          <p:cNvPicPr preferRelativeResize="0"/>
          <p:nvPr/>
        </p:nvPicPr>
        <p:blipFill>
          <a:blip r:embed="rId4">
            <a:alphaModFix/>
          </a:blip>
          <a:stretch>
            <a:fillRect/>
          </a:stretch>
        </p:blipFill>
        <p:spPr>
          <a:xfrm>
            <a:off x="4572000" y="2301150"/>
            <a:ext cx="3421735" cy="210262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g28ea2419252_1_682"/>
          <p:cNvSpPr txBox="1"/>
          <p:nvPr>
            <p:ph type="title"/>
          </p:nvPr>
        </p:nvSpPr>
        <p:spPr>
          <a:xfrm>
            <a:off x="50550" y="85600"/>
            <a:ext cx="9144000" cy="880200"/>
          </a:xfrm>
          <a:prstGeom prst="rect">
            <a:avLst/>
          </a:prstGeom>
          <a:noFill/>
          <a:ln>
            <a:noFill/>
          </a:ln>
        </p:spPr>
        <p:txBody>
          <a:bodyPr anchorCtr="0" anchor="t" bIns="91425" lIns="91425" spcFirstLastPara="1" rIns="91425" wrap="square" tIns="91425">
            <a:noAutofit/>
          </a:bodyPr>
          <a:lstStyle/>
          <a:p>
            <a:pPr indent="0" lvl="0" marL="114300" rtl="0" algn="just">
              <a:lnSpc>
                <a:spcPct val="115000"/>
              </a:lnSpc>
              <a:spcBef>
                <a:spcPts val="1200"/>
              </a:spcBef>
              <a:spcAft>
                <a:spcPts val="0"/>
              </a:spcAft>
              <a:buSzPts val="990"/>
              <a:buNone/>
            </a:pPr>
            <a:r>
              <a:rPr lang="de-CH" sz="1800">
                <a:solidFill>
                  <a:srgbClr val="000000"/>
                </a:solidFill>
                <a:latin typeface="Times New Roman"/>
                <a:ea typeface="Times New Roman"/>
                <a:cs typeface="Times New Roman"/>
                <a:sym typeface="Times New Roman"/>
              </a:rPr>
              <a:t>B.4. </a:t>
            </a:r>
            <a:r>
              <a:rPr b="0" lang="de-CH" sz="1800">
                <a:solidFill>
                  <a:srgbClr val="000000"/>
                </a:solidFill>
                <a:latin typeface="Calibri"/>
                <a:ea typeface="Calibri"/>
                <a:cs typeface="Calibri"/>
                <a:sym typeface="Calibri"/>
              </a:rPr>
              <a:t>Project work is relevant, demonstrates the value addition and is of expected quality from bright undergraduate students. </a:t>
            </a:r>
            <a:r>
              <a:rPr lang="de-CH" sz="1800">
                <a:solidFill>
                  <a:srgbClr val="000000"/>
                </a:solidFill>
                <a:latin typeface="Times New Roman"/>
                <a:ea typeface="Times New Roman"/>
                <a:cs typeface="Times New Roman"/>
                <a:sym typeface="Times New Roman"/>
              </a:rPr>
              <a:t>  </a:t>
            </a:r>
            <a:r>
              <a:rPr lang="de-CH" sz="3000">
                <a:solidFill>
                  <a:srgbClr val="FF0000"/>
                </a:solidFill>
                <a:latin typeface="Times New Roman"/>
                <a:ea typeface="Times New Roman"/>
                <a:cs typeface="Times New Roman"/>
                <a:sym typeface="Times New Roman"/>
              </a:rPr>
              <a:t> SBG </a:t>
            </a:r>
            <a:endParaRPr sz="3000">
              <a:solidFill>
                <a:srgbClr val="FF0000"/>
              </a:solidFill>
              <a:highlight>
                <a:schemeClr val="lt1"/>
              </a:highlight>
            </a:endParaRPr>
          </a:p>
          <a:p>
            <a:pPr indent="0" lvl="0" marL="114300" rtl="0" algn="just">
              <a:lnSpc>
                <a:spcPct val="115000"/>
              </a:lnSpc>
              <a:spcBef>
                <a:spcPts val="1200"/>
              </a:spcBef>
              <a:spcAft>
                <a:spcPts val="1200"/>
              </a:spcAft>
              <a:buSzPts val="990"/>
              <a:buNone/>
            </a:pPr>
            <a:r>
              <a:t/>
            </a:r>
            <a:endParaRPr sz="1800">
              <a:solidFill>
                <a:srgbClr val="000000"/>
              </a:solidFill>
              <a:latin typeface="Times New Roman"/>
              <a:ea typeface="Times New Roman"/>
              <a:cs typeface="Times New Roman"/>
              <a:sym typeface="Times New Roman"/>
            </a:endParaRPr>
          </a:p>
        </p:txBody>
      </p:sp>
      <p:sp>
        <p:nvSpPr>
          <p:cNvPr id="241" name="Google Shape;241;g28ea2419252_1_682"/>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361950" lvl="0" marL="457200" rtl="0" algn="just">
              <a:spcBef>
                <a:spcPts val="0"/>
              </a:spcBef>
              <a:spcAft>
                <a:spcPts val="0"/>
              </a:spcAft>
              <a:buSzPts val="2100"/>
              <a:buChar char="●"/>
            </a:pPr>
            <a:r>
              <a:rPr b="1" lang="de-CH">
                <a:solidFill>
                  <a:srgbClr val="000000"/>
                </a:solidFill>
                <a:latin typeface="Calibri"/>
                <a:ea typeface="Calibri"/>
                <a:cs typeface="Calibri"/>
                <a:sym typeface="Calibri"/>
              </a:rPr>
              <a:t>Relevance:</a:t>
            </a:r>
            <a:r>
              <a:rPr lang="de-CH">
                <a:solidFill>
                  <a:srgbClr val="000000"/>
                </a:solidFill>
                <a:latin typeface="Calibri"/>
                <a:ea typeface="Calibri"/>
                <a:cs typeface="Calibri"/>
                <a:sym typeface="Calibri"/>
              </a:rPr>
              <a:t> Projects address real-world problems and have clear objectives.</a:t>
            </a:r>
            <a:endParaRPr>
              <a:solidFill>
                <a:srgbClr val="000000"/>
              </a:solidFill>
              <a:latin typeface="Calibri"/>
              <a:ea typeface="Calibri"/>
              <a:cs typeface="Calibri"/>
              <a:sym typeface="Calibri"/>
            </a:endParaRPr>
          </a:p>
          <a:p>
            <a:pPr indent="-361950" lvl="0" marL="457200" rtl="0" algn="just">
              <a:spcBef>
                <a:spcPts val="0"/>
              </a:spcBef>
              <a:spcAft>
                <a:spcPts val="0"/>
              </a:spcAft>
              <a:buSzPts val="2100"/>
              <a:buChar char="●"/>
            </a:pPr>
            <a:r>
              <a:rPr b="1" lang="de-CH">
                <a:solidFill>
                  <a:srgbClr val="000000"/>
                </a:solidFill>
                <a:latin typeface="Calibri"/>
                <a:ea typeface="Calibri"/>
                <a:cs typeface="Calibri"/>
                <a:sym typeface="Calibri"/>
              </a:rPr>
              <a:t>Technical Skills: </a:t>
            </a:r>
            <a:r>
              <a:rPr lang="de-CH">
                <a:solidFill>
                  <a:srgbClr val="000000"/>
                </a:solidFill>
                <a:latin typeface="Calibri"/>
                <a:ea typeface="Calibri"/>
                <a:cs typeface="Calibri"/>
                <a:sym typeface="Calibri"/>
              </a:rPr>
              <a:t>Students apply appropriate technologies and concepts to develop and test the solution.</a:t>
            </a:r>
            <a:endParaRPr>
              <a:solidFill>
                <a:srgbClr val="000000"/>
              </a:solidFill>
              <a:latin typeface="Calibri"/>
              <a:ea typeface="Calibri"/>
              <a:cs typeface="Calibri"/>
              <a:sym typeface="Calibri"/>
            </a:endParaRPr>
          </a:p>
          <a:p>
            <a:pPr indent="-361950" lvl="0" marL="457200" rtl="0" algn="just">
              <a:spcBef>
                <a:spcPts val="0"/>
              </a:spcBef>
              <a:spcAft>
                <a:spcPts val="0"/>
              </a:spcAft>
              <a:buSzPts val="2100"/>
              <a:buChar char="●"/>
            </a:pPr>
            <a:r>
              <a:rPr b="1" lang="de-CH">
                <a:solidFill>
                  <a:srgbClr val="000000"/>
                </a:solidFill>
                <a:latin typeface="Calibri"/>
                <a:ea typeface="Calibri"/>
                <a:cs typeface="Calibri"/>
                <a:sym typeface="Calibri"/>
              </a:rPr>
              <a:t>Innovation &amp; Value Addition: </a:t>
            </a:r>
            <a:r>
              <a:rPr lang="de-CH">
                <a:solidFill>
                  <a:srgbClr val="000000"/>
                </a:solidFill>
                <a:latin typeface="Calibri"/>
                <a:ea typeface="Calibri"/>
                <a:cs typeface="Calibri"/>
                <a:sym typeface="Calibri"/>
              </a:rPr>
              <a:t>Projects show new ideas, practical solutions, and meaningful value addition.</a:t>
            </a:r>
            <a:endParaRPr>
              <a:solidFill>
                <a:srgbClr val="000000"/>
              </a:solidFill>
              <a:latin typeface="Calibri"/>
              <a:ea typeface="Calibri"/>
              <a:cs typeface="Calibri"/>
              <a:sym typeface="Calibri"/>
            </a:endParaRPr>
          </a:p>
          <a:p>
            <a:pPr indent="-361950" lvl="0" marL="457200" rtl="0" algn="just">
              <a:spcBef>
                <a:spcPts val="0"/>
              </a:spcBef>
              <a:spcAft>
                <a:spcPts val="0"/>
              </a:spcAft>
              <a:buSzPts val="2100"/>
              <a:buChar char="●"/>
            </a:pPr>
            <a:r>
              <a:rPr b="1" lang="de-CH">
                <a:solidFill>
                  <a:srgbClr val="000000"/>
                </a:solidFill>
                <a:latin typeface="Calibri"/>
                <a:ea typeface="Calibri"/>
                <a:cs typeface="Calibri"/>
                <a:sym typeface="Calibri"/>
              </a:rPr>
              <a:t>Research &amp; Publication:</a:t>
            </a:r>
            <a:r>
              <a:rPr lang="de-CH">
                <a:solidFill>
                  <a:srgbClr val="000000"/>
                </a:solidFill>
                <a:latin typeface="Calibri"/>
                <a:ea typeface="Calibri"/>
                <a:cs typeface="Calibri"/>
                <a:sym typeface="Calibri"/>
              </a:rPr>
              <a:t> Students are encouraged to publish research papers or file patents based on their completed project work.</a:t>
            </a:r>
            <a:endParaRPr>
              <a:solidFill>
                <a:srgbClr val="000000"/>
              </a:solidFill>
              <a:latin typeface="Calibri"/>
              <a:ea typeface="Calibri"/>
              <a:cs typeface="Calibri"/>
              <a:sym typeface="Calibri"/>
            </a:endParaRPr>
          </a:p>
          <a:p>
            <a:pPr indent="0" lvl="0" marL="457200" rtl="0" algn="l">
              <a:lnSpc>
                <a:spcPct val="115000"/>
              </a:lnSpc>
              <a:spcBef>
                <a:spcPts val="0"/>
              </a:spcBef>
              <a:spcAft>
                <a:spcPts val="0"/>
              </a:spcAft>
              <a:buNone/>
            </a:pPr>
            <a:r>
              <a:t/>
            </a:r>
            <a:endParaRPr/>
          </a:p>
          <a:p>
            <a:pPr indent="0" lvl="0" marL="457200" rtl="0" algn="l">
              <a:lnSpc>
                <a:spcPct val="115000"/>
              </a:lnSpc>
              <a:spcBef>
                <a:spcPts val="0"/>
              </a:spcBef>
              <a:spcAft>
                <a:spcPts val="0"/>
              </a:spcAft>
              <a:buSzPts val="1800"/>
              <a:buNone/>
            </a:pPr>
            <a:r>
              <a:t/>
            </a:r>
            <a:endParaRPr>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28ea2419252_1_687"/>
          <p:cNvSpPr txBox="1"/>
          <p:nvPr>
            <p:ph type="title"/>
          </p:nvPr>
        </p:nvSpPr>
        <p:spPr>
          <a:xfrm>
            <a:off x="113400" y="122775"/>
            <a:ext cx="9030600" cy="794400"/>
          </a:xfrm>
          <a:prstGeom prst="rect">
            <a:avLst/>
          </a:prstGeom>
          <a:noFill/>
          <a:ln>
            <a:noFill/>
          </a:ln>
        </p:spPr>
        <p:txBody>
          <a:bodyPr anchorCtr="0" anchor="t" bIns="91425" lIns="91425" spcFirstLastPara="1" rIns="91425" wrap="square" tIns="91425">
            <a:noAutofit/>
          </a:bodyPr>
          <a:lstStyle/>
          <a:p>
            <a:pPr indent="0" lvl="0" marL="88900" rtl="0" algn="just">
              <a:lnSpc>
                <a:spcPct val="115000"/>
              </a:lnSpc>
              <a:spcBef>
                <a:spcPts val="1200"/>
              </a:spcBef>
              <a:spcAft>
                <a:spcPts val="0"/>
              </a:spcAft>
              <a:buSzPts val="3600"/>
              <a:buNone/>
            </a:pPr>
            <a:r>
              <a:rPr lang="de-CH" sz="1800">
                <a:solidFill>
                  <a:srgbClr val="000000"/>
                </a:solidFill>
                <a:latin typeface="Times New Roman"/>
                <a:ea typeface="Times New Roman"/>
                <a:cs typeface="Times New Roman"/>
                <a:sym typeface="Times New Roman"/>
              </a:rPr>
              <a:t>B.5. </a:t>
            </a:r>
            <a:r>
              <a:rPr b="0" lang="de-CH" sz="1800">
                <a:solidFill>
                  <a:srgbClr val="000000"/>
                </a:solidFill>
                <a:latin typeface="Calibri"/>
                <a:ea typeface="Calibri"/>
                <a:cs typeface="Calibri"/>
                <a:sym typeface="Calibri"/>
              </a:rPr>
              <a:t>Department continuously upgrades laboratory infrastructure and year on year investment in the laboratory is sufficient.    </a:t>
            </a:r>
            <a:r>
              <a:rPr lang="de-CH" sz="3000">
                <a:solidFill>
                  <a:srgbClr val="FF0000"/>
                </a:solidFill>
                <a:latin typeface="Calibri"/>
                <a:ea typeface="Calibri"/>
                <a:cs typeface="Calibri"/>
                <a:sym typeface="Calibri"/>
              </a:rPr>
              <a:t> PJB</a:t>
            </a:r>
            <a:endParaRPr sz="3000">
              <a:solidFill>
                <a:srgbClr val="FF0000"/>
              </a:solidFill>
              <a:latin typeface="Times New Roman"/>
              <a:ea typeface="Times New Roman"/>
              <a:cs typeface="Times New Roman"/>
              <a:sym typeface="Times New Roman"/>
            </a:endParaRPr>
          </a:p>
          <a:p>
            <a:pPr indent="0" lvl="0" marL="0" rtl="0" algn="l">
              <a:lnSpc>
                <a:spcPct val="100000"/>
              </a:lnSpc>
              <a:spcBef>
                <a:spcPts val="1200"/>
              </a:spcBef>
              <a:spcAft>
                <a:spcPts val="0"/>
              </a:spcAft>
              <a:buSzPts val="3600"/>
              <a:buNone/>
            </a:pPr>
            <a:r>
              <a:t/>
            </a:r>
            <a:endParaRPr sz="1800"/>
          </a:p>
        </p:txBody>
      </p:sp>
      <p:sp>
        <p:nvSpPr>
          <p:cNvPr id="247" name="Google Shape;247;g28ea2419252_1_687"/>
          <p:cNvSpPr txBox="1"/>
          <p:nvPr>
            <p:ph idx="1" type="body"/>
          </p:nvPr>
        </p:nvSpPr>
        <p:spPr>
          <a:xfrm>
            <a:off x="284050" y="920400"/>
            <a:ext cx="8500500" cy="3992700"/>
          </a:xfrm>
          <a:prstGeom prst="rect">
            <a:avLst/>
          </a:prstGeom>
          <a:noFill/>
          <a:ln>
            <a:noFill/>
          </a:ln>
        </p:spPr>
        <p:txBody>
          <a:bodyPr anchorCtr="0" anchor="t" bIns="91425" lIns="91425" spcFirstLastPara="1" rIns="91425" wrap="square" tIns="91425">
            <a:normAutofit fontScale="77500" lnSpcReduction="20000"/>
          </a:bodyPr>
          <a:lstStyle/>
          <a:p>
            <a:pPr indent="-314397" lvl="0" marL="457200" rtl="0" algn="ctr">
              <a:spcBef>
                <a:spcPts val="0"/>
              </a:spcBef>
              <a:spcAft>
                <a:spcPts val="0"/>
              </a:spcAft>
              <a:buClr>
                <a:srgbClr val="434343"/>
              </a:buClr>
              <a:buSzPct val="120784"/>
              <a:buFont typeface="Arial"/>
              <a:buChar char="●"/>
            </a:pPr>
            <a:r>
              <a:rPr b="1" lang="de-CH" sz="1443">
                <a:solidFill>
                  <a:srgbClr val="222222"/>
                </a:solidFill>
                <a:latin typeface="Arial"/>
                <a:ea typeface="Arial"/>
                <a:cs typeface="Arial"/>
                <a:sym typeface="Arial"/>
              </a:rPr>
              <a:t>New Desktop Computers = 40Nos having latest configuration as mentioned bellow are purchased &amp; installed </a:t>
            </a:r>
            <a:endParaRPr b="1" sz="1443">
              <a:solidFill>
                <a:srgbClr val="222222"/>
              </a:solidFill>
              <a:latin typeface="Arial"/>
              <a:ea typeface="Arial"/>
              <a:cs typeface="Arial"/>
              <a:sym typeface="Arial"/>
            </a:endParaRPr>
          </a:p>
          <a:p>
            <a:pPr indent="0" lvl="0" marL="457200" rtl="0" algn="ctr">
              <a:spcBef>
                <a:spcPts val="0"/>
              </a:spcBef>
              <a:spcAft>
                <a:spcPts val="0"/>
              </a:spcAft>
              <a:buNone/>
            </a:pPr>
            <a:r>
              <a:rPr b="1" lang="de-CH" sz="1443">
                <a:solidFill>
                  <a:srgbClr val="222222"/>
                </a:solidFill>
                <a:latin typeface="Arial"/>
                <a:ea typeface="Arial"/>
                <a:cs typeface="Arial"/>
                <a:sym typeface="Arial"/>
              </a:rPr>
              <a:t>in “Database Lab (Lab-5)” and “Data Analytics Lab (Lab-6)” :-</a:t>
            </a:r>
            <a:endParaRPr b="1" sz="1443">
              <a:solidFill>
                <a:srgbClr val="222222"/>
              </a:solidFill>
              <a:latin typeface="Arial"/>
              <a:ea typeface="Arial"/>
              <a:cs typeface="Arial"/>
              <a:sym typeface="Arial"/>
            </a:endParaRPr>
          </a:p>
          <a:p>
            <a:pPr indent="0" lvl="0" marL="457200" rtl="0" algn="ctr">
              <a:spcBef>
                <a:spcPts val="0"/>
              </a:spcBef>
              <a:spcAft>
                <a:spcPts val="0"/>
              </a:spcAft>
              <a:buNone/>
            </a:pPr>
            <a:r>
              <a:t/>
            </a:r>
            <a:endParaRPr b="1" sz="1443">
              <a:solidFill>
                <a:srgbClr val="222222"/>
              </a:solidFill>
              <a:latin typeface="Arial"/>
              <a:ea typeface="Arial"/>
              <a:cs typeface="Arial"/>
              <a:sym typeface="Arial"/>
            </a:endParaRPr>
          </a:p>
          <a:p>
            <a:pPr indent="-297498" lvl="0" marL="457200" rtl="0" algn="ctr">
              <a:lnSpc>
                <a:spcPct val="115000"/>
              </a:lnSpc>
              <a:spcBef>
                <a:spcPts val="0"/>
              </a:spcBef>
              <a:spcAft>
                <a:spcPts val="0"/>
              </a:spcAft>
              <a:buClr>
                <a:srgbClr val="434343"/>
              </a:buClr>
              <a:buSzPct val="127273"/>
              <a:buFont typeface="Arial"/>
              <a:buChar char="●"/>
            </a:pPr>
            <a:r>
              <a:rPr b="1" lang="de-CH" sz="1100">
                <a:solidFill>
                  <a:srgbClr val="000000"/>
                </a:solidFill>
                <a:latin typeface="Arial"/>
                <a:ea typeface="Arial"/>
                <a:cs typeface="Arial"/>
                <a:sym typeface="Arial"/>
              </a:rPr>
              <a:t>HP Desktop Computer (Total Cost = </a:t>
            </a:r>
            <a:r>
              <a:rPr lang="de-CH" sz="1200">
                <a:solidFill>
                  <a:srgbClr val="000000"/>
                </a:solidFill>
                <a:latin typeface="Arial"/>
                <a:ea typeface="Arial"/>
                <a:cs typeface="Arial"/>
                <a:sym typeface="Arial"/>
              </a:rPr>
              <a:t>23,12,800/-Rs</a:t>
            </a:r>
            <a:r>
              <a:rPr lang="de-CH" sz="1100">
                <a:solidFill>
                  <a:srgbClr val="000000"/>
                </a:solidFill>
                <a:latin typeface="Arial"/>
                <a:ea typeface="Arial"/>
                <a:cs typeface="Arial"/>
                <a:sym typeface="Arial"/>
              </a:rPr>
              <a:t> )</a:t>
            </a:r>
            <a:endParaRPr b="1" sz="1100">
              <a:solidFill>
                <a:srgbClr val="000000"/>
              </a:solidFill>
              <a:latin typeface="Arial"/>
              <a:ea typeface="Arial"/>
              <a:cs typeface="Arial"/>
              <a:sym typeface="Arial"/>
            </a:endParaRPr>
          </a:p>
          <a:p>
            <a:pPr indent="-297498" lvl="0" marL="457200" rtl="0" algn="ctr">
              <a:lnSpc>
                <a:spcPct val="115000"/>
              </a:lnSpc>
              <a:spcBef>
                <a:spcPts val="0"/>
              </a:spcBef>
              <a:spcAft>
                <a:spcPts val="0"/>
              </a:spcAft>
              <a:buClr>
                <a:srgbClr val="434343"/>
              </a:buClr>
              <a:buSzPct val="127273"/>
              <a:buFont typeface="Arial"/>
              <a:buChar char="●"/>
            </a:pPr>
            <a:r>
              <a:rPr lang="de-CH" sz="1100">
                <a:solidFill>
                  <a:srgbClr val="000000"/>
                </a:solidFill>
                <a:latin typeface="Arial"/>
                <a:ea typeface="Arial"/>
                <a:cs typeface="Arial"/>
                <a:sym typeface="Arial"/>
              </a:rPr>
              <a:t>HPPRODESK 2 GLA</a:t>
            </a:r>
            <a:endParaRPr sz="1100">
              <a:solidFill>
                <a:srgbClr val="000000"/>
              </a:solidFill>
              <a:latin typeface="Arial"/>
              <a:ea typeface="Arial"/>
              <a:cs typeface="Arial"/>
              <a:sym typeface="Arial"/>
            </a:endParaRPr>
          </a:p>
          <a:p>
            <a:pPr indent="-297498" lvl="0" marL="457200" rtl="0" algn="ctr">
              <a:lnSpc>
                <a:spcPct val="115000"/>
              </a:lnSpc>
              <a:spcBef>
                <a:spcPts val="0"/>
              </a:spcBef>
              <a:spcAft>
                <a:spcPts val="0"/>
              </a:spcAft>
              <a:buClr>
                <a:srgbClr val="434343"/>
              </a:buClr>
              <a:buSzPct val="127273"/>
              <a:buFont typeface="Arial"/>
              <a:buChar char="●"/>
            </a:pPr>
            <a:r>
              <a:rPr lang="de-CH" sz="1100">
                <a:solidFill>
                  <a:srgbClr val="000000"/>
                </a:solidFill>
                <a:latin typeface="Arial"/>
                <a:ea typeface="Arial"/>
                <a:cs typeface="Arial"/>
                <a:sym typeface="Arial"/>
              </a:rPr>
              <a:t>Desktop-D2YL7AT</a:t>
            </a:r>
            <a:endParaRPr sz="1100">
              <a:solidFill>
                <a:srgbClr val="000000"/>
              </a:solidFill>
              <a:latin typeface="Arial"/>
              <a:ea typeface="Arial"/>
              <a:cs typeface="Arial"/>
              <a:sym typeface="Arial"/>
            </a:endParaRPr>
          </a:p>
          <a:p>
            <a:pPr indent="-297498" lvl="0" marL="457200" rtl="0" algn="ctr">
              <a:lnSpc>
                <a:spcPct val="115000"/>
              </a:lnSpc>
              <a:spcBef>
                <a:spcPts val="0"/>
              </a:spcBef>
              <a:spcAft>
                <a:spcPts val="0"/>
              </a:spcAft>
              <a:buClr>
                <a:srgbClr val="434343"/>
              </a:buClr>
              <a:buSzPct val="127273"/>
              <a:buFont typeface="Arial"/>
              <a:buChar char="●"/>
            </a:pPr>
            <a:r>
              <a:rPr lang="de-CH" sz="1100">
                <a:solidFill>
                  <a:srgbClr val="000000"/>
                </a:solidFill>
                <a:latin typeface="Arial"/>
                <a:ea typeface="Arial"/>
                <a:cs typeface="Arial"/>
                <a:sym typeface="Arial"/>
              </a:rPr>
              <a:t>R5</a:t>
            </a:r>
            <a:endParaRPr sz="1100">
              <a:solidFill>
                <a:srgbClr val="000000"/>
              </a:solidFill>
              <a:latin typeface="Arial"/>
              <a:ea typeface="Arial"/>
              <a:cs typeface="Arial"/>
              <a:sym typeface="Arial"/>
            </a:endParaRPr>
          </a:p>
          <a:p>
            <a:pPr indent="-297498" lvl="0" marL="457200" rtl="0" algn="ctr">
              <a:lnSpc>
                <a:spcPct val="115000"/>
              </a:lnSpc>
              <a:spcBef>
                <a:spcPts val="0"/>
              </a:spcBef>
              <a:spcAft>
                <a:spcPts val="0"/>
              </a:spcAft>
              <a:buClr>
                <a:srgbClr val="434343"/>
              </a:buClr>
              <a:buSzPct val="127273"/>
              <a:buFont typeface="Arial"/>
              <a:buChar char="●"/>
            </a:pPr>
            <a:r>
              <a:rPr lang="de-CH" sz="1100">
                <a:solidFill>
                  <a:srgbClr val="000000"/>
                </a:solidFill>
                <a:latin typeface="Arial"/>
                <a:ea typeface="Arial"/>
                <a:cs typeface="Arial"/>
                <a:sym typeface="Arial"/>
              </a:rPr>
              <a:t>16 GB RAM</a:t>
            </a:r>
            <a:endParaRPr sz="1100">
              <a:solidFill>
                <a:srgbClr val="000000"/>
              </a:solidFill>
              <a:latin typeface="Arial"/>
              <a:ea typeface="Arial"/>
              <a:cs typeface="Arial"/>
              <a:sym typeface="Arial"/>
            </a:endParaRPr>
          </a:p>
          <a:p>
            <a:pPr indent="-297498" lvl="0" marL="457200" rtl="0" algn="ctr">
              <a:lnSpc>
                <a:spcPct val="115000"/>
              </a:lnSpc>
              <a:spcBef>
                <a:spcPts val="0"/>
              </a:spcBef>
              <a:spcAft>
                <a:spcPts val="0"/>
              </a:spcAft>
              <a:buClr>
                <a:srgbClr val="434343"/>
              </a:buClr>
              <a:buSzPct val="127273"/>
              <a:buFont typeface="Arial"/>
              <a:buChar char="●"/>
            </a:pPr>
            <a:r>
              <a:rPr lang="de-CH" sz="1100">
                <a:solidFill>
                  <a:srgbClr val="000000"/>
                </a:solidFill>
                <a:latin typeface="Arial"/>
                <a:ea typeface="Arial"/>
                <a:cs typeface="Arial"/>
                <a:sym typeface="Arial"/>
              </a:rPr>
              <a:t>512 GB SSD,</a:t>
            </a:r>
            <a:endParaRPr sz="1100">
              <a:solidFill>
                <a:srgbClr val="000000"/>
              </a:solidFill>
              <a:latin typeface="Arial"/>
              <a:ea typeface="Arial"/>
              <a:cs typeface="Arial"/>
              <a:sym typeface="Arial"/>
            </a:endParaRPr>
          </a:p>
          <a:p>
            <a:pPr indent="-297498" lvl="0" marL="457200" rtl="0" algn="ctr">
              <a:spcBef>
                <a:spcPts val="0"/>
              </a:spcBef>
              <a:spcAft>
                <a:spcPts val="0"/>
              </a:spcAft>
              <a:buClr>
                <a:srgbClr val="434343"/>
              </a:buClr>
              <a:buSzPct val="127273"/>
              <a:buFont typeface="Arial"/>
              <a:buChar char="●"/>
            </a:pPr>
            <a:r>
              <a:rPr lang="de-CH" sz="1100">
                <a:solidFill>
                  <a:srgbClr val="000000"/>
                </a:solidFill>
                <a:latin typeface="Arial"/>
                <a:ea typeface="Arial"/>
                <a:cs typeface="Arial"/>
                <a:sym typeface="Arial"/>
              </a:rPr>
              <a:t>HP 21.5" LED Monitor</a:t>
            </a:r>
            <a:endParaRPr sz="1100">
              <a:solidFill>
                <a:srgbClr val="000000"/>
              </a:solidFill>
              <a:latin typeface="Arial"/>
              <a:ea typeface="Arial"/>
              <a:cs typeface="Arial"/>
              <a:sym typeface="Arial"/>
            </a:endParaRPr>
          </a:p>
          <a:p>
            <a:pPr indent="0" lvl="0" marL="457200" rtl="0" algn="ctr">
              <a:spcBef>
                <a:spcPts val="0"/>
              </a:spcBef>
              <a:spcAft>
                <a:spcPts val="0"/>
              </a:spcAft>
              <a:buNone/>
            </a:pPr>
            <a:r>
              <a:t/>
            </a:r>
            <a:endParaRPr sz="1100">
              <a:solidFill>
                <a:srgbClr val="000000"/>
              </a:solidFill>
              <a:latin typeface="Arial"/>
              <a:ea typeface="Arial"/>
              <a:cs typeface="Arial"/>
              <a:sym typeface="Arial"/>
            </a:endParaRPr>
          </a:p>
          <a:p>
            <a:pPr indent="-314867" lvl="0" marL="457200" rtl="0" algn="ctr">
              <a:spcBef>
                <a:spcPts val="0"/>
              </a:spcBef>
              <a:spcAft>
                <a:spcPts val="0"/>
              </a:spcAft>
              <a:buClr>
                <a:srgbClr val="434343"/>
              </a:buClr>
              <a:buSzPct val="120648"/>
              <a:buFont typeface="Arial"/>
              <a:buChar char="●"/>
            </a:pPr>
            <a:r>
              <a:rPr b="1" lang="de-CH" sz="1453">
                <a:solidFill>
                  <a:srgbClr val="222222"/>
                </a:solidFill>
                <a:latin typeface="Arial"/>
                <a:ea typeface="Arial"/>
                <a:cs typeface="Arial"/>
                <a:sym typeface="Arial"/>
              </a:rPr>
              <a:t>New Desktop Computers = 40Nos having latest configuration as mentioned bellow are purchased &amp; installed </a:t>
            </a:r>
            <a:endParaRPr b="1" sz="1453">
              <a:solidFill>
                <a:srgbClr val="222222"/>
              </a:solidFill>
              <a:latin typeface="Arial"/>
              <a:ea typeface="Arial"/>
              <a:cs typeface="Arial"/>
              <a:sym typeface="Arial"/>
            </a:endParaRPr>
          </a:p>
          <a:p>
            <a:pPr indent="0" lvl="0" marL="457200" rtl="0" algn="ctr">
              <a:spcBef>
                <a:spcPts val="800"/>
              </a:spcBef>
              <a:spcAft>
                <a:spcPts val="0"/>
              </a:spcAft>
              <a:buNone/>
            </a:pPr>
            <a:r>
              <a:rPr b="1" lang="de-CH" sz="1453">
                <a:solidFill>
                  <a:srgbClr val="222222"/>
                </a:solidFill>
                <a:latin typeface="Arial"/>
                <a:ea typeface="Arial"/>
                <a:cs typeface="Arial"/>
                <a:sym typeface="Arial"/>
              </a:rPr>
              <a:t>in “Distributed Computing Lab (Lab-4)” and “System Programming Lab (Lab-8)” :-</a:t>
            </a:r>
            <a:endParaRPr b="1" sz="1453">
              <a:solidFill>
                <a:srgbClr val="222222"/>
              </a:solidFill>
              <a:latin typeface="Arial"/>
              <a:ea typeface="Arial"/>
              <a:cs typeface="Arial"/>
              <a:sym typeface="Arial"/>
            </a:endParaRPr>
          </a:p>
          <a:p>
            <a:pPr indent="-297498" lvl="0" marL="457200" rtl="0" algn="ctr">
              <a:lnSpc>
                <a:spcPct val="115000"/>
              </a:lnSpc>
              <a:spcBef>
                <a:spcPts val="800"/>
              </a:spcBef>
              <a:spcAft>
                <a:spcPts val="0"/>
              </a:spcAft>
              <a:buClr>
                <a:srgbClr val="434343"/>
              </a:buClr>
              <a:buSzPct val="127273"/>
              <a:buFont typeface="Arial"/>
              <a:buChar char="●"/>
            </a:pPr>
            <a:r>
              <a:rPr b="1" lang="de-CH" sz="1100">
                <a:solidFill>
                  <a:srgbClr val="000000"/>
                </a:solidFill>
                <a:latin typeface="Arial"/>
                <a:ea typeface="Arial"/>
                <a:cs typeface="Arial"/>
                <a:sym typeface="Arial"/>
              </a:rPr>
              <a:t>HP Desktop Computer (Total Cost = </a:t>
            </a:r>
            <a:r>
              <a:rPr lang="de-CH" sz="1200">
                <a:solidFill>
                  <a:srgbClr val="000000"/>
                </a:solidFill>
                <a:latin typeface="Arial"/>
                <a:ea typeface="Arial"/>
                <a:cs typeface="Arial"/>
                <a:sym typeface="Arial"/>
              </a:rPr>
              <a:t>26,31,588/-Rs</a:t>
            </a:r>
            <a:r>
              <a:rPr lang="de-CH" sz="1100">
                <a:solidFill>
                  <a:srgbClr val="000000"/>
                </a:solidFill>
                <a:latin typeface="Arial"/>
                <a:ea typeface="Arial"/>
                <a:cs typeface="Arial"/>
                <a:sym typeface="Arial"/>
              </a:rPr>
              <a:t>)</a:t>
            </a:r>
            <a:endParaRPr b="1" sz="1100">
              <a:solidFill>
                <a:srgbClr val="000000"/>
              </a:solidFill>
              <a:latin typeface="Arial"/>
              <a:ea typeface="Arial"/>
              <a:cs typeface="Arial"/>
              <a:sym typeface="Arial"/>
            </a:endParaRPr>
          </a:p>
          <a:p>
            <a:pPr indent="-297498" lvl="0" marL="457200" rtl="0" algn="ctr">
              <a:lnSpc>
                <a:spcPct val="115000"/>
              </a:lnSpc>
              <a:spcBef>
                <a:spcPts val="0"/>
              </a:spcBef>
              <a:spcAft>
                <a:spcPts val="0"/>
              </a:spcAft>
              <a:buClr>
                <a:srgbClr val="434343"/>
              </a:buClr>
              <a:buSzPct val="127273"/>
              <a:buFont typeface="Arial"/>
              <a:buChar char="●"/>
            </a:pPr>
            <a:r>
              <a:rPr lang="de-CH" sz="1100">
                <a:solidFill>
                  <a:srgbClr val="000000"/>
                </a:solidFill>
                <a:latin typeface="Arial"/>
                <a:ea typeface="Arial"/>
                <a:cs typeface="Arial"/>
                <a:sym typeface="Arial"/>
              </a:rPr>
              <a:t>HPPRODESK 2Gla</a:t>
            </a:r>
            <a:endParaRPr sz="1100">
              <a:solidFill>
                <a:srgbClr val="000000"/>
              </a:solidFill>
              <a:latin typeface="Arial"/>
              <a:ea typeface="Arial"/>
              <a:cs typeface="Arial"/>
              <a:sym typeface="Arial"/>
            </a:endParaRPr>
          </a:p>
          <a:p>
            <a:pPr indent="-297498" lvl="0" marL="457200" rtl="0" algn="ctr">
              <a:lnSpc>
                <a:spcPct val="115000"/>
              </a:lnSpc>
              <a:spcBef>
                <a:spcPts val="0"/>
              </a:spcBef>
              <a:spcAft>
                <a:spcPts val="0"/>
              </a:spcAft>
              <a:buClr>
                <a:srgbClr val="434343"/>
              </a:buClr>
              <a:buSzPct val="127273"/>
              <a:buFont typeface="Arial"/>
              <a:buChar char="●"/>
            </a:pPr>
            <a:r>
              <a:rPr lang="de-CH" sz="1100">
                <a:solidFill>
                  <a:srgbClr val="000000"/>
                </a:solidFill>
                <a:latin typeface="Arial"/>
                <a:ea typeface="Arial"/>
                <a:cs typeface="Arial"/>
                <a:sym typeface="Arial"/>
              </a:rPr>
              <a:t>Desktop-D2YL7AT</a:t>
            </a:r>
            <a:endParaRPr sz="1100">
              <a:solidFill>
                <a:srgbClr val="000000"/>
              </a:solidFill>
              <a:latin typeface="Arial"/>
              <a:ea typeface="Arial"/>
              <a:cs typeface="Arial"/>
              <a:sym typeface="Arial"/>
            </a:endParaRPr>
          </a:p>
          <a:p>
            <a:pPr indent="-297498" lvl="0" marL="457200" rtl="0" algn="ctr">
              <a:lnSpc>
                <a:spcPct val="115000"/>
              </a:lnSpc>
              <a:spcBef>
                <a:spcPts val="0"/>
              </a:spcBef>
              <a:spcAft>
                <a:spcPts val="0"/>
              </a:spcAft>
              <a:buClr>
                <a:srgbClr val="434343"/>
              </a:buClr>
              <a:buSzPct val="127273"/>
              <a:buFont typeface="Arial"/>
              <a:buChar char="●"/>
            </a:pPr>
            <a:r>
              <a:rPr lang="de-CH" sz="1100">
                <a:solidFill>
                  <a:srgbClr val="000000"/>
                </a:solidFill>
                <a:latin typeface="Arial"/>
                <a:ea typeface="Arial"/>
                <a:cs typeface="Arial"/>
                <a:sym typeface="Arial"/>
              </a:rPr>
              <a:t>Core I5</a:t>
            </a:r>
            <a:endParaRPr sz="1100">
              <a:solidFill>
                <a:srgbClr val="000000"/>
              </a:solidFill>
              <a:latin typeface="Arial"/>
              <a:ea typeface="Arial"/>
              <a:cs typeface="Arial"/>
              <a:sym typeface="Arial"/>
            </a:endParaRPr>
          </a:p>
          <a:p>
            <a:pPr indent="-297498" lvl="0" marL="457200" rtl="0" algn="ctr">
              <a:lnSpc>
                <a:spcPct val="115000"/>
              </a:lnSpc>
              <a:spcBef>
                <a:spcPts val="0"/>
              </a:spcBef>
              <a:spcAft>
                <a:spcPts val="0"/>
              </a:spcAft>
              <a:buClr>
                <a:srgbClr val="434343"/>
              </a:buClr>
              <a:buSzPct val="127273"/>
              <a:buFont typeface="Arial"/>
              <a:buChar char="●"/>
            </a:pPr>
            <a:r>
              <a:rPr lang="de-CH" sz="1100">
                <a:solidFill>
                  <a:srgbClr val="000000"/>
                </a:solidFill>
                <a:latin typeface="Arial"/>
                <a:ea typeface="Arial"/>
                <a:cs typeface="Arial"/>
                <a:sym typeface="Arial"/>
              </a:rPr>
              <a:t>16 GB RAM</a:t>
            </a:r>
            <a:endParaRPr sz="1100">
              <a:solidFill>
                <a:srgbClr val="000000"/>
              </a:solidFill>
              <a:latin typeface="Arial"/>
              <a:ea typeface="Arial"/>
              <a:cs typeface="Arial"/>
              <a:sym typeface="Arial"/>
            </a:endParaRPr>
          </a:p>
          <a:p>
            <a:pPr indent="-297498" lvl="0" marL="457200" rtl="0" algn="ctr">
              <a:lnSpc>
                <a:spcPct val="115000"/>
              </a:lnSpc>
              <a:spcBef>
                <a:spcPts val="0"/>
              </a:spcBef>
              <a:spcAft>
                <a:spcPts val="0"/>
              </a:spcAft>
              <a:buClr>
                <a:srgbClr val="434343"/>
              </a:buClr>
              <a:buSzPct val="127273"/>
              <a:buFont typeface="Arial"/>
              <a:buChar char="●"/>
            </a:pPr>
            <a:r>
              <a:rPr lang="de-CH" sz="1100">
                <a:solidFill>
                  <a:srgbClr val="000000"/>
                </a:solidFill>
                <a:latin typeface="Arial"/>
                <a:ea typeface="Arial"/>
                <a:cs typeface="Arial"/>
                <a:sym typeface="Arial"/>
              </a:rPr>
              <a:t>512 GB SSD,</a:t>
            </a:r>
            <a:endParaRPr sz="1100">
              <a:solidFill>
                <a:srgbClr val="000000"/>
              </a:solidFill>
              <a:latin typeface="Arial"/>
              <a:ea typeface="Arial"/>
              <a:cs typeface="Arial"/>
              <a:sym typeface="Arial"/>
            </a:endParaRPr>
          </a:p>
          <a:p>
            <a:pPr indent="-297498" lvl="0" marL="457200" rtl="0" algn="ctr">
              <a:lnSpc>
                <a:spcPct val="115000"/>
              </a:lnSpc>
              <a:spcBef>
                <a:spcPts val="0"/>
              </a:spcBef>
              <a:spcAft>
                <a:spcPts val="0"/>
              </a:spcAft>
              <a:buClr>
                <a:srgbClr val="434343"/>
              </a:buClr>
              <a:buSzPct val="127273"/>
              <a:buFont typeface="Arial"/>
              <a:buChar char="●"/>
            </a:pPr>
            <a:r>
              <a:rPr lang="de-CH" sz="1100">
                <a:solidFill>
                  <a:srgbClr val="000000"/>
                </a:solidFill>
                <a:latin typeface="Arial"/>
                <a:ea typeface="Arial"/>
                <a:cs typeface="Arial"/>
                <a:sym typeface="Arial"/>
              </a:rPr>
              <a:t>HP 21.5" LED Monitor</a:t>
            </a:r>
            <a:endParaRPr sz="1100">
              <a:solidFill>
                <a:srgbClr val="000000"/>
              </a:solidFill>
              <a:latin typeface="Arial"/>
              <a:ea typeface="Arial"/>
              <a:cs typeface="Arial"/>
              <a:sym typeface="Arial"/>
            </a:endParaRPr>
          </a:p>
          <a:p>
            <a:pPr indent="-297498" lvl="0" marL="457200" rtl="0" algn="just">
              <a:lnSpc>
                <a:spcPct val="100000"/>
              </a:lnSpc>
              <a:spcBef>
                <a:spcPts val="0"/>
              </a:spcBef>
              <a:spcAft>
                <a:spcPts val="0"/>
              </a:spcAft>
              <a:buClr>
                <a:srgbClr val="434343"/>
              </a:buClr>
              <a:buSzPct val="100000"/>
              <a:buFont typeface="Arial"/>
              <a:buChar char="●"/>
            </a:pPr>
            <a:r>
              <a:t/>
            </a:r>
            <a:endParaRPr sz="1400">
              <a:solidFill>
                <a:srgbClr val="434343"/>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g28ea2419252_1_692"/>
          <p:cNvSpPr txBox="1"/>
          <p:nvPr>
            <p:ph type="title"/>
          </p:nvPr>
        </p:nvSpPr>
        <p:spPr>
          <a:xfrm>
            <a:off x="150575" y="147575"/>
            <a:ext cx="8993400" cy="806700"/>
          </a:xfrm>
          <a:prstGeom prst="rect">
            <a:avLst/>
          </a:prstGeom>
          <a:noFill/>
          <a:ln>
            <a:noFill/>
          </a:ln>
        </p:spPr>
        <p:txBody>
          <a:bodyPr anchorCtr="0" anchor="t" bIns="91425" lIns="91425" spcFirstLastPara="1" rIns="91425" wrap="square" tIns="91425">
            <a:noAutofit/>
          </a:bodyPr>
          <a:lstStyle/>
          <a:p>
            <a:pPr indent="0" lvl="0" marL="50800" rtl="0" algn="just">
              <a:lnSpc>
                <a:spcPct val="115000"/>
              </a:lnSpc>
              <a:spcBef>
                <a:spcPts val="1200"/>
              </a:spcBef>
              <a:spcAft>
                <a:spcPts val="0"/>
              </a:spcAft>
              <a:buSzPts val="3600"/>
              <a:buNone/>
            </a:pPr>
            <a:r>
              <a:rPr lang="de-CH" sz="1800">
                <a:solidFill>
                  <a:srgbClr val="000000"/>
                </a:solidFill>
                <a:latin typeface="Times New Roman"/>
                <a:ea typeface="Times New Roman"/>
                <a:cs typeface="Times New Roman"/>
                <a:sym typeface="Times New Roman"/>
              </a:rPr>
              <a:t>B.6. </a:t>
            </a:r>
            <a:r>
              <a:rPr b="0" lang="de-CH" sz="1800">
                <a:solidFill>
                  <a:srgbClr val="000000"/>
                </a:solidFill>
                <a:latin typeface="Calibri"/>
                <a:ea typeface="Calibri"/>
                <a:cs typeface="Calibri"/>
                <a:sym typeface="Calibri"/>
              </a:rPr>
              <a:t>Support for slow and physically /socially /financially challenged students, and it is demonstrated by the sufficient evidence. </a:t>
            </a:r>
            <a:r>
              <a:rPr lang="de-CH" sz="3000">
                <a:solidFill>
                  <a:srgbClr val="FF0000"/>
                </a:solidFill>
                <a:latin typeface="Calibri"/>
                <a:ea typeface="Calibri"/>
                <a:cs typeface="Calibri"/>
                <a:sym typeface="Calibri"/>
              </a:rPr>
              <a:t> AT</a:t>
            </a:r>
            <a:endParaRPr sz="3000">
              <a:solidFill>
                <a:srgbClr val="FF0000"/>
              </a:solidFill>
              <a:latin typeface="Times New Roman"/>
              <a:ea typeface="Times New Roman"/>
              <a:cs typeface="Times New Roman"/>
              <a:sym typeface="Times New Roman"/>
            </a:endParaRPr>
          </a:p>
        </p:txBody>
      </p:sp>
      <p:sp>
        <p:nvSpPr>
          <p:cNvPr id="253" name="Google Shape;253;g28ea2419252_1_692"/>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2118"/>
              <a:buNone/>
            </a:pPr>
            <a:r>
              <a:t/>
            </a:r>
            <a:endParaRPr/>
          </a:p>
        </p:txBody>
      </p:sp>
      <p:graphicFrame>
        <p:nvGraphicFramePr>
          <p:cNvPr id="254" name="Google Shape;254;g28ea2419252_1_692"/>
          <p:cNvGraphicFramePr/>
          <p:nvPr/>
        </p:nvGraphicFramePr>
        <p:xfrm>
          <a:off x="952500" y="1809750"/>
          <a:ext cx="3000000" cy="3000000"/>
        </p:xfrm>
        <a:graphic>
          <a:graphicData uri="http://schemas.openxmlformats.org/drawingml/2006/table">
            <a:tbl>
              <a:tblPr>
                <a:noFill/>
                <a:tableStyleId>{74466135-534C-4DE0-9D03-2267C9AB3275}</a:tableStyleId>
              </a:tblPr>
              <a:tblGrid>
                <a:gridCol w="1206500"/>
                <a:gridCol w="1206500"/>
                <a:gridCol w="1206500"/>
                <a:gridCol w="1206500"/>
                <a:gridCol w="1206500"/>
              </a:tblGrid>
              <a:tr h="381000">
                <a:tc>
                  <a:txBody>
                    <a:bodyPr/>
                    <a:lstStyle/>
                    <a:p>
                      <a:pPr indent="0" lvl="0" marL="0" rtl="0" algn="l">
                        <a:spcBef>
                          <a:spcPts val="0"/>
                        </a:spcBef>
                        <a:spcAft>
                          <a:spcPts val="0"/>
                        </a:spcAft>
                        <a:buNone/>
                      </a:pPr>
                      <a:r>
                        <a:rPr lang="de-CH"/>
                        <a:t>Faculty Name</a:t>
                      </a:r>
                      <a:endParaRPr/>
                    </a:p>
                  </a:txBody>
                  <a:tcPr marT="91425" marB="91425" marR="91425" marL="91425"/>
                </a:tc>
                <a:tc>
                  <a:txBody>
                    <a:bodyPr/>
                    <a:lstStyle/>
                    <a:p>
                      <a:pPr indent="0" lvl="0" marL="0" rtl="0" algn="l">
                        <a:spcBef>
                          <a:spcPts val="0"/>
                        </a:spcBef>
                        <a:spcAft>
                          <a:spcPts val="0"/>
                        </a:spcAft>
                        <a:buNone/>
                      </a:pPr>
                      <a:r>
                        <a:rPr lang="de-CH"/>
                        <a:t>Subject </a:t>
                      </a:r>
                      <a:endParaRPr/>
                    </a:p>
                  </a:txBody>
                  <a:tcPr marT="91425" marB="91425" marR="91425" marL="91425"/>
                </a:tc>
                <a:tc>
                  <a:txBody>
                    <a:bodyPr/>
                    <a:lstStyle/>
                    <a:p>
                      <a:pPr indent="0" lvl="0" marL="0" rtl="0" algn="l">
                        <a:spcBef>
                          <a:spcPts val="0"/>
                        </a:spcBef>
                        <a:spcAft>
                          <a:spcPts val="0"/>
                        </a:spcAft>
                        <a:buNone/>
                      </a:pPr>
                      <a:r>
                        <a:rPr lang="de-CH"/>
                        <a:t>Semester </a:t>
                      </a:r>
                      <a:endParaRPr/>
                    </a:p>
                  </a:txBody>
                  <a:tcPr marT="91425" marB="91425" marR="91425" marL="91425"/>
                </a:tc>
                <a:tc>
                  <a:txBody>
                    <a:bodyPr/>
                    <a:lstStyle/>
                    <a:p>
                      <a:pPr indent="0" lvl="0" marL="0" rtl="0" algn="l">
                        <a:spcBef>
                          <a:spcPts val="0"/>
                        </a:spcBef>
                        <a:spcAft>
                          <a:spcPts val="0"/>
                        </a:spcAft>
                        <a:buNone/>
                      </a:pPr>
                      <a:r>
                        <a:rPr lang="de-CH"/>
                        <a:t>Type</a:t>
                      </a:r>
                      <a:endParaRPr/>
                    </a:p>
                  </a:txBody>
                  <a:tcPr marT="91425" marB="91425" marR="91425" marL="91425"/>
                </a:tc>
                <a:tc>
                  <a:txBody>
                    <a:bodyPr/>
                    <a:lstStyle/>
                    <a:p>
                      <a:pPr indent="0" lvl="0" marL="0" rtl="0" algn="l">
                        <a:spcBef>
                          <a:spcPts val="0"/>
                        </a:spcBef>
                        <a:spcAft>
                          <a:spcPts val="0"/>
                        </a:spcAft>
                        <a:buNone/>
                      </a:pPr>
                      <a:r>
                        <a:rPr lang="de-CH"/>
                        <a:t>Count of Hours</a:t>
                      </a:r>
                      <a:endParaRPr/>
                    </a:p>
                  </a:txBody>
                  <a:tcPr marT="91425" marB="91425" marR="91425" marL="91425"/>
                </a:tc>
              </a:tr>
              <a:tr h="381000">
                <a:tc>
                  <a:txBody>
                    <a:bodyPr/>
                    <a:lstStyle/>
                    <a:p>
                      <a:pPr indent="0" lvl="0" marL="0" rtl="0" algn="l">
                        <a:spcBef>
                          <a:spcPts val="0"/>
                        </a:spcBef>
                        <a:spcAft>
                          <a:spcPts val="0"/>
                        </a:spcAft>
                        <a:buNone/>
                      </a:pPr>
                      <a:r>
                        <a:rPr lang="de-CH"/>
                        <a:t>Swapnali Kurhade</a:t>
                      </a:r>
                      <a:endParaRPr/>
                    </a:p>
                  </a:txBody>
                  <a:tcPr marT="91425" marB="91425" marR="91425" marL="91425"/>
                </a:tc>
                <a:tc>
                  <a:txBody>
                    <a:bodyPr/>
                    <a:lstStyle/>
                    <a:p>
                      <a:pPr indent="0" lvl="0" marL="0" rtl="0" algn="l">
                        <a:spcBef>
                          <a:spcPts val="0"/>
                        </a:spcBef>
                        <a:spcAft>
                          <a:spcPts val="0"/>
                        </a:spcAft>
                        <a:buNone/>
                      </a:pPr>
                      <a:r>
                        <a:rPr lang="de-CH"/>
                        <a:t>Operating Systems</a:t>
                      </a:r>
                      <a:endParaRPr/>
                    </a:p>
                  </a:txBody>
                  <a:tcPr marT="91425" marB="91425" marR="91425" marL="91425"/>
                </a:tc>
                <a:tc>
                  <a:txBody>
                    <a:bodyPr/>
                    <a:lstStyle/>
                    <a:p>
                      <a:pPr indent="0" lvl="0" marL="0" rtl="0" algn="l">
                        <a:spcBef>
                          <a:spcPts val="0"/>
                        </a:spcBef>
                        <a:spcAft>
                          <a:spcPts val="0"/>
                        </a:spcAft>
                        <a:buNone/>
                      </a:pPr>
                      <a:r>
                        <a:rPr lang="de-CH"/>
                        <a:t>4</a:t>
                      </a:r>
                      <a:endParaRPr/>
                    </a:p>
                  </a:txBody>
                  <a:tcPr marT="91425" marB="91425" marR="91425" marL="91425"/>
                </a:tc>
                <a:tc>
                  <a:txBody>
                    <a:bodyPr/>
                    <a:lstStyle/>
                    <a:p>
                      <a:pPr indent="0" lvl="0" marL="0" rtl="0" algn="l">
                        <a:spcBef>
                          <a:spcPts val="0"/>
                        </a:spcBef>
                        <a:spcAft>
                          <a:spcPts val="0"/>
                        </a:spcAft>
                        <a:buNone/>
                      </a:pPr>
                      <a:r>
                        <a:rPr lang="de-CH"/>
                        <a:t>Remedial Assignment</a:t>
                      </a:r>
                      <a:endParaRPr/>
                    </a:p>
                  </a:txBody>
                  <a:tcPr marT="91425" marB="91425" marR="91425" marL="91425"/>
                </a:tc>
                <a:tc>
                  <a:txBody>
                    <a:bodyPr/>
                    <a:lstStyle/>
                    <a:p>
                      <a:pPr indent="0" lvl="0" marL="0" rtl="0" algn="l">
                        <a:spcBef>
                          <a:spcPts val="0"/>
                        </a:spcBef>
                        <a:spcAft>
                          <a:spcPts val="0"/>
                        </a:spcAft>
                        <a:buNone/>
                      </a:pPr>
                      <a:r>
                        <a:rPr lang="de-CH"/>
                        <a:t>3</a:t>
                      </a:r>
                      <a:endParaRPr/>
                    </a:p>
                  </a:txBody>
                  <a:tcPr marT="91425" marB="91425" marR="91425" marL="91425"/>
                </a:tc>
              </a:tr>
              <a:tr h="381000">
                <a:tc>
                  <a:txBody>
                    <a:bodyPr/>
                    <a:lstStyle/>
                    <a:p>
                      <a:pPr indent="0" lvl="0" marL="0" rtl="0" algn="l">
                        <a:spcBef>
                          <a:spcPts val="0"/>
                        </a:spcBef>
                        <a:spcAft>
                          <a:spcPts val="0"/>
                        </a:spcAft>
                        <a:buNone/>
                      </a:pPr>
                      <a:r>
                        <a:rPr lang="de-CH"/>
                        <a:t>Jyoti Ramteke</a:t>
                      </a:r>
                      <a:endParaRPr/>
                    </a:p>
                  </a:txBody>
                  <a:tcPr marT="91425" marB="91425" marR="91425" marL="91425"/>
                </a:tc>
                <a:tc>
                  <a:txBody>
                    <a:bodyPr/>
                    <a:lstStyle/>
                    <a:p>
                      <a:pPr indent="0" lvl="0" marL="0" rtl="0" algn="l">
                        <a:spcBef>
                          <a:spcPts val="0"/>
                        </a:spcBef>
                        <a:spcAft>
                          <a:spcPts val="0"/>
                        </a:spcAft>
                        <a:buNone/>
                      </a:pPr>
                      <a:r>
                        <a:rPr lang="de-CH"/>
                        <a:t>Artificial Intelligence and Soft Computing</a:t>
                      </a:r>
                      <a:endParaRPr/>
                    </a:p>
                  </a:txBody>
                  <a:tcPr marT="91425" marB="91425" marR="91425" marL="91425"/>
                </a:tc>
                <a:tc>
                  <a:txBody>
                    <a:bodyPr/>
                    <a:lstStyle/>
                    <a:p>
                      <a:pPr indent="0" lvl="0" marL="0" rtl="0" algn="l">
                        <a:spcBef>
                          <a:spcPts val="0"/>
                        </a:spcBef>
                        <a:spcAft>
                          <a:spcPts val="0"/>
                        </a:spcAft>
                        <a:buNone/>
                      </a:pPr>
                      <a:r>
                        <a:rPr lang="de-CH"/>
                        <a:t>5</a:t>
                      </a:r>
                      <a:endParaRPr/>
                    </a:p>
                  </a:txBody>
                  <a:tcPr marT="91425" marB="91425" marR="91425" marL="91425"/>
                </a:tc>
                <a:tc>
                  <a:txBody>
                    <a:bodyPr/>
                    <a:lstStyle/>
                    <a:p>
                      <a:pPr indent="0" lvl="0" marL="0" rtl="0" algn="l">
                        <a:spcBef>
                          <a:spcPts val="0"/>
                        </a:spcBef>
                        <a:spcAft>
                          <a:spcPts val="0"/>
                        </a:spcAft>
                        <a:buNone/>
                      </a:pPr>
                      <a:r>
                        <a:rPr lang="de-CH"/>
                        <a:t>Remedial Assignment</a:t>
                      </a:r>
                      <a:endParaRPr/>
                    </a:p>
                  </a:txBody>
                  <a:tcPr marT="91425" marB="91425" marR="91425" marL="91425"/>
                </a:tc>
                <a:tc>
                  <a:txBody>
                    <a:bodyPr/>
                    <a:lstStyle/>
                    <a:p>
                      <a:pPr indent="0" lvl="0" marL="0" rtl="0" algn="l">
                        <a:spcBef>
                          <a:spcPts val="0"/>
                        </a:spcBef>
                        <a:spcAft>
                          <a:spcPts val="0"/>
                        </a:spcAft>
                        <a:buNone/>
                      </a:pPr>
                      <a:r>
                        <a:rPr lang="de-CH"/>
                        <a:t>3</a:t>
                      </a:r>
                      <a:endParaRPr/>
                    </a:p>
                  </a:txBody>
                  <a:tcPr marT="91425" marB="91425" marR="91425" marL="91425"/>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28ea2419252_1_697"/>
          <p:cNvSpPr txBox="1"/>
          <p:nvPr>
            <p:ph type="title"/>
          </p:nvPr>
        </p:nvSpPr>
        <p:spPr>
          <a:xfrm>
            <a:off x="113400" y="147575"/>
            <a:ext cx="9030600" cy="794400"/>
          </a:xfrm>
          <a:prstGeom prst="rect">
            <a:avLst/>
          </a:prstGeom>
          <a:noFill/>
          <a:ln>
            <a:noFill/>
          </a:ln>
        </p:spPr>
        <p:txBody>
          <a:bodyPr anchorCtr="0" anchor="t" bIns="91425" lIns="91425" spcFirstLastPara="1" rIns="91425" wrap="square" tIns="91425">
            <a:noAutofit/>
          </a:bodyPr>
          <a:lstStyle/>
          <a:p>
            <a:pPr indent="0" lvl="0" marL="88900" rtl="0" algn="just">
              <a:lnSpc>
                <a:spcPct val="115000"/>
              </a:lnSpc>
              <a:spcBef>
                <a:spcPts val="1200"/>
              </a:spcBef>
              <a:spcAft>
                <a:spcPts val="0"/>
              </a:spcAft>
              <a:buSzPts val="3600"/>
              <a:buNone/>
            </a:pPr>
            <a:r>
              <a:rPr lang="de-CH" sz="1800">
                <a:solidFill>
                  <a:srgbClr val="000000"/>
                </a:solidFill>
                <a:latin typeface="Times New Roman"/>
                <a:ea typeface="Times New Roman"/>
                <a:cs typeface="Times New Roman"/>
                <a:sym typeface="Times New Roman"/>
              </a:rPr>
              <a:t>B. 7.</a:t>
            </a:r>
            <a:r>
              <a:rPr b="0" lang="de-CH" sz="1800">
                <a:solidFill>
                  <a:srgbClr val="000000"/>
                </a:solidFill>
                <a:latin typeface="Calibri"/>
                <a:ea typeface="Calibri"/>
                <a:cs typeface="Calibri"/>
                <a:sym typeface="Calibri"/>
              </a:rPr>
              <a:t>Department takes cautious efforts to challenge the bright students and provides them enough opportunities to demonstrate distinctive performance.</a:t>
            </a:r>
            <a:r>
              <a:rPr lang="de-CH" sz="1800">
                <a:solidFill>
                  <a:srgbClr val="000000"/>
                </a:solidFill>
                <a:latin typeface="Times New Roman"/>
                <a:ea typeface="Times New Roman"/>
                <a:cs typeface="Times New Roman"/>
                <a:sym typeface="Times New Roman"/>
              </a:rPr>
              <a:t>  </a:t>
            </a:r>
            <a:r>
              <a:rPr lang="de-CH" sz="3000">
                <a:solidFill>
                  <a:srgbClr val="FF0000"/>
                </a:solidFill>
                <a:latin typeface="Times New Roman"/>
                <a:ea typeface="Times New Roman"/>
                <a:cs typeface="Times New Roman"/>
                <a:sym typeface="Times New Roman"/>
              </a:rPr>
              <a:t>AT</a:t>
            </a:r>
            <a:endParaRPr sz="3000">
              <a:solidFill>
                <a:srgbClr val="FF0000"/>
              </a:solidFill>
            </a:endParaRPr>
          </a:p>
          <a:p>
            <a:pPr indent="0" lvl="0" marL="88900" rtl="0" algn="just">
              <a:lnSpc>
                <a:spcPct val="115000"/>
              </a:lnSpc>
              <a:spcBef>
                <a:spcPts val="1200"/>
              </a:spcBef>
              <a:spcAft>
                <a:spcPts val="1200"/>
              </a:spcAft>
              <a:buSzPts val="3600"/>
              <a:buNone/>
            </a:pPr>
            <a:r>
              <a:t/>
            </a:r>
            <a:endParaRPr sz="1800">
              <a:solidFill>
                <a:srgbClr val="000000"/>
              </a:solidFill>
              <a:latin typeface="Times New Roman"/>
              <a:ea typeface="Times New Roman"/>
              <a:cs typeface="Times New Roman"/>
              <a:sym typeface="Times New Roman"/>
            </a:endParaRPr>
          </a:p>
        </p:txBody>
      </p:sp>
      <p:sp>
        <p:nvSpPr>
          <p:cNvPr id="260" name="Google Shape;260;g28ea2419252_1_697"/>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t/>
            </a:r>
            <a:endParaRPr sz="16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lang="de-CH" sz="1600">
                <a:solidFill>
                  <a:srgbClr val="000000"/>
                </a:solidFill>
                <a:latin typeface="Arial"/>
                <a:ea typeface="Arial"/>
                <a:cs typeface="Arial"/>
                <a:sym typeface="Arial"/>
              </a:rPr>
              <a:t>Disk scheduling simulator for fast learners:</a:t>
            </a:r>
            <a:endParaRPr sz="16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lang="de-CH" sz="1600">
                <a:solidFill>
                  <a:srgbClr val="000000"/>
                </a:solidFill>
                <a:latin typeface="Arial"/>
                <a:ea typeface="Arial"/>
                <a:cs typeface="Arial"/>
                <a:sym typeface="Arial"/>
              </a:rPr>
              <a:t>Algorithm/ Logic Implementation: </a:t>
            </a:r>
            <a:r>
              <a:rPr b="1" lang="de-CH" sz="1600">
                <a:solidFill>
                  <a:srgbClr val="000000"/>
                </a:solidFill>
                <a:latin typeface="Arial"/>
                <a:ea typeface="Arial"/>
                <a:cs typeface="Arial"/>
                <a:sym typeface="Arial"/>
              </a:rPr>
              <a:t>8 – 12 hours </a:t>
            </a:r>
            <a:endParaRPr b="1" sz="16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lang="de-CH" sz="1600">
                <a:solidFill>
                  <a:srgbClr val="000000"/>
                </a:solidFill>
                <a:latin typeface="Arial"/>
                <a:ea typeface="Arial"/>
                <a:cs typeface="Arial"/>
                <a:sym typeface="Arial"/>
              </a:rPr>
              <a:t>Canvas &amp; Animation Engine : </a:t>
            </a:r>
            <a:r>
              <a:rPr b="1" lang="de-CH" sz="1600">
                <a:solidFill>
                  <a:srgbClr val="000000"/>
                </a:solidFill>
                <a:latin typeface="Arial"/>
                <a:ea typeface="Arial"/>
                <a:cs typeface="Arial"/>
                <a:sym typeface="Arial"/>
              </a:rPr>
              <a:t>12-15 hours</a:t>
            </a:r>
            <a:endParaRPr b="1" sz="16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lang="de-CH" sz="1600">
                <a:solidFill>
                  <a:srgbClr val="000000"/>
                </a:solidFill>
                <a:latin typeface="Arial"/>
                <a:ea typeface="Arial"/>
                <a:cs typeface="Arial"/>
                <a:sym typeface="Arial"/>
              </a:rPr>
              <a:t>UI Design:                                </a:t>
            </a:r>
            <a:r>
              <a:rPr b="1" lang="de-CH" sz="1600">
                <a:solidFill>
                  <a:srgbClr val="000000"/>
                </a:solidFill>
                <a:latin typeface="Arial"/>
                <a:ea typeface="Arial"/>
                <a:cs typeface="Arial"/>
                <a:sym typeface="Arial"/>
              </a:rPr>
              <a:t>10-15 hours</a:t>
            </a:r>
            <a:endParaRPr b="1" sz="16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lang="de-CH" sz="1600">
                <a:solidFill>
                  <a:srgbClr val="000000"/>
                </a:solidFill>
                <a:latin typeface="Arial"/>
                <a:ea typeface="Arial"/>
                <a:cs typeface="Arial"/>
                <a:sym typeface="Arial"/>
              </a:rPr>
              <a:t>Integration &amp; Results Tracking :  </a:t>
            </a:r>
            <a:r>
              <a:rPr b="1" lang="de-CH" sz="1600">
                <a:solidFill>
                  <a:srgbClr val="000000"/>
                </a:solidFill>
                <a:latin typeface="Arial"/>
                <a:ea typeface="Arial"/>
                <a:cs typeface="Arial"/>
                <a:sym typeface="Arial"/>
              </a:rPr>
              <a:t>6-10 hours</a:t>
            </a:r>
            <a:endParaRPr b="1" sz="16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lang="de-CH" sz="1600">
                <a:solidFill>
                  <a:srgbClr val="000000"/>
                </a:solidFill>
                <a:latin typeface="Arial"/>
                <a:ea typeface="Arial"/>
                <a:cs typeface="Arial"/>
                <a:sym typeface="Arial"/>
              </a:rPr>
              <a:t>Testing, Debugging :                   </a:t>
            </a:r>
            <a:r>
              <a:rPr b="1" lang="de-CH" sz="1600">
                <a:solidFill>
                  <a:srgbClr val="000000"/>
                </a:solidFill>
                <a:latin typeface="Arial"/>
                <a:ea typeface="Arial"/>
                <a:cs typeface="Arial"/>
                <a:sym typeface="Arial"/>
              </a:rPr>
              <a:t>5-8 hours</a:t>
            </a:r>
            <a:endParaRPr b="1" sz="16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lang="de-CH" sz="1600">
                <a:solidFill>
                  <a:srgbClr val="000000"/>
                </a:solidFill>
                <a:latin typeface="Arial"/>
                <a:ea typeface="Arial"/>
                <a:cs typeface="Arial"/>
                <a:sym typeface="Arial"/>
              </a:rPr>
              <a:t>Deployment &amp; Documentation : </a:t>
            </a:r>
            <a:r>
              <a:rPr b="1" lang="de-CH" sz="1600">
                <a:solidFill>
                  <a:srgbClr val="000000"/>
                </a:solidFill>
                <a:latin typeface="Arial"/>
                <a:ea typeface="Arial"/>
                <a:cs typeface="Arial"/>
                <a:sym typeface="Arial"/>
              </a:rPr>
              <a:t>3-5 hours</a:t>
            </a:r>
            <a:endParaRPr b="1" sz="16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lang="de-CH" sz="1600">
                <a:solidFill>
                  <a:srgbClr val="000000"/>
                </a:solidFill>
                <a:latin typeface="Arial"/>
                <a:ea typeface="Arial"/>
                <a:cs typeface="Arial"/>
                <a:sym typeface="Arial"/>
              </a:rPr>
              <a:t> </a:t>
            </a:r>
            <a:endParaRPr sz="16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lang="de-CH" sz="1600">
                <a:solidFill>
                  <a:srgbClr val="000000"/>
                </a:solidFill>
                <a:latin typeface="Arial"/>
                <a:ea typeface="Arial"/>
                <a:cs typeface="Arial"/>
                <a:sym typeface="Arial"/>
              </a:rPr>
              <a:t>Total time = ~54 hours</a:t>
            </a:r>
            <a:endParaRPr sz="1600">
              <a:solidFill>
                <a:srgbClr val="000000"/>
              </a:solidFill>
              <a:latin typeface="Arial"/>
              <a:ea typeface="Arial"/>
              <a:cs typeface="Arial"/>
              <a:sym typeface="Arial"/>
            </a:endParaRPr>
          </a:p>
          <a:p>
            <a:pPr indent="0" lvl="0" marL="457200" rtl="0" algn="l">
              <a:lnSpc>
                <a:spcPct val="115000"/>
              </a:lnSpc>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g28ea2419252_1_702"/>
          <p:cNvSpPr txBox="1"/>
          <p:nvPr>
            <p:ph type="title"/>
          </p:nvPr>
        </p:nvSpPr>
        <p:spPr>
          <a:xfrm>
            <a:off x="88600" y="110375"/>
            <a:ext cx="8996100" cy="6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de-CH" sz="1800">
                <a:latin typeface="Times New Roman"/>
                <a:ea typeface="Times New Roman"/>
                <a:cs typeface="Times New Roman"/>
                <a:sym typeface="Times New Roman"/>
              </a:rPr>
              <a:t>B.8.</a:t>
            </a:r>
            <a:r>
              <a:rPr b="0" lang="de-CH" sz="1800">
                <a:solidFill>
                  <a:srgbClr val="000000"/>
                </a:solidFill>
                <a:latin typeface="Calibri"/>
                <a:ea typeface="Calibri"/>
                <a:cs typeface="Calibri"/>
                <a:sym typeface="Calibri"/>
              </a:rPr>
              <a:t>Student competency in terms of placements/ success in competitive  examinations / selection for higher studies in reputed Universities/ institutes?  </a:t>
            </a:r>
            <a:r>
              <a:rPr lang="de-CH" sz="3000">
                <a:solidFill>
                  <a:srgbClr val="FF0000"/>
                </a:solidFill>
                <a:latin typeface="Calibri"/>
                <a:ea typeface="Calibri"/>
                <a:cs typeface="Calibri"/>
                <a:sym typeface="Calibri"/>
              </a:rPr>
              <a:t>Swapnali K</a:t>
            </a:r>
            <a:endParaRPr sz="3000">
              <a:solidFill>
                <a:srgbClr val="FF0000"/>
              </a:solidFill>
              <a:latin typeface="Times New Roman"/>
              <a:ea typeface="Times New Roman"/>
              <a:cs typeface="Times New Roman"/>
              <a:sym typeface="Times New Roman"/>
            </a:endParaRPr>
          </a:p>
        </p:txBody>
      </p:sp>
      <p:sp>
        <p:nvSpPr>
          <p:cNvPr id="266" name="Google Shape;266;g28ea2419252_1_702"/>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t/>
            </a:r>
            <a:endParaRPr>
              <a:solidFill>
                <a:schemeClr val="dk2"/>
              </a:solidFill>
            </a:endParaRPr>
          </a:p>
        </p:txBody>
      </p:sp>
      <p:pic>
        <p:nvPicPr>
          <p:cNvPr id="267" name="Google Shape;267;g28ea2419252_1_702"/>
          <p:cNvPicPr preferRelativeResize="0"/>
          <p:nvPr/>
        </p:nvPicPr>
        <p:blipFill>
          <a:blip r:embed="rId3">
            <a:alphaModFix/>
          </a:blip>
          <a:stretch>
            <a:fillRect/>
          </a:stretch>
        </p:blipFill>
        <p:spPr>
          <a:xfrm>
            <a:off x="250825" y="953075"/>
            <a:ext cx="8449274" cy="399629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hd72da3054435e2_4_0"/>
          <p:cNvSpPr txBox="1"/>
          <p:nvPr>
            <p:ph type="title"/>
          </p:nvPr>
        </p:nvSpPr>
        <p:spPr>
          <a:xfrm>
            <a:off x="311700" y="521425"/>
            <a:ext cx="8221800" cy="74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CH"/>
              <a:t>Higher Studies 2024-25 and 2025-26</a:t>
            </a:r>
            <a:endParaRPr/>
          </a:p>
        </p:txBody>
      </p:sp>
      <p:sp>
        <p:nvSpPr>
          <p:cNvPr id="273" name="Google Shape;273;hd72da3054435e2_4_0"/>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graphicFrame>
        <p:nvGraphicFramePr>
          <p:cNvPr id="274" name="Google Shape;274;hd72da3054435e2_4_0"/>
          <p:cNvGraphicFramePr/>
          <p:nvPr/>
        </p:nvGraphicFramePr>
        <p:xfrm>
          <a:off x="952500" y="2000250"/>
          <a:ext cx="3000000" cy="3000000"/>
        </p:xfrm>
        <a:graphic>
          <a:graphicData uri="http://schemas.openxmlformats.org/drawingml/2006/table">
            <a:tbl>
              <a:tblPr>
                <a:noFill/>
                <a:tableStyleId>{74466135-534C-4DE0-9D03-2267C9AB3275}</a:tableStyleId>
              </a:tblPr>
              <a:tblGrid>
                <a:gridCol w="1087350"/>
                <a:gridCol w="1487200"/>
              </a:tblGrid>
              <a:tr h="381000">
                <a:tc>
                  <a:txBody>
                    <a:bodyPr/>
                    <a:lstStyle/>
                    <a:p>
                      <a:pPr indent="0" lvl="0" marL="0" rtl="0" algn="l">
                        <a:spcBef>
                          <a:spcPts val="0"/>
                        </a:spcBef>
                        <a:spcAft>
                          <a:spcPts val="0"/>
                        </a:spcAft>
                        <a:buNone/>
                      </a:pPr>
                      <a:r>
                        <a:rPr b="1" lang="de-CH"/>
                        <a:t>AY</a:t>
                      </a:r>
                      <a:endParaRPr b="1"/>
                    </a:p>
                  </a:txBody>
                  <a:tcPr marT="91425" marB="91425" marR="91425" marL="91425"/>
                </a:tc>
                <a:tc>
                  <a:txBody>
                    <a:bodyPr/>
                    <a:lstStyle/>
                    <a:p>
                      <a:pPr indent="0" lvl="0" marL="0" rtl="0" algn="l">
                        <a:spcBef>
                          <a:spcPts val="0"/>
                        </a:spcBef>
                        <a:spcAft>
                          <a:spcPts val="0"/>
                        </a:spcAft>
                        <a:buNone/>
                      </a:pPr>
                      <a:r>
                        <a:rPr b="1" lang="de-CH"/>
                        <a:t>Count</a:t>
                      </a:r>
                      <a:endParaRPr b="1"/>
                    </a:p>
                  </a:txBody>
                  <a:tcPr marT="91425" marB="91425" marR="91425" marL="91425"/>
                </a:tc>
              </a:tr>
              <a:tr h="381000">
                <a:tc>
                  <a:txBody>
                    <a:bodyPr/>
                    <a:lstStyle/>
                    <a:p>
                      <a:pPr indent="0" lvl="0" marL="0" rtl="0" algn="l">
                        <a:spcBef>
                          <a:spcPts val="0"/>
                        </a:spcBef>
                        <a:spcAft>
                          <a:spcPts val="0"/>
                        </a:spcAft>
                        <a:buNone/>
                      </a:pPr>
                      <a:r>
                        <a:rPr lang="de-CH"/>
                        <a:t>2024-25</a:t>
                      </a:r>
                      <a:endParaRPr/>
                    </a:p>
                  </a:txBody>
                  <a:tcPr marT="91425" marB="91425" marR="91425" marL="91425"/>
                </a:tc>
                <a:tc>
                  <a:txBody>
                    <a:bodyPr/>
                    <a:lstStyle/>
                    <a:p>
                      <a:pPr indent="0" lvl="0" marL="0" rtl="0" algn="l">
                        <a:spcBef>
                          <a:spcPts val="0"/>
                        </a:spcBef>
                        <a:spcAft>
                          <a:spcPts val="0"/>
                        </a:spcAft>
                        <a:buNone/>
                      </a:pPr>
                      <a:r>
                        <a:rPr lang="de-CH"/>
                        <a:t>13</a:t>
                      </a:r>
                      <a:endParaRPr/>
                    </a:p>
                  </a:txBody>
                  <a:tcPr marT="91425" marB="91425" marR="91425" marL="91425"/>
                </a:tc>
              </a:tr>
              <a:tr h="381000">
                <a:tc>
                  <a:txBody>
                    <a:bodyPr/>
                    <a:lstStyle/>
                    <a:p>
                      <a:pPr indent="0" lvl="0" marL="0" rtl="0" algn="l">
                        <a:spcBef>
                          <a:spcPts val="0"/>
                        </a:spcBef>
                        <a:spcAft>
                          <a:spcPts val="0"/>
                        </a:spcAft>
                        <a:buNone/>
                      </a:pPr>
                      <a:r>
                        <a:rPr lang="de-CH"/>
                        <a:t>2025-26</a:t>
                      </a:r>
                      <a:endParaRPr/>
                    </a:p>
                  </a:txBody>
                  <a:tcPr marT="91425" marB="91425" marR="91425" marL="91425"/>
                </a:tc>
                <a:tc>
                  <a:txBody>
                    <a:bodyPr/>
                    <a:lstStyle/>
                    <a:p>
                      <a:pPr indent="0" lvl="0" marL="0" rtl="0" algn="l">
                        <a:spcBef>
                          <a:spcPts val="0"/>
                        </a:spcBef>
                        <a:spcAft>
                          <a:spcPts val="0"/>
                        </a:spcAft>
                        <a:buNone/>
                      </a:pPr>
                      <a:r>
                        <a:rPr lang="de-CH"/>
                        <a:t>25</a:t>
                      </a:r>
                      <a:endParaRPr/>
                    </a:p>
                  </a:txBody>
                  <a:tcPr marT="91425" marB="91425" marR="91425" marL="91425"/>
                </a:tc>
              </a:tr>
            </a:tbl>
          </a:graphicData>
        </a:graphic>
      </p:graphicFrame>
      <p:pic>
        <p:nvPicPr>
          <p:cNvPr id="275" name="Google Shape;275;hd72da3054435e2_4_0"/>
          <p:cNvPicPr preferRelativeResize="0"/>
          <p:nvPr/>
        </p:nvPicPr>
        <p:blipFill>
          <a:blip r:embed="rId3">
            <a:alphaModFix/>
          </a:blip>
          <a:stretch>
            <a:fillRect/>
          </a:stretch>
        </p:blipFill>
        <p:spPr>
          <a:xfrm>
            <a:off x="3774850" y="1596000"/>
            <a:ext cx="5124575" cy="30802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g28ea2419252_1_727"/>
          <p:cNvSpPr txBox="1"/>
          <p:nvPr>
            <p:ph type="title"/>
          </p:nvPr>
        </p:nvSpPr>
        <p:spPr>
          <a:xfrm>
            <a:off x="612650" y="2143050"/>
            <a:ext cx="8473500" cy="8574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SzPct val="55555"/>
              <a:buNone/>
            </a:pPr>
            <a:r>
              <a:rPr lang="de-CH">
                <a:latin typeface="Times New Roman"/>
                <a:ea typeface="Times New Roman"/>
                <a:cs typeface="Times New Roman"/>
                <a:sym typeface="Times New Roman"/>
              </a:rPr>
              <a:t>C. Assessment and Evaluation</a:t>
            </a:r>
            <a:endParaRPr>
              <a:latin typeface="Times New Roman"/>
              <a:ea typeface="Times New Roman"/>
              <a:cs typeface="Times New Roman"/>
              <a:sym typeface="Times New Roman"/>
            </a:endParaRPr>
          </a:p>
          <a:p>
            <a:pPr indent="0" lvl="0" marL="0" rtl="0" algn="ctr">
              <a:lnSpc>
                <a:spcPct val="100000"/>
              </a:lnSpc>
              <a:spcBef>
                <a:spcPts val="0"/>
              </a:spcBef>
              <a:spcAft>
                <a:spcPts val="0"/>
              </a:spcAft>
              <a:buSzPct val="55555"/>
              <a:buNone/>
            </a:pPr>
            <a:r>
              <a:t/>
            </a:r>
            <a:endParaRPr>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2ec5f4765d8_4_9"/>
          <p:cNvSpPr txBox="1"/>
          <p:nvPr>
            <p:ph idx="1" type="body"/>
          </p:nvPr>
        </p:nvSpPr>
        <p:spPr>
          <a:xfrm>
            <a:off x="457200" y="1110996"/>
            <a:ext cx="8229600" cy="3394500"/>
          </a:xfrm>
          <a:prstGeom prst="rect">
            <a:avLst/>
          </a:prstGeom>
          <a:noFill/>
          <a:ln>
            <a:noFill/>
          </a:ln>
        </p:spPr>
        <p:txBody>
          <a:bodyPr anchorCtr="0" anchor="t" bIns="45700" lIns="91425" spcFirstLastPara="1" rIns="91425" wrap="square" tIns="45700">
            <a:normAutofit lnSpcReduction="20000"/>
          </a:bodyPr>
          <a:lstStyle/>
          <a:p>
            <a:pPr indent="-306324" lvl="0" marL="457200" rtl="0" algn="l">
              <a:lnSpc>
                <a:spcPct val="115000"/>
              </a:lnSpc>
              <a:spcBef>
                <a:spcPts val="1200"/>
              </a:spcBef>
              <a:spcAft>
                <a:spcPts val="0"/>
              </a:spcAft>
              <a:buSzPts val="1224"/>
              <a:buChar char="➢"/>
            </a:pPr>
            <a:r>
              <a:rPr lang="de-CH"/>
              <a:t>Question Paper is set as per the blooms taxonomy.</a:t>
            </a:r>
            <a:endParaRPr/>
          </a:p>
          <a:p>
            <a:pPr indent="-306324" lvl="0" marL="457200" rtl="0" algn="l">
              <a:lnSpc>
                <a:spcPct val="115000"/>
              </a:lnSpc>
              <a:spcBef>
                <a:spcPts val="0"/>
              </a:spcBef>
              <a:spcAft>
                <a:spcPts val="0"/>
              </a:spcAft>
              <a:buSzPts val="1224"/>
              <a:buChar char="➢"/>
            </a:pPr>
            <a:r>
              <a:rPr lang="de-CH"/>
              <a:t>While setting the question papers , care is taken ,to ensure that all COs are covered including the self study topic.</a:t>
            </a:r>
            <a:endParaRPr/>
          </a:p>
          <a:p>
            <a:pPr indent="-306324" lvl="0" marL="457200" rtl="0" algn="l">
              <a:lnSpc>
                <a:spcPct val="115000"/>
              </a:lnSpc>
              <a:spcBef>
                <a:spcPts val="0"/>
              </a:spcBef>
              <a:spcAft>
                <a:spcPts val="0"/>
              </a:spcAft>
              <a:buSzPts val="1224"/>
              <a:buChar char="➢"/>
            </a:pPr>
            <a:r>
              <a:rPr lang="de-CH"/>
              <a:t>For ESE paper 2 sets are drawn for every subject.</a:t>
            </a:r>
            <a:endParaRPr/>
          </a:p>
          <a:p>
            <a:pPr indent="-306324" lvl="0" marL="457200" rtl="0" algn="l">
              <a:lnSpc>
                <a:spcPct val="115000"/>
              </a:lnSpc>
              <a:spcBef>
                <a:spcPts val="0"/>
              </a:spcBef>
              <a:spcAft>
                <a:spcPts val="0"/>
              </a:spcAft>
              <a:buSzPts val="1224"/>
              <a:buChar char="➢"/>
            </a:pPr>
            <a:r>
              <a:rPr lang="de-CH"/>
              <a:t>Difficulty Level of the Question Paper is set so as to ensure Gaussian curve.</a:t>
            </a:r>
            <a:endParaRPr/>
          </a:p>
          <a:p>
            <a:pPr indent="-306324" lvl="0" marL="457200" rtl="0" algn="l">
              <a:lnSpc>
                <a:spcPct val="115000"/>
              </a:lnSpc>
              <a:spcBef>
                <a:spcPts val="0"/>
              </a:spcBef>
              <a:spcAft>
                <a:spcPts val="0"/>
              </a:spcAft>
              <a:buSzPts val="1224"/>
              <a:buChar char="➢"/>
            </a:pPr>
            <a:r>
              <a:rPr lang="de-CH"/>
              <a:t>Question paper moderation is done by internal faculty other than paper setter. Depending upon the suggestions received concerned faculty update the paper and then it is submitted to examination section.</a:t>
            </a:r>
            <a:endParaRPr/>
          </a:p>
          <a:p>
            <a:pPr indent="-306324" lvl="0" marL="457200" rtl="0" algn="l">
              <a:lnSpc>
                <a:spcPct val="115000"/>
              </a:lnSpc>
              <a:spcBef>
                <a:spcPts val="0"/>
              </a:spcBef>
              <a:spcAft>
                <a:spcPts val="0"/>
              </a:spcAft>
              <a:buSzPts val="1224"/>
              <a:buChar char="➢"/>
            </a:pPr>
            <a:r>
              <a:rPr lang="de-CH"/>
              <a:t>Question Paper Audit was carried out by external faculty.</a:t>
            </a:r>
            <a:endParaRPr/>
          </a:p>
          <a:p>
            <a:pPr indent="0" lvl="0" marL="914400" rtl="0" algn="l">
              <a:lnSpc>
                <a:spcPct val="115000"/>
              </a:lnSpc>
              <a:spcBef>
                <a:spcPts val="1200"/>
              </a:spcBef>
              <a:spcAft>
                <a:spcPts val="0"/>
              </a:spcAft>
              <a:buNone/>
            </a:pPr>
            <a:r>
              <a:t/>
            </a:r>
            <a:endParaRPr/>
          </a:p>
        </p:txBody>
      </p:sp>
      <p:sp>
        <p:nvSpPr>
          <p:cNvPr id="287" name="Google Shape;287;g2ec5f4765d8_4_9"/>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lang="de-CH" sz="1800"/>
              <a:t>C.1 </a:t>
            </a:r>
            <a:r>
              <a:rPr b="0" lang="de-CH" sz="1800">
                <a:solidFill>
                  <a:srgbClr val="000000"/>
                </a:solidFill>
                <a:latin typeface="Calibri"/>
                <a:ea typeface="Calibri"/>
                <a:cs typeface="Calibri"/>
                <a:sym typeface="Calibri"/>
              </a:rPr>
              <a:t>Quality of assignments/ test papers/ End Semester Examination papers appears to suit the quality of the students getting admitted</a:t>
            </a:r>
            <a:r>
              <a:rPr lang="de-CH" sz="1800"/>
              <a:t>  </a:t>
            </a:r>
            <a:endParaRPr sz="3000">
              <a:solidFill>
                <a:srgbClr val="FF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g28ea2419252_1_732"/>
          <p:cNvSpPr txBox="1"/>
          <p:nvPr>
            <p:ph type="title"/>
          </p:nvPr>
        </p:nvSpPr>
        <p:spPr>
          <a:xfrm>
            <a:off x="311700" y="82260"/>
            <a:ext cx="8520600" cy="623400"/>
          </a:xfrm>
          <a:prstGeom prst="rect">
            <a:avLst/>
          </a:prstGeom>
          <a:noFill/>
          <a:ln>
            <a:noFill/>
          </a:ln>
        </p:spPr>
        <p:txBody>
          <a:bodyPr anchorCtr="0" anchor="t" bIns="91425" lIns="91425" spcFirstLastPara="1" rIns="91425" wrap="square" tIns="91425">
            <a:normAutofit fontScale="90000"/>
          </a:bodyPr>
          <a:lstStyle/>
          <a:p>
            <a:pPr indent="0" lvl="0" marL="0" rtl="0" algn="just">
              <a:lnSpc>
                <a:spcPct val="105000"/>
              </a:lnSpc>
              <a:spcBef>
                <a:spcPts val="0"/>
              </a:spcBef>
              <a:spcAft>
                <a:spcPts val="0"/>
              </a:spcAft>
              <a:buClr>
                <a:srgbClr val="000000"/>
              </a:buClr>
              <a:buSzPct val="94737"/>
              <a:buFont typeface="Arial"/>
              <a:buNone/>
            </a:pPr>
            <a:r>
              <a:rPr lang="de-CH" sz="1900">
                <a:solidFill>
                  <a:schemeClr val="dk2"/>
                </a:solidFill>
                <a:latin typeface="Times New Roman"/>
                <a:ea typeface="Times New Roman"/>
                <a:cs typeface="Times New Roman"/>
                <a:sym typeface="Times New Roman"/>
              </a:rPr>
              <a:t>C2.Design and conduct of continuous assessment of theory and lab assignments is deeply thought of    </a:t>
            </a:r>
            <a:r>
              <a:rPr lang="de-CH" sz="3300">
                <a:solidFill>
                  <a:srgbClr val="FF0000"/>
                </a:solidFill>
                <a:latin typeface="Times New Roman"/>
                <a:ea typeface="Times New Roman"/>
                <a:cs typeface="Times New Roman"/>
                <a:sym typeface="Times New Roman"/>
              </a:rPr>
              <a:t>YP</a:t>
            </a:r>
            <a:endParaRPr sz="3300">
              <a:solidFill>
                <a:srgbClr val="FF0000"/>
              </a:solidFill>
              <a:latin typeface="Times New Roman"/>
              <a:ea typeface="Times New Roman"/>
              <a:cs typeface="Times New Roman"/>
              <a:sym typeface="Times New Roman"/>
            </a:endParaRPr>
          </a:p>
          <a:p>
            <a:pPr indent="0" lvl="0" marL="0" rtl="0" algn="l">
              <a:lnSpc>
                <a:spcPct val="100000"/>
              </a:lnSpc>
              <a:spcBef>
                <a:spcPts val="0"/>
              </a:spcBef>
              <a:spcAft>
                <a:spcPts val="0"/>
              </a:spcAft>
              <a:buSzPct val="275862"/>
              <a:buNone/>
            </a:pPr>
            <a:r>
              <a:t/>
            </a:r>
            <a:endParaRPr>
              <a:latin typeface="Times New Roman"/>
              <a:ea typeface="Times New Roman"/>
              <a:cs typeface="Times New Roman"/>
              <a:sym typeface="Times New Roman"/>
            </a:endParaRPr>
          </a:p>
          <a:p>
            <a:pPr indent="0" lvl="0" marL="0" rtl="0" algn="l">
              <a:lnSpc>
                <a:spcPct val="100000"/>
              </a:lnSpc>
              <a:spcBef>
                <a:spcPts val="0"/>
              </a:spcBef>
              <a:spcAft>
                <a:spcPts val="0"/>
              </a:spcAft>
              <a:buSzPct val="129533"/>
              <a:buNone/>
            </a:pPr>
            <a:r>
              <a:t/>
            </a:r>
            <a:endParaRPr sz="308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SzPct val="111111"/>
              <a:buNone/>
            </a:pPr>
            <a:r>
              <a:t/>
            </a:r>
            <a:endParaRPr/>
          </a:p>
        </p:txBody>
      </p:sp>
      <p:sp>
        <p:nvSpPr>
          <p:cNvPr id="293" name="Google Shape;293;g28ea2419252_1_732"/>
          <p:cNvSpPr txBox="1"/>
          <p:nvPr>
            <p:ph idx="1" type="body"/>
          </p:nvPr>
        </p:nvSpPr>
        <p:spPr>
          <a:xfrm>
            <a:off x="311700" y="1136675"/>
            <a:ext cx="1572600" cy="3456600"/>
          </a:xfrm>
          <a:prstGeom prst="rect">
            <a:avLst/>
          </a:prstGeom>
          <a:noFill/>
          <a:ln>
            <a:noFill/>
          </a:ln>
        </p:spPr>
        <p:txBody>
          <a:bodyPr anchorCtr="0" anchor="t" bIns="91425" lIns="91425" spcFirstLastPara="1" rIns="91425" wrap="square" tIns="91425">
            <a:noAutofit/>
          </a:bodyPr>
          <a:lstStyle/>
          <a:p>
            <a:pPr indent="0" lvl="0" marL="0" rtl="0" algn="just">
              <a:lnSpc>
                <a:spcPct val="105000"/>
              </a:lnSpc>
              <a:spcBef>
                <a:spcPts val="0"/>
              </a:spcBef>
              <a:spcAft>
                <a:spcPts val="0"/>
              </a:spcAft>
              <a:buNone/>
            </a:pPr>
            <a:r>
              <a:rPr lang="de-CH" sz="1100">
                <a:latin typeface="Times New Roman"/>
                <a:ea typeface="Times New Roman"/>
                <a:cs typeface="Times New Roman"/>
                <a:sym typeface="Times New Roman"/>
              </a:rPr>
              <a:t>Various assessments methods such as Case Study, Quiz ,Viva, Projects, Open Book Test ,Poster Presentation ,e.t.c.  are designed for continuous evaluation for Theory and Lab courses to  improve the quality of assessment</a:t>
            </a:r>
            <a:endParaRPr sz="1100">
              <a:latin typeface="Times New Roman"/>
              <a:ea typeface="Times New Roman"/>
              <a:cs typeface="Times New Roman"/>
              <a:sym typeface="Times New Roman"/>
            </a:endParaRPr>
          </a:p>
          <a:p>
            <a:pPr indent="0" lvl="0" marL="0" rtl="0" algn="l">
              <a:lnSpc>
                <a:spcPct val="105000"/>
              </a:lnSpc>
              <a:spcBef>
                <a:spcPts val="0"/>
              </a:spcBef>
              <a:spcAft>
                <a:spcPts val="0"/>
              </a:spcAft>
              <a:buSzPts val="1800"/>
              <a:buNone/>
            </a:pPr>
            <a:r>
              <a:t/>
            </a:r>
            <a:endParaRPr sz="1100">
              <a:latin typeface="Times New Roman"/>
              <a:ea typeface="Times New Roman"/>
              <a:cs typeface="Times New Roman"/>
              <a:sym typeface="Times New Roman"/>
            </a:endParaRPr>
          </a:p>
          <a:p>
            <a:pPr indent="0" lvl="0" marL="0" rtl="0" algn="l">
              <a:lnSpc>
                <a:spcPct val="105000"/>
              </a:lnSpc>
              <a:spcBef>
                <a:spcPts val="0"/>
              </a:spcBef>
              <a:spcAft>
                <a:spcPts val="0"/>
              </a:spcAft>
              <a:buSzPts val="1800"/>
              <a:buNone/>
            </a:pPr>
            <a:r>
              <a:t/>
            </a:r>
            <a:endParaRPr sz="1100">
              <a:latin typeface="Times New Roman"/>
              <a:ea typeface="Times New Roman"/>
              <a:cs typeface="Times New Roman"/>
              <a:sym typeface="Times New Roman"/>
            </a:endParaRPr>
          </a:p>
          <a:p>
            <a:pPr indent="0" lvl="0" marL="0" rtl="0" algn="l">
              <a:lnSpc>
                <a:spcPct val="105000"/>
              </a:lnSpc>
              <a:spcBef>
                <a:spcPts val="0"/>
              </a:spcBef>
              <a:spcAft>
                <a:spcPts val="0"/>
              </a:spcAft>
              <a:buClr>
                <a:srgbClr val="000000"/>
              </a:buClr>
              <a:buSzPts val="1800"/>
              <a:buFont typeface="Arial"/>
              <a:buNone/>
            </a:pPr>
            <a:r>
              <a:rPr lang="de-CH" sz="1100">
                <a:latin typeface="Times New Roman"/>
                <a:ea typeface="Times New Roman"/>
                <a:cs typeface="Times New Roman"/>
                <a:sym typeface="Times New Roman"/>
              </a:rPr>
              <a:t>Link to Lesson Plan:    https://drive.google.com/drive/folders/1kN8Dc457fqZv0e_R12Hv2X38NuQKinjM</a:t>
            </a:r>
            <a:endParaRPr sz="450">
              <a:latin typeface="Times New Roman"/>
              <a:ea typeface="Times New Roman"/>
              <a:cs typeface="Times New Roman"/>
              <a:sym typeface="Times New Roman"/>
            </a:endParaRPr>
          </a:p>
        </p:txBody>
      </p:sp>
      <p:pic>
        <p:nvPicPr>
          <p:cNvPr id="294" name="Google Shape;294;g28ea2419252_1_732" title="ChatGPT Image Sep 28, 2026, 11_17_44 AM.png"/>
          <p:cNvPicPr preferRelativeResize="0"/>
          <p:nvPr/>
        </p:nvPicPr>
        <p:blipFill rotWithShape="1">
          <a:blip r:embed="rId3">
            <a:alphaModFix/>
          </a:blip>
          <a:srcRect b="5914" l="0" r="0" t="17187"/>
          <a:stretch/>
        </p:blipFill>
        <p:spPr>
          <a:xfrm>
            <a:off x="1884300" y="823600"/>
            <a:ext cx="7259700" cy="39554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h7b893a0582d097ac_1_11"/>
          <p:cNvSpPr txBox="1"/>
          <p:nvPr>
            <p:ph type="title"/>
          </p:nvPr>
        </p:nvSpPr>
        <p:spPr>
          <a:xfrm>
            <a:off x="311700" y="260500"/>
            <a:ext cx="8520600" cy="969900"/>
          </a:xfrm>
          <a:prstGeom prst="rect">
            <a:avLst/>
          </a:prstGeom>
          <a:noFill/>
          <a:ln>
            <a:noFill/>
          </a:ln>
        </p:spPr>
        <p:txBody>
          <a:bodyPr anchorCtr="0" anchor="t" bIns="91425" lIns="91425" spcFirstLastPara="1" rIns="91425" wrap="square" tIns="91425">
            <a:normAutofit fontScale="90000"/>
          </a:bodyPr>
          <a:lstStyle/>
          <a:p>
            <a:pPr indent="0" lvl="0" marL="0" rtl="0" algn="just">
              <a:lnSpc>
                <a:spcPct val="105000"/>
              </a:lnSpc>
              <a:spcBef>
                <a:spcPts val="0"/>
              </a:spcBef>
              <a:spcAft>
                <a:spcPts val="0"/>
              </a:spcAft>
              <a:buSzPct val="90000"/>
              <a:buNone/>
            </a:pPr>
            <a:r>
              <a:rPr lang="de-CH" sz="2000">
                <a:solidFill>
                  <a:schemeClr val="dk2"/>
                </a:solidFill>
                <a:latin typeface="Times New Roman"/>
                <a:ea typeface="Times New Roman"/>
                <a:cs typeface="Times New Roman"/>
                <a:sym typeface="Times New Roman"/>
              </a:rPr>
              <a:t>C3.</a:t>
            </a:r>
            <a:r>
              <a:rPr b="0" lang="de-CH" sz="2000">
                <a:solidFill>
                  <a:srgbClr val="000000"/>
                </a:solidFill>
                <a:latin typeface="Calibri"/>
                <a:ea typeface="Calibri"/>
                <a:cs typeface="Calibri"/>
                <a:sym typeface="Calibri"/>
              </a:rPr>
              <a:t>Wherever possible industry persons, alumni, external experts are invited for evaluation and assessment.</a:t>
            </a:r>
            <a:r>
              <a:rPr lang="de-CH" sz="2000">
                <a:solidFill>
                  <a:schemeClr val="dk2"/>
                </a:solidFill>
                <a:latin typeface="Times New Roman"/>
                <a:ea typeface="Times New Roman"/>
                <a:cs typeface="Times New Roman"/>
                <a:sym typeface="Times New Roman"/>
              </a:rPr>
              <a:t> </a:t>
            </a:r>
            <a:r>
              <a:rPr lang="de-CH" sz="1900">
                <a:solidFill>
                  <a:schemeClr val="dk2"/>
                </a:solidFill>
                <a:latin typeface="Times New Roman"/>
                <a:ea typeface="Times New Roman"/>
                <a:cs typeface="Times New Roman"/>
                <a:sym typeface="Times New Roman"/>
              </a:rPr>
              <a:t>  </a:t>
            </a:r>
            <a:r>
              <a:rPr lang="de-CH" sz="3300">
                <a:solidFill>
                  <a:srgbClr val="FF0000"/>
                </a:solidFill>
                <a:latin typeface="Times New Roman"/>
                <a:ea typeface="Times New Roman"/>
                <a:cs typeface="Times New Roman"/>
                <a:sym typeface="Times New Roman"/>
              </a:rPr>
              <a:t>SBG</a:t>
            </a:r>
            <a:endParaRPr sz="3300">
              <a:solidFill>
                <a:srgbClr val="FF0000"/>
              </a:solidFill>
              <a:latin typeface="Times New Roman"/>
              <a:ea typeface="Times New Roman"/>
              <a:cs typeface="Times New Roman"/>
              <a:sym typeface="Times New Roman"/>
            </a:endParaRPr>
          </a:p>
          <a:p>
            <a:pPr indent="0" lvl="0" marL="0" rtl="0" algn="l">
              <a:lnSpc>
                <a:spcPct val="100000"/>
              </a:lnSpc>
              <a:spcBef>
                <a:spcPts val="0"/>
              </a:spcBef>
              <a:spcAft>
                <a:spcPts val="0"/>
              </a:spcAft>
              <a:buSzPct val="275862"/>
              <a:buNone/>
            </a:pPr>
            <a:r>
              <a:t/>
            </a:r>
            <a:endParaRPr>
              <a:latin typeface="Times New Roman"/>
              <a:ea typeface="Times New Roman"/>
              <a:cs typeface="Times New Roman"/>
              <a:sym typeface="Times New Roman"/>
            </a:endParaRPr>
          </a:p>
          <a:p>
            <a:pPr indent="0" lvl="0" marL="0" rtl="0" algn="l">
              <a:lnSpc>
                <a:spcPct val="100000"/>
              </a:lnSpc>
              <a:spcBef>
                <a:spcPts val="0"/>
              </a:spcBef>
              <a:spcAft>
                <a:spcPts val="0"/>
              </a:spcAft>
              <a:buSzPct val="129533"/>
              <a:buNone/>
            </a:pPr>
            <a:r>
              <a:t/>
            </a:r>
            <a:endParaRPr sz="308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SzPct val="111111"/>
              <a:buNone/>
            </a:pPr>
            <a:r>
              <a:t/>
            </a:r>
            <a:endParaRPr/>
          </a:p>
        </p:txBody>
      </p:sp>
      <p:sp>
        <p:nvSpPr>
          <p:cNvPr id="300" name="Google Shape;300;h7b893a0582d097ac_1_11"/>
          <p:cNvSpPr txBox="1"/>
          <p:nvPr>
            <p:ph idx="1" type="body"/>
          </p:nvPr>
        </p:nvSpPr>
        <p:spPr>
          <a:xfrm>
            <a:off x="311700" y="1280850"/>
            <a:ext cx="8520600" cy="3312300"/>
          </a:xfrm>
          <a:prstGeom prst="rect">
            <a:avLst/>
          </a:prstGeom>
          <a:noFill/>
          <a:ln>
            <a:noFill/>
          </a:ln>
        </p:spPr>
        <p:txBody>
          <a:bodyPr anchorCtr="0" anchor="t" bIns="91425" lIns="91425" spcFirstLastPara="1" rIns="91425" wrap="square" tIns="91425">
            <a:noAutofit/>
          </a:bodyPr>
          <a:lstStyle/>
          <a:p>
            <a:pPr indent="0" lvl="0" marL="0" rtl="0" algn="just">
              <a:lnSpc>
                <a:spcPct val="90000"/>
              </a:lnSpc>
              <a:spcBef>
                <a:spcPts val="0"/>
              </a:spcBef>
              <a:spcAft>
                <a:spcPts val="0"/>
              </a:spcAft>
              <a:buSzPts val="688"/>
              <a:buNone/>
            </a:pPr>
            <a:r>
              <a:rPr lang="de-CH" sz="2000">
                <a:solidFill>
                  <a:srgbClr val="000000"/>
                </a:solidFill>
                <a:latin typeface="Calibri"/>
                <a:ea typeface="Calibri"/>
                <a:cs typeface="Calibri"/>
                <a:sym typeface="Calibri"/>
              </a:rPr>
              <a:t>Industry professionals, alumni, and external experts are invited, wherever possible, to evaluate projects, internships, and seminars and provide students with practical feedback and guidance. </a:t>
            </a:r>
            <a:endParaRPr sz="2000">
              <a:solidFill>
                <a:srgbClr val="000000"/>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g28ea2419252_1_737"/>
          <p:cNvSpPr txBox="1"/>
          <p:nvPr>
            <p:ph type="title"/>
          </p:nvPr>
        </p:nvSpPr>
        <p:spPr>
          <a:xfrm>
            <a:off x="311700" y="237450"/>
            <a:ext cx="8520600" cy="623400"/>
          </a:xfrm>
          <a:prstGeom prst="rect">
            <a:avLst/>
          </a:prstGeom>
          <a:noFill/>
          <a:ln>
            <a:noFill/>
          </a:ln>
        </p:spPr>
        <p:txBody>
          <a:bodyPr anchorCtr="0" anchor="t" bIns="91425" lIns="91425" spcFirstLastPara="1" rIns="91425" wrap="square" tIns="91425">
            <a:normAutofit fontScale="90000"/>
          </a:bodyPr>
          <a:lstStyle/>
          <a:p>
            <a:pPr indent="0" lvl="0" marL="0" rtl="0" algn="just">
              <a:lnSpc>
                <a:spcPct val="80000"/>
              </a:lnSpc>
              <a:spcBef>
                <a:spcPts val="0"/>
              </a:spcBef>
              <a:spcAft>
                <a:spcPts val="0"/>
              </a:spcAft>
              <a:buClr>
                <a:srgbClr val="000000"/>
              </a:buClr>
              <a:buSzPct val="105882"/>
              <a:buFont typeface="Arial"/>
              <a:buNone/>
            </a:pPr>
            <a:r>
              <a:rPr lang="de-CH" sz="1700">
                <a:solidFill>
                  <a:schemeClr val="dk2"/>
                </a:solidFill>
                <a:latin typeface="Times New Roman"/>
                <a:ea typeface="Times New Roman"/>
                <a:cs typeface="Times New Roman"/>
                <a:sym typeface="Times New Roman"/>
              </a:rPr>
              <a:t>C4 Coverage of syllabus in examinations including ISE, MSE, ESE is fair, and MSE/ESE are designed to have natural gaussian. -  </a:t>
            </a:r>
            <a:r>
              <a:rPr lang="de-CH" sz="3000">
                <a:solidFill>
                  <a:srgbClr val="FF0000"/>
                </a:solidFill>
                <a:highlight>
                  <a:schemeClr val="lt1"/>
                </a:highlight>
                <a:latin typeface="Times New Roman"/>
                <a:ea typeface="Times New Roman"/>
                <a:cs typeface="Times New Roman"/>
                <a:sym typeface="Times New Roman"/>
              </a:rPr>
              <a:t>Rupali S.  </a:t>
            </a:r>
            <a:r>
              <a:rPr lang="de-CH" sz="2200">
                <a:solidFill>
                  <a:srgbClr val="FF0000"/>
                </a:solidFill>
                <a:highlight>
                  <a:schemeClr val="lt1"/>
                </a:highlight>
                <a:latin typeface="Times New Roman"/>
                <a:ea typeface="Times New Roman"/>
                <a:cs typeface="Times New Roman"/>
                <a:sym typeface="Times New Roman"/>
              </a:rPr>
              <a:t>DAPC MOM-refer last audit ppt</a:t>
            </a:r>
            <a:endParaRPr sz="2200">
              <a:solidFill>
                <a:srgbClr val="FF0000"/>
              </a:solidFill>
              <a:highlight>
                <a:schemeClr val="lt1"/>
              </a:highlight>
            </a:endParaRPr>
          </a:p>
        </p:txBody>
      </p:sp>
      <p:sp>
        <p:nvSpPr>
          <p:cNvPr id="306" name="Google Shape;306;g28ea2419252_1_737"/>
          <p:cNvSpPr txBox="1"/>
          <p:nvPr>
            <p:ph idx="1" type="body"/>
          </p:nvPr>
        </p:nvSpPr>
        <p:spPr>
          <a:xfrm>
            <a:off x="311700" y="979725"/>
            <a:ext cx="8520600" cy="4163700"/>
          </a:xfrm>
          <a:prstGeom prst="rect">
            <a:avLst/>
          </a:prstGeom>
          <a:noFill/>
          <a:ln>
            <a:noFill/>
          </a:ln>
        </p:spPr>
        <p:txBody>
          <a:bodyPr anchorCtr="0" anchor="t" bIns="91425" lIns="91425" spcFirstLastPara="1" rIns="91425" wrap="square" tIns="91425">
            <a:noAutofit/>
          </a:bodyPr>
          <a:lstStyle/>
          <a:p>
            <a:pPr indent="0" lvl="0" marL="0" rtl="0" algn="just">
              <a:lnSpc>
                <a:spcPct val="80000"/>
              </a:lnSpc>
              <a:spcBef>
                <a:spcPts val="0"/>
              </a:spcBef>
              <a:spcAft>
                <a:spcPts val="0"/>
              </a:spcAft>
              <a:buSzPts val="1800"/>
              <a:buNone/>
            </a:pPr>
            <a:r>
              <a:rPr lang="de-CH" sz="2000">
                <a:solidFill>
                  <a:srgbClr val="221D1D"/>
                </a:solidFill>
                <a:latin typeface="Times New Roman"/>
                <a:ea typeface="Times New Roman"/>
                <a:cs typeface="Times New Roman"/>
                <a:sym typeface="Times New Roman"/>
              </a:rPr>
              <a:t>DAPC MOM-EVEN SEM-Academic year 2025-2026</a:t>
            </a:r>
            <a:endParaRPr sz="2000">
              <a:solidFill>
                <a:srgbClr val="221D1D"/>
              </a:solidFill>
              <a:latin typeface="Times New Roman"/>
              <a:ea typeface="Times New Roman"/>
              <a:cs typeface="Times New Roman"/>
              <a:sym typeface="Times New Roman"/>
            </a:endParaRPr>
          </a:p>
          <a:p>
            <a:pPr indent="0" lvl="0" marL="0" rtl="0" algn="just">
              <a:lnSpc>
                <a:spcPct val="80000"/>
              </a:lnSpc>
              <a:spcBef>
                <a:spcPts val="0"/>
              </a:spcBef>
              <a:spcAft>
                <a:spcPts val="0"/>
              </a:spcAft>
              <a:buSzPts val="1800"/>
              <a:buNone/>
            </a:pPr>
            <a:r>
              <a:t/>
            </a:r>
            <a:endParaRPr sz="2700">
              <a:solidFill>
                <a:srgbClr val="FF0000"/>
              </a:solidFill>
              <a:latin typeface="Times New Roman"/>
              <a:ea typeface="Times New Roman"/>
              <a:cs typeface="Times New Roman"/>
              <a:sym typeface="Times New Roman"/>
            </a:endParaRPr>
          </a:p>
          <a:p>
            <a:pPr indent="0" lvl="0" marL="0" rtl="0" algn="just">
              <a:lnSpc>
                <a:spcPct val="80000"/>
              </a:lnSpc>
              <a:spcBef>
                <a:spcPts val="0"/>
              </a:spcBef>
              <a:spcAft>
                <a:spcPts val="0"/>
              </a:spcAft>
              <a:buSzPts val="1800"/>
              <a:buNone/>
            </a:pPr>
            <a:r>
              <a:rPr lang="de-CH" sz="2700" u="sng">
                <a:solidFill>
                  <a:schemeClr val="hlink"/>
                </a:solidFill>
                <a:latin typeface="Times New Roman"/>
                <a:ea typeface="Times New Roman"/>
                <a:cs typeface="Times New Roman"/>
                <a:sym typeface="Times New Roman"/>
                <a:hlinkClick r:id="rId3"/>
              </a:rPr>
              <a:t>https://drive.google.com/file/d/1MdtJo7aheywK3D2SoT0fnc8Ii4I87VWW/view?usp=sharing</a:t>
            </a:r>
            <a:r>
              <a:rPr lang="de-CH" sz="2700">
                <a:solidFill>
                  <a:srgbClr val="FF0000"/>
                </a:solidFill>
                <a:latin typeface="Times New Roman"/>
                <a:ea typeface="Times New Roman"/>
                <a:cs typeface="Times New Roman"/>
                <a:sym typeface="Times New Roman"/>
              </a:rPr>
              <a:t> </a:t>
            </a:r>
            <a:endParaRPr sz="2700">
              <a:solidFill>
                <a:srgbClr val="FF0000"/>
              </a:solidFill>
              <a:latin typeface="Times New Roman"/>
              <a:ea typeface="Times New Roman"/>
              <a:cs typeface="Times New Roman"/>
              <a:sym typeface="Times New Roman"/>
            </a:endParaRPr>
          </a:p>
          <a:p>
            <a:pPr indent="0" lvl="0" marL="0" rtl="0" algn="just">
              <a:lnSpc>
                <a:spcPct val="80000"/>
              </a:lnSpc>
              <a:spcBef>
                <a:spcPts val="0"/>
              </a:spcBef>
              <a:spcAft>
                <a:spcPts val="0"/>
              </a:spcAft>
              <a:buSzPts val="1800"/>
              <a:buNone/>
            </a:pPr>
            <a:r>
              <a:t/>
            </a:r>
            <a:endParaRPr sz="2700">
              <a:solidFill>
                <a:srgbClr val="FF0000"/>
              </a:solidFill>
              <a:latin typeface="Times New Roman"/>
              <a:ea typeface="Times New Roman"/>
              <a:cs typeface="Times New Roman"/>
              <a:sym typeface="Times New Roman"/>
            </a:endParaRPr>
          </a:p>
          <a:p>
            <a:pPr indent="0" lvl="0" marL="0" rtl="0" algn="just">
              <a:lnSpc>
                <a:spcPct val="80000"/>
              </a:lnSpc>
              <a:spcBef>
                <a:spcPts val="0"/>
              </a:spcBef>
              <a:spcAft>
                <a:spcPts val="0"/>
              </a:spcAft>
              <a:buSzPts val="1800"/>
              <a:buNone/>
            </a:pPr>
            <a:r>
              <a:rPr lang="de-CH" sz="2000">
                <a:solidFill>
                  <a:srgbClr val="221D1D"/>
                </a:solidFill>
                <a:latin typeface="Times New Roman"/>
                <a:ea typeface="Times New Roman"/>
                <a:cs typeface="Times New Roman"/>
                <a:sym typeface="Times New Roman"/>
              </a:rPr>
              <a:t>DAPC MOM ODD SEM Academic year 2025-26</a:t>
            </a:r>
            <a:endParaRPr sz="2000">
              <a:solidFill>
                <a:srgbClr val="221D1D"/>
              </a:solidFill>
              <a:latin typeface="Times New Roman"/>
              <a:ea typeface="Times New Roman"/>
              <a:cs typeface="Times New Roman"/>
              <a:sym typeface="Times New Roman"/>
            </a:endParaRPr>
          </a:p>
          <a:p>
            <a:pPr indent="0" lvl="0" marL="0" rtl="0" algn="just">
              <a:lnSpc>
                <a:spcPct val="80000"/>
              </a:lnSpc>
              <a:spcBef>
                <a:spcPts val="0"/>
              </a:spcBef>
              <a:spcAft>
                <a:spcPts val="0"/>
              </a:spcAft>
              <a:buSzPts val="1800"/>
              <a:buNone/>
            </a:pPr>
            <a:r>
              <a:t/>
            </a:r>
            <a:endParaRPr sz="2000">
              <a:solidFill>
                <a:srgbClr val="221D1D"/>
              </a:solidFill>
              <a:latin typeface="Times New Roman"/>
              <a:ea typeface="Times New Roman"/>
              <a:cs typeface="Times New Roman"/>
              <a:sym typeface="Times New Roman"/>
            </a:endParaRPr>
          </a:p>
          <a:p>
            <a:pPr indent="0" lvl="0" marL="0" rtl="0" algn="just">
              <a:lnSpc>
                <a:spcPct val="80000"/>
              </a:lnSpc>
              <a:spcBef>
                <a:spcPts val="0"/>
              </a:spcBef>
              <a:spcAft>
                <a:spcPts val="0"/>
              </a:spcAft>
              <a:buSzPts val="1800"/>
              <a:buNone/>
            </a:pPr>
            <a:r>
              <a:t/>
            </a:r>
            <a:endParaRPr sz="2000">
              <a:solidFill>
                <a:srgbClr val="221D1D"/>
              </a:solidFill>
              <a:latin typeface="Times New Roman"/>
              <a:ea typeface="Times New Roman"/>
              <a:cs typeface="Times New Roman"/>
              <a:sym typeface="Times New Roman"/>
            </a:endParaRPr>
          </a:p>
          <a:p>
            <a:pPr indent="0" lvl="0" marL="0" rtl="0" algn="just">
              <a:lnSpc>
                <a:spcPct val="80000"/>
              </a:lnSpc>
              <a:spcBef>
                <a:spcPts val="0"/>
              </a:spcBef>
              <a:spcAft>
                <a:spcPts val="0"/>
              </a:spcAft>
              <a:buSzPts val="1800"/>
              <a:buNone/>
            </a:pPr>
            <a:r>
              <a:t/>
            </a:r>
            <a:endParaRPr sz="2700">
              <a:solidFill>
                <a:srgbClr val="FF0000"/>
              </a:solidFill>
              <a:latin typeface="Times New Roman"/>
              <a:ea typeface="Times New Roman"/>
              <a:cs typeface="Times New Roman"/>
              <a:sym typeface="Times New Roman"/>
            </a:endParaRPr>
          </a:p>
          <a:p>
            <a:pPr indent="0" lvl="0" marL="0" rtl="0" algn="just">
              <a:lnSpc>
                <a:spcPct val="80000"/>
              </a:lnSpc>
              <a:spcBef>
                <a:spcPts val="0"/>
              </a:spcBef>
              <a:spcAft>
                <a:spcPts val="0"/>
              </a:spcAft>
              <a:buSzPts val="1800"/>
              <a:buNone/>
            </a:pPr>
            <a:r>
              <a:t/>
            </a:r>
            <a:endParaRPr sz="2700">
              <a:solidFill>
                <a:srgbClr val="FF0000"/>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g2785df75f99_0_45"/>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800"/>
              <a:buNone/>
            </a:pPr>
            <a:r>
              <a:rPr lang="de-CH" sz="1800"/>
              <a:t>C4. Coverage of syllabus in examinations including ISE, MSE, ESE is fair, and MSE/ESE are designed to have natural gaussian. June 2025       </a:t>
            </a:r>
            <a:r>
              <a:rPr lang="de-CH" sz="3000">
                <a:solidFill>
                  <a:srgbClr val="FF0000"/>
                </a:solidFill>
              </a:rPr>
              <a:t>AAG -refer last audit ppt</a:t>
            </a:r>
            <a:endParaRPr sz="3000">
              <a:solidFill>
                <a:srgbClr val="FF0000"/>
              </a:solidFill>
            </a:endParaRPr>
          </a:p>
          <a:p>
            <a:pPr indent="0" lvl="0" marL="0" rtl="0" algn="l">
              <a:lnSpc>
                <a:spcPct val="100000"/>
              </a:lnSpc>
              <a:spcBef>
                <a:spcPts val="0"/>
              </a:spcBef>
              <a:spcAft>
                <a:spcPts val="0"/>
              </a:spcAft>
              <a:buSzPts val="1800"/>
              <a:buNone/>
            </a:pPr>
            <a:r>
              <a:t/>
            </a:r>
            <a:endParaRPr sz="1800"/>
          </a:p>
        </p:txBody>
      </p:sp>
      <p:sp>
        <p:nvSpPr>
          <p:cNvPr id="312" name="Google Shape;312;g2785df75f99_0_45"/>
          <p:cNvSpPr txBox="1"/>
          <p:nvPr/>
        </p:nvSpPr>
        <p:spPr>
          <a:xfrm>
            <a:off x="644550" y="987200"/>
            <a:ext cx="8107200" cy="37482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Font typeface="Open Sans"/>
              <a:buChar char="●"/>
            </a:pPr>
            <a:r>
              <a:rPr lang="de-CH" sz="1800">
                <a:solidFill>
                  <a:schemeClr val="dk2"/>
                </a:solidFill>
                <a:latin typeface="Open Sans"/>
                <a:ea typeface="Open Sans"/>
                <a:cs typeface="Open Sans"/>
                <a:sym typeface="Open Sans"/>
              </a:rPr>
              <a:t>Faculty Completes the syllabus by </a:t>
            </a:r>
            <a:r>
              <a:rPr lang="de-CH" sz="1800">
                <a:solidFill>
                  <a:schemeClr val="dk2"/>
                </a:solidFill>
                <a:latin typeface="Open Sans"/>
                <a:ea typeface="Open Sans"/>
                <a:cs typeface="Open Sans"/>
                <a:sym typeface="Open Sans"/>
              </a:rPr>
              <a:t>conducting</a:t>
            </a:r>
            <a:r>
              <a:rPr lang="de-CH" sz="1800">
                <a:solidFill>
                  <a:schemeClr val="dk2"/>
                </a:solidFill>
                <a:latin typeface="Open Sans"/>
                <a:ea typeface="Open Sans"/>
                <a:cs typeface="Open Sans"/>
                <a:sym typeface="Open Sans"/>
              </a:rPr>
              <a:t> extra lectures required if any also conducts </a:t>
            </a:r>
            <a:r>
              <a:rPr lang="de-CH" sz="1800">
                <a:solidFill>
                  <a:schemeClr val="dk2"/>
                </a:solidFill>
                <a:latin typeface="Open Sans"/>
                <a:ea typeface="Open Sans"/>
                <a:cs typeface="Open Sans"/>
                <a:sym typeface="Open Sans"/>
              </a:rPr>
              <a:t>remedial</a:t>
            </a:r>
            <a:r>
              <a:rPr lang="de-CH" sz="1800">
                <a:solidFill>
                  <a:schemeClr val="dk2"/>
                </a:solidFill>
                <a:latin typeface="Open Sans"/>
                <a:ea typeface="Open Sans"/>
                <a:cs typeface="Open Sans"/>
                <a:sym typeface="Open Sans"/>
              </a:rPr>
              <a:t> lectures if any.</a:t>
            </a:r>
            <a:endParaRPr sz="1800">
              <a:solidFill>
                <a:schemeClr val="dk2"/>
              </a:solidFill>
              <a:latin typeface="Open Sans"/>
              <a:ea typeface="Open Sans"/>
              <a:cs typeface="Open Sans"/>
              <a:sym typeface="Open Sans"/>
            </a:endParaRPr>
          </a:p>
          <a:p>
            <a:pPr indent="-342900" lvl="0" marL="457200" rtl="0" algn="l">
              <a:spcBef>
                <a:spcPts val="0"/>
              </a:spcBef>
              <a:spcAft>
                <a:spcPts val="0"/>
              </a:spcAft>
              <a:buClr>
                <a:schemeClr val="dk2"/>
              </a:buClr>
              <a:buSzPts val="1800"/>
              <a:buFont typeface="Open Sans"/>
              <a:buChar char="●"/>
            </a:pPr>
            <a:r>
              <a:rPr lang="de-CH" sz="1800">
                <a:solidFill>
                  <a:schemeClr val="dk2"/>
                </a:solidFill>
                <a:latin typeface="Open Sans"/>
                <a:ea typeface="Open Sans"/>
                <a:cs typeface="Open Sans"/>
                <a:sym typeface="Open Sans"/>
              </a:rPr>
              <a:t>Weightage for ISE - 20% , MSE is 20% and ESE is 100%.</a:t>
            </a:r>
            <a:endParaRPr sz="1800">
              <a:solidFill>
                <a:schemeClr val="dk2"/>
              </a:solidFill>
              <a:latin typeface="Open Sans"/>
              <a:ea typeface="Open Sans"/>
              <a:cs typeface="Open Sans"/>
              <a:sym typeface="Open Sans"/>
            </a:endParaRPr>
          </a:p>
          <a:p>
            <a:pPr indent="-342900" lvl="0" marL="457200" rtl="0" algn="l">
              <a:spcBef>
                <a:spcPts val="0"/>
              </a:spcBef>
              <a:spcAft>
                <a:spcPts val="0"/>
              </a:spcAft>
              <a:buClr>
                <a:schemeClr val="dk2"/>
              </a:buClr>
              <a:buSzPts val="1800"/>
              <a:buFont typeface="Open Sans"/>
              <a:buChar char="●"/>
            </a:pPr>
            <a:r>
              <a:rPr lang="de-CH" sz="1800">
                <a:solidFill>
                  <a:schemeClr val="dk2"/>
                </a:solidFill>
                <a:latin typeface="Open Sans"/>
                <a:ea typeface="Open Sans"/>
                <a:cs typeface="Open Sans"/>
                <a:sym typeface="Open Sans"/>
              </a:rPr>
              <a:t>upto MSE syllabus coverage is upto 40 to 50% and for ESE it is 100%.</a:t>
            </a:r>
            <a:endParaRPr sz="1800">
              <a:solidFill>
                <a:schemeClr val="dk2"/>
              </a:solidFill>
              <a:latin typeface="Open Sans"/>
              <a:ea typeface="Open Sans"/>
              <a:cs typeface="Open Sans"/>
              <a:sym typeface="Open Sans"/>
            </a:endParaRPr>
          </a:p>
          <a:p>
            <a:pPr indent="-342900" lvl="0" marL="457200" rtl="0" algn="l">
              <a:spcBef>
                <a:spcPts val="0"/>
              </a:spcBef>
              <a:spcAft>
                <a:spcPts val="0"/>
              </a:spcAft>
              <a:buClr>
                <a:schemeClr val="dk2"/>
              </a:buClr>
              <a:buSzPts val="1800"/>
              <a:buFont typeface="Open Sans"/>
              <a:buChar char="●"/>
            </a:pPr>
            <a:r>
              <a:rPr lang="de-CH" sz="1800">
                <a:solidFill>
                  <a:schemeClr val="dk2"/>
                </a:solidFill>
                <a:latin typeface="Open Sans"/>
                <a:ea typeface="Open Sans"/>
                <a:cs typeface="Open Sans"/>
                <a:sym typeface="Open Sans"/>
              </a:rPr>
              <a:t>After 2-3 weeks DAPC meeting gets conducted in which lesson plan is gets approved</a:t>
            </a:r>
            <a:endParaRPr sz="1800">
              <a:solidFill>
                <a:schemeClr val="dk2"/>
              </a:solidFill>
              <a:latin typeface="Open Sans"/>
              <a:ea typeface="Open Sans"/>
              <a:cs typeface="Open Sans"/>
              <a:sym typeface="Open Sans"/>
            </a:endParaRPr>
          </a:p>
          <a:p>
            <a:pPr indent="0" lvl="0" marL="0" rtl="0" algn="l">
              <a:spcBef>
                <a:spcPts val="0"/>
              </a:spcBef>
              <a:spcAft>
                <a:spcPts val="0"/>
              </a:spcAft>
              <a:buNone/>
            </a:pPr>
            <a:r>
              <a:rPr lang="de-CH" sz="1800">
                <a:solidFill>
                  <a:schemeClr val="dk2"/>
                </a:solidFill>
                <a:latin typeface="Open Sans"/>
                <a:ea typeface="Open Sans"/>
                <a:cs typeface="Open Sans"/>
                <a:sym typeface="Open Sans"/>
              </a:rPr>
              <a:t>        Link for SA values </a:t>
            </a:r>
            <a:endParaRPr sz="1800">
              <a:solidFill>
                <a:schemeClr val="dk2"/>
              </a:solidFill>
              <a:latin typeface="Open Sans"/>
              <a:ea typeface="Open Sans"/>
              <a:cs typeface="Open Sans"/>
              <a:sym typeface="Open Sans"/>
            </a:endParaRPr>
          </a:p>
          <a:p>
            <a:pPr indent="0" lvl="0" marL="0" rtl="0" algn="l">
              <a:spcBef>
                <a:spcPts val="0"/>
              </a:spcBef>
              <a:spcAft>
                <a:spcPts val="0"/>
              </a:spcAft>
              <a:buNone/>
            </a:pPr>
            <a:r>
              <a:rPr lang="de-CH" sz="1800">
                <a:solidFill>
                  <a:schemeClr val="dk2"/>
                </a:solidFill>
                <a:latin typeface="Open Sans"/>
                <a:ea typeface="Open Sans"/>
                <a:cs typeface="Open Sans"/>
                <a:sym typeface="Open Sans"/>
              </a:rPr>
              <a:t>              PG even sem 2025 26 :: </a:t>
            </a:r>
            <a:r>
              <a:rPr lang="de-CH" sz="1800" u="sng">
                <a:solidFill>
                  <a:schemeClr val="hlink"/>
                </a:solidFill>
                <a:latin typeface="Open Sans"/>
                <a:ea typeface="Open Sans"/>
                <a:cs typeface="Open Sans"/>
                <a:sym typeface="Open Sans"/>
                <a:hlinkClick r:id="rId3"/>
              </a:rPr>
              <a:t>https://drive.google.com/file/d/1yVCzptUAHAB7JG8ioJmkKxuVKWI0NTdE/view?usp=sharing</a:t>
            </a:r>
            <a:r>
              <a:rPr lang="de-CH" sz="1800">
                <a:solidFill>
                  <a:schemeClr val="dk2"/>
                </a:solidFill>
                <a:latin typeface="Open Sans"/>
                <a:ea typeface="Open Sans"/>
                <a:cs typeface="Open Sans"/>
                <a:sym typeface="Open Sans"/>
              </a:rPr>
              <a:t> </a:t>
            </a:r>
            <a:endParaRPr sz="1800">
              <a:solidFill>
                <a:schemeClr val="dk2"/>
              </a:solidFill>
              <a:latin typeface="Open Sans"/>
              <a:ea typeface="Open Sans"/>
              <a:cs typeface="Open Sans"/>
              <a:sym typeface="Open Sans"/>
            </a:endParaRPr>
          </a:p>
          <a:p>
            <a:pPr indent="0" lvl="0" marL="0" rtl="0" algn="l">
              <a:spcBef>
                <a:spcPts val="0"/>
              </a:spcBef>
              <a:spcAft>
                <a:spcPts val="0"/>
              </a:spcAft>
              <a:buNone/>
            </a:pPr>
            <a:r>
              <a:rPr lang="de-CH" sz="1800">
                <a:solidFill>
                  <a:schemeClr val="dk2"/>
                </a:solidFill>
                <a:latin typeface="Open Sans"/>
                <a:ea typeface="Open Sans"/>
                <a:cs typeface="Open Sans"/>
                <a:sym typeface="Open Sans"/>
              </a:rPr>
              <a:t>              PG Odd sem 2025 26 : </a:t>
            </a:r>
            <a:endParaRPr sz="1800">
              <a:solidFill>
                <a:schemeClr val="dk2"/>
              </a:solidFill>
              <a:latin typeface="Open Sans"/>
              <a:ea typeface="Open Sans"/>
              <a:cs typeface="Open Sans"/>
              <a:sym typeface="Open Sans"/>
            </a:endParaRPr>
          </a:p>
          <a:p>
            <a:pPr indent="0" lvl="0" marL="0" rtl="0" algn="l">
              <a:spcBef>
                <a:spcPts val="0"/>
              </a:spcBef>
              <a:spcAft>
                <a:spcPts val="0"/>
              </a:spcAft>
              <a:buNone/>
            </a:pPr>
            <a:r>
              <a:rPr lang="de-CH" sz="1800" u="sng">
                <a:solidFill>
                  <a:schemeClr val="hlink"/>
                </a:solidFill>
                <a:latin typeface="Open Sans"/>
                <a:ea typeface="Open Sans"/>
                <a:cs typeface="Open Sans"/>
                <a:sym typeface="Open Sans"/>
                <a:hlinkClick r:id="rId4"/>
              </a:rPr>
              <a:t>https://drive.google.com/file/d/1cNbKmAUTvDkBCqct1wrzvA9VYpSagI2R/view?usp=sharing</a:t>
            </a:r>
            <a:r>
              <a:rPr lang="de-CH" sz="1800">
                <a:solidFill>
                  <a:schemeClr val="dk2"/>
                </a:solidFill>
                <a:latin typeface="Open Sans"/>
                <a:ea typeface="Open Sans"/>
                <a:cs typeface="Open Sans"/>
                <a:sym typeface="Open Sans"/>
              </a:rPr>
              <a:t> </a:t>
            </a:r>
            <a:endParaRPr sz="1800">
              <a:solidFill>
                <a:schemeClr val="dk2"/>
              </a:solidFill>
              <a:latin typeface="Open Sans"/>
              <a:ea typeface="Open Sans"/>
              <a:cs typeface="Open Sans"/>
              <a:sym typeface="Open Sans"/>
            </a:endParaRPr>
          </a:p>
          <a:p>
            <a:pPr indent="0" lvl="0" marL="0" rtl="0" algn="l">
              <a:spcBef>
                <a:spcPts val="0"/>
              </a:spcBef>
              <a:spcAft>
                <a:spcPts val="0"/>
              </a:spcAft>
              <a:buNone/>
            </a:pPr>
            <a:r>
              <a:t/>
            </a:r>
            <a:endParaRPr sz="1800">
              <a:solidFill>
                <a:schemeClr val="dk2"/>
              </a:solidFill>
              <a:latin typeface="Open Sans"/>
              <a:ea typeface="Open Sans"/>
              <a:cs typeface="Open Sans"/>
              <a:sym typeface="Open Sans"/>
            </a:endParaRPr>
          </a:p>
          <a:p>
            <a:pPr indent="0" lvl="0" marL="0" rtl="0" algn="l">
              <a:spcBef>
                <a:spcPts val="0"/>
              </a:spcBef>
              <a:spcAft>
                <a:spcPts val="0"/>
              </a:spcAft>
              <a:buNone/>
            </a:pPr>
            <a:r>
              <a:rPr lang="de-CH" sz="1800">
                <a:solidFill>
                  <a:schemeClr val="dk2"/>
                </a:solidFill>
                <a:latin typeface="Open Sans"/>
                <a:ea typeface="Open Sans"/>
                <a:cs typeface="Open Sans"/>
                <a:sym typeface="Open Sans"/>
              </a:rPr>
              <a:t>              </a:t>
            </a:r>
            <a:endParaRPr sz="1800">
              <a:solidFill>
                <a:schemeClr val="dk2"/>
              </a:solidFill>
              <a:latin typeface="Open Sans"/>
              <a:ea typeface="Open Sans"/>
              <a:cs typeface="Open Sans"/>
              <a:sym typeface="Open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hd72da3054435e2_8_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800"/>
              <a:buNone/>
            </a:pPr>
            <a:r>
              <a:rPr lang="de-CH" sz="1800"/>
              <a:t>C4. Coverage of syllabus in examinations including ISE, MSE, ESE is fair, and MSE/ESE are designed to have natural gaussian. June 2025       </a:t>
            </a:r>
            <a:r>
              <a:rPr lang="de-CH" sz="3000">
                <a:solidFill>
                  <a:srgbClr val="FF0000"/>
                </a:solidFill>
              </a:rPr>
              <a:t>AAG -refer last audit ppt</a:t>
            </a:r>
            <a:endParaRPr sz="3000">
              <a:solidFill>
                <a:srgbClr val="FF0000"/>
              </a:solidFill>
            </a:endParaRPr>
          </a:p>
          <a:p>
            <a:pPr indent="0" lvl="0" marL="0" rtl="0" algn="l">
              <a:lnSpc>
                <a:spcPct val="100000"/>
              </a:lnSpc>
              <a:spcBef>
                <a:spcPts val="0"/>
              </a:spcBef>
              <a:spcAft>
                <a:spcPts val="0"/>
              </a:spcAft>
              <a:buSzPts val="1800"/>
              <a:buNone/>
            </a:pPr>
            <a:r>
              <a:t/>
            </a:r>
            <a:endParaRPr sz="1800"/>
          </a:p>
        </p:txBody>
      </p:sp>
      <p:sp>
        <p:nvSpPr>
          <p:cNvPr id="318" name="Google Shape;318;hd72da3054435e2_8_3"/>
          <p:cNvSpPr txBox="1"/>
          <p:nvPr/>
        </p:nvSpPr>
        <p:spPr>
          <a:xfrm>
            <a:off x="644550" y="987200"/>
            <a:ext cx="8107200" cy="37482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Font typeface="Open Sans"/>
              <a:buChar char="●"/>
            </a:pPr>
            <a:r>
              <a:rPr lang="de-CH" sz="1800">
                <a:solidFill>
                  <a:schemeClr val="dk2"/>
                </a:solidFill>
                <a:latin typeface="Open Sans"/>
                <a:ea typeface="Open Sans"/>
                <a:cs typeface="Open Sans"/>
                <a:sym typeface="Open Sans"/>
              </a:rPr>
              <a:t>UG even sem 2025 26:  </a:t>
            </a:r>
            <a:r>
              <a:rPr lang="de-CH" sz="1800" u="sng">
                <a:solidFill>
                  <a:schemeClr val="hlink"/>
                </a:solidFill>
                <a:latin typeface="Open Sans"/>
                <a:ea typeface="Open Sans"/>
                <a:cs typeface="Open Sans"/>
                <a:sym typeface="Open Sans"/>
                <a:hlinkClick r:id="rId3"/>
              </a:rPr>
              <a:t>https://drive.google.com/file/d/16oR8o46WwVx6lkaNGlzVifPnFHaKH3BL/view?usp=sharing</a:t>
            </a:r>
            <a:r>
              <a:rPr lang="de-CH" sz="1800">
                <a:solidFill>
                  <a:schemeClr val="dk2"/>
                </a:solidFill>
                <a:latin typeface="Open Sans"/>
                <a:ea typeface="Open Sans"/>
                <a:cs typeface="Open Sans"/>
                <a:sym typeface="Open Sans"/>
              </a:rPr>
              <a:t> </a:t>
            </a:r>
            <a:endParaRPr sz="1800">
              <a:solidFill>
                <a:schemeClr val="dk2"/>
              </a:solidFill>
              <a:latin typeface="Open Sans"/>
              <a:ea typeface="Open Sans"/>
              <a:cs typeface="Open Sans"/>
              <a:sym typeface="Open Sans"/>
            </a:endParaRPr>
          </a:p>
          <a:p>
            <a:pPr indent="-342900" lvl="0" marL="457200" rtl="0" algn="l">
              <a:spcBef>
                <a:spcPts val="0"/>
              </a:spcBef>
              <a:spcAft>
                <a:spcPts val="0"/>
              </a:spcAft>
              <a:buClr>
                <a:schemeClr val="dk2"/>
              </a:buClr>
              <a:buSzPts val="1800"/>
              <a:buFont typeface="Open Sans"/>
              <a:buChar char="●"/>
            </a:pPr>
            <a:r>
              <a:rPr lang="de-CH" sz="1800">
                <a:solidFill>
                  <a:schemeClr val="dk2"/>
                </a:solidFill>
                <a:latin typeface="Open Sans"/>
                <a:ea typeface="Open Sans"/>
                <a:cs typeface="Open Sans"/>
                <a:sym typeface="Open Sans"/>
              </a:rPr>
              <a:t>UG odd sem 2025 26: </a:t>
            </a:r>
            <a:endParaRPr sz="1800">
              <a:solidFill>
                <a:schemeClr val="dk2"/>
              </a:solidFill>
              <a:latin typeface="Open Sans"/>
              <a:ea typeface="Open Sans"/>
              <a:cs typeface="Open Sans"/>
              <a:sym typeface="Open Sans"/>
            </a:endParaRPr>
          </a:p>
          <a:p>
            <a:pPr indent="0" lvl="0" marL="457200" rtl="0" algn="l">
              <a:spcBef>
                <a:spcPts val="0"/>
              </a:spcBef>
              <a:spcAft>
                <a:spcPts val="0"/>
              </a:spcAft>
              <a:buNone/>
            </a:pPr>
            <a:r>
              <a:rPr lang="de-CH" sz="1800" u="sng">
                <a:solidFill>
                  <a:schemeClr val="hlink"/>
                </a:solidFill>
                <a:latin typeface="Open Sans"/>
                <a:ea typeface="Open Sans"/>
                <a:cs typeface="Open Sans"/>
                <a:sym typeface="Open Sans"/>
                <a:hlinkClick r:id="rId4"/>
              </a:rPr>
              <a:t>https://drive.google.com/file/d/1Av_rjzyfGylu5oWv0gCjZ9CCPu55sf73/view?usp=sharing</a:t>
            </a:r>
            <a:r>
              <a:rPr lang="de-CH" sz="1800">
                <a:solidFill>
                  <a:schemeClr val="dk2"/>
                </a:solidFill>
                <a:latin typeface="Open Sans"/>
                <a:ea typeface="Open Sans"/>
                <a:cs typeface="Open Sans"/>
                <a:sym typeface="Open Sans"/>
              </a:rPr>
              <a:t> </a:t>
            </a:r>
            <a:endParaRPr sz="1800">
              <a:solidFill>
                <a:schemeClr val="dk2"/>
              </a:solidFill>
              <a:latin typeface="Open Sans"/>
              <a:ea typeface="Open Sans"/>
              <a:cs typeface="Open Sans"/>
              <a:sym typeface="Open Sans"/>
            </a:endParaRPr>
          </a:p>
          <a:p>
            <a:pPr indent="0" lvl="0" marL="0" rtl="0" algn="l">
              <a:spcBef>
                <a:spcPts val="0"/>
              </a:spcBef>
              <a:spcAft>
                <a:spcPts val="0"/>
              </a:spcAft>
              <a:buNone/>
            </a:pPr>
            <a:r>
              <a:rPr lang="de-CH" sz="1800">
                <a:solidFill>
                  <a:schemeClr val="dk2"/>
                </a:solidFill>
                <a:latin typeface="Open Sans"/>
                <a:ea typeface="Open Sans"/>
                <a:cs typeface="Open Sans"/>
                <a:sym typeface="Open Sans"/>
              </a:rPr>
              <a:t>              </a:t>
            </a:r>
            <a:endParaRPr sz="1800">
              <a:solidFill>
                <a:schemeClr val="dk2"/>
              </a:solidFill>
              <a:latin typeface="Open Sans"/>
              <a:ea typeface="Open Sans"/>
              <a:cs typeface="Open Sans"/>
              <a:sym typeface="Open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g2785df75f99_0_55"/>
          <p:cNvSpPr txBox="1"/>
          <p:nvPr>
            <p:ph type="title"/>
          </p:nvPr>
        </p:nvSpPr>
        <p:spPr>
          <a:xfrm>
            <a:off x="457200" y="205976"/>
            <a:ext cx="8229600" cy="642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800"/>
              <a:buNone/>
            </a:pPr>
            <a:r>
              <a:rPr lang="de-CH" sz="2400"/>
              <a:t>C4. Coverage of syllabus in examinations including ISE, MSE, ESE is fair, and MSE/ESE are designed to have natural gaussian. </a:t>
            </a:r>
            <a:r>
              <a:rPr lang="de-CH" sz="3000">
                <a:solidFill>
                  <a:srgbClr val="FF0000"/>
                </a:solidFill>
              </a:rPr>
              <a:t> (OE)- </a:t>
            </a:r>
            <a:r>
              <a:rPr lang="de-CH" sz="3000">
                <a:solidFill>
                  <a:srgbClr val="FF0000"/>
                </a:solidFill>
              </a:rPr>
              <a:t> AAG </a:t>
            </a:r>
            <a:endParaRPr sz="2400"/>
          </a:p>
          <a:p>
            <a:pPr indent="0" lvl="0" marL="0" rtl="0" algn="l">
              <a:lnSpc>
                <a:spcPct val="100000"/>
              </a:lnSpc>
              <a:spcBef>
                <a:spcPts val="0"/>
              </a:spcBef>
              <a:spcAft>
                <a:spcPts val="0"/>
              </a:spcAft>
              <a:buSzPts val="1800"/>
              <a:buNone/>
            </a:pPr>
            <a:r>
              <a:t/>
            </a:r>
            <a:endParaRPr sz="2400"/>
          </a:p>
        </p:txBody>
      </p:sp>
      <p:pic>
        <p:nvPicPr>
          <p:cNvPr id="324" name="Google Shape;324;g2785df75f99_0_55"/>
          <p:cNvPicPr preferRelativeResize="0"/>
          <p:nvPr/>
        </p:nvPicPr>
        <p:blipFill>
          <a:blip r:embed="rId3">
            <a:alphaModFix/>
          </a:blip>
          <a:stretch>
            <a:fillRect/>
          </a:stretch>
        </p:blipFill>
        <p:spPr>
          <a:xfrm>
            <a:off x="1882275" y="1282478"/>
            <a:ext cx="4999537" cy="3775322"/>
          </a:xfrm>
          <a:prstGeom prst="rect">
            <a:avLst/>
          </a:prstGeom>
          <a:noFill/>
          <a:ln>
            <a:noFill/>
          </a:ln>
        </p:spPr>
      </p:pic>
      <p:sp>
        <p:nvSpPr>
          <p:cNvPr id="325" name="Google Shape;325;g2785df75f99_0_55"/>
          <p:cNvSpPr txBox="1"/>
          <p:nvPr/>
        </p:nvSpPr>
        <p:spPr>
          <a:xfrm>
            <a:off x="1434838" y="774475"/>
            <a:ext cx="5894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CH" sz="1800">
                <a:solidFill>
                  <a:schemeClr val="dk2"/>
                </a:solidFill>
                <a:latin typeface="Open Sans"/>
                <a:ea typeface="Open Sans"/>
                <a:cs typeface="Open Sans"/>
                <a:sym typeface="Open Sans"/>
              </a:rPr>
              <a:t>SAMPLE Gaussian Distribution Graph for OE subjects</a:t>
            </a:r>
            <a:endParaRPr sz="1800">
              <a:solidFill>
                <a:schemeClr val="dk2"/>
              </a:solidFill>
              <a:latin typeface="Open Sans"/>
              <a:ea typeface="Open Sans"/>
              <a:cs typeface="Open Sans"/>
              <a:sym typeface="Open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g2785df75f99_0_60"/>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800"/>
              <a:buNone/>
            </a:pPr>
            <a:r>
              <a:rPr lang="de-CH" sz="2400"/>
              <a:t>C4. Coverage of syllabus in examinations including ISE, MSE, ESE is fair, and MSE/ESE are designed to have natural gaussian.    (</a:t>
            </a:r>
            <a:r>
              <a:rPr lang="de-CH" sz="3000">
                <a:solidFill>
                  <a:srgbClr val="FF0000"/>
                </a:solidFill>
              </a:rPr>
              <a:t>PE)</a:t>
            </a:r>
            <a:r>
              <a:rPr lang="de-CH" sz="3000">
                <a:solidFill>
                  <a:srgbClr val="FF0000"/>
                </a:solidFill>
              </a:rPr>
              <a:t>-  AAG</a:t>
            </a:r>
            <a:endParaRPr sz="2400"/>
          </a:p>
        </p:txBody>
      </p:sp>
      <p:pic>
        <p:nvPicPr>
          <p:cNvPr id="331" name="Google Shape;331;g2785df75f99_0_60"/>
          <p:cNvPicPr preferRelativeResize="0"/>
          <p:nvPr/>
        </p:nvPicPr>
        <p:blipFill>
          <a:blip r:embed="rId3">
            <a:alphaModFix/>
          </a:blip>
          <a:stretch>
            <a:fillRect/>
          </a:stretch>
        </p:blipFill>
        <p:spPr>
          <a:xfrm>
            <a:off x="2522599" y="1725275"/>
            <a:ext cx="4576950" cy="3418225"/>
          </a:xfrm>
          <a:prstGeom prst="rect">
            <a:avLst/>
          </a:prstGeom>
          <a:noFill/>
          <a:ln>
            <a:noFill/>
          </a:ln>
        </p:spPr>
      </p:pic>
      <p:sp>
        <p:nvSpPr>
          <p:cNvPr id="332" name="Google Shape;332;g2785df75f99_0_60"/>
          <p:cNvSpPr txBox="1"/>
          <p:nvPr/>
        </p:nvSpPr>
        <p:spPr>
          <a:xfrm>
            <a:off x="1884605" y="1108918"/>
            <a:ext cx="5894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CH" sz="1800">
                <a:solidFill>
                  <a:schemeClr val="dk2"/>
                </a:solidFill>
                <a:latin typeface="Open Sans"/>
                <a:ea typeface="Open Sans"/>
                <a:cs typeface="Open Sans"/>
                <a:sym typeface="Open Sans"/>
              </a:rPr>
              <a:t>SAMPLE Gaussian Distribution Graph for PE subjects</a:t>
            </a:r>
            <a:endParaRPr sz="1800">
              <a:solidFill>
                <a:schemeClr val="dk2"/>
              </a:solidFill>
              <a:latin typeface="Open Sans"/>
              <a:ea typeface="Open Sans"/>
              <a:cs typeface="Open Sans"/>
              <a:sym typeface="Open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g2785df75f99_0_91"/>
          <p:cNvSpPr txBox="1"/>
          <p:nvPr>
            <p:ph type="title"/>
          </p:nvPr>
        </p:nvSpPr>
        <p:spPr>
          <a:xfrm>
            <a:off x="311700" y="237450"/>
            <a:ext cx="8520600" cy="623400"/>
          </a:xfrm>
          <a:prstGeom prst="rect">
            <a:avLst/>
          </a:prstGeom>
          <a:noFill/>
          <a:ln>
            <a:noFill/>
          </a:ln>
        </p:spPr>
        <p:txBody>
          <a:bodyPr anchorCtr="0" anchor="t" bIns="91425" lIns="91425" spcFirstLastPara="1" rIns="91425" wrap="square" tIns="91425">
            <a:normAutofit/>
          </a:bodyPr>
          <a:lstStyle/>
          <a:p>
            <a:pPr indent="0" lvl="0" marL="0" rtl="0" algn="just">
              <a:lnSpc>
                <a:spcPct val="95000"/>
              </a:lnSpc>
              <a:spcBef>
                <a:spcPts val="0"/>
              </a:spcBef>
              <a:spcAft>
                <a:spcPts val="0"/>
              </a:spcAft>
              <a:buClr>
                <a:srgbClr val="000000"/>
              </a:buClr>
              <a:buSzPts val="1800"/>
              <a:buFont typeface="Arial"/>
              <a:buNone/>
            </a:pPr>
            <a:r>
              <a:rPr lang="de-CH" sz="1700">
                <a:solidFill>
                  <a:schemeClr val="dk2"/>
                </a:solidFill>
                <a:latin typeface="Times New Roman"/>
                <a:ea typeface="Times New Roman"/>
                <a:cs typeface="Times New Roman"/>
                <a:sym typeface="Times New Roman"/>
              </a:rPr>
              <a:t>C5 Transparency in evaluation including display of marks/ grades secured in every course.</a:t>
            </a:r>
            <a:endParaRPr/>
          </a:p>
        </p:txBody>
      </p:sp>
      <p:sp>
        <p:nvSpPr>
          <p:cNvPr id="338" name="Google Shape;338;g2785df75f99_0_91"/>
          <p:cNvSpPr txBox="1"/>
          <p:nvPr>
            <p:ph idx="1" type="body"/>
          </p:nvPr>
        </p:nvSpPr>
        <p:spPr>
          <a:xfrm>
            <a:off x="311700" y="979725"/>
            <a:ext cx="8520600" cy="4163700"/>
          </a:xfrm>
          <a:prstGeom prst="rect">
            <a:avLst/>
          </a:prstGeom>
          <a:noFill/>
          <a:ln>
            <a:noFill/>
          </a:ln>
        </p:spPr>
        <p:txBody>
          <a:bodyPr anchorCtr="0" anchor="t" bIns="91425" lIns="91425" spcFirstLastPara="1" rIns="91425" wrap="square" tIns="91425">
            <a:noAutofit/>
          </a:bodyPr>
          <a:lstStyle/>
          <a:p>
            <a:pPr indent="-279400" lvl="0" marL="457200" rtl="0" algn="just">
              <a:lnSpc>
                <a:spcPct val="95000"/>
              </a:lnSpc>
              <a:spcBef>
                <a:spcPts val="0"/>
              </a:spcBef>
              <a:spcAft>
                <a:spcPts val="0"/>
              </a:spcAft>
              <a:buClr>
                <a:schemeClr val="dk2"/>
              </a:buClr>
              <a:buSzPts val="800"/>
              <a:buFont typeface="Times New Roman"/>
              <a:buChar char="●"/>
            </a:pPr>
            <a:r>
              <a:rPr lang="de-CH" sz="1700">
                <a:solidFill>
                  <a:schemeClr val="dk2"/>
                </a:solidFill>
                <a:latin typeface="Times New Roman"/>
                <a:ea typeface="Times New Roman"/>
                <a:cs typeface="Times New Roman"/>
                <a:sym typeface="Times New Roman"/>
              </a:rPr>
              <a:t>The ISE ,MSE , ESE dates and grading method along with Rubrics are announced at the start of the course through common platform like Google Classroom ,Email, Moodle ,e.t.c. to maintain transparency in evaluation system.Also , the marks are displayed immediately after the assessment.</a:t>
            </a:r>
            <a:endParaRPr>
              <a:solidFill>
                <a:srgbClr val="695D46"/>
              </a:solidFill>
              <a:latin typeface="Times New Roman"/>
              <a:ea typeface="Times New Roman"/>
              <a:cs typeface="Times New Roman"/>
              <a:sym typeface="Times New Roman"/>
            </a:endParaRPr>
          </a:p>
          <a:p>
            <a:pPr indent="-336550" lvl="0" marL="457200" rtl="0" algn="l">
              <a:lnSpc>
                <a:spcPct val="150000"/>
              </a:lnSpc>
              <a:spcBef>
                <a:spcPts val="0"/>
              </a:spcBef>
              <a:spcAft>
                <a:spcPts val="0"/>
              </a:spcAft>
              <a:buSzPts val="1700"/>
              <a:buFont typeface="Times New Roman"/>
              <a:buChar char="●"/>
            </a:pPr>
            <a:r>
              <a:rPr lang="de-CH">
                <a:solidFill>
                  <a:srgbClr val="695D46"/>
                </a:solidFill>
                <a:latin typeface="Times New Roman"/>
                <a:ea typeface="Times New Roman"/>
                <a:cs typeface="Times New Roman"/>
                <a:sym typeface="Times New Roman"/>
              </a:rPr>
              <a:t>Open house gets conducted for MSE/ESE</a:t>
            </a:r>
            <a:endParaRPr>
              <a:solidFill>
                <a:srgbClr val="695D46"/>
              </a:solidFill>
              <a:latin typeface="Times New Roman"/>
              <a:ea typeface="Times New Roman"/>
              <a:cs typeface="Times New Roman"/>
              <a:sym typeface="Times New Roman"/>
            </a:endParaRPr>
          </a:p>
          <a:p>
            <a:pPr indent="-336550" lvl="0" marL="457200" rtl="0" algn="l">
              <a:lnSpc>
                <a:spcPct val="150000"/>
              </a:lnSpc>
              <a:spcBef>
                <a:spcPts val="0"/>
              </a:spcBef>
              <a:spcAft>
                <a:spcPts val="0"/>
              </a:spcAft>
              <a:buSzPts val="1700"/>
              <a:buFont typeface="Times New Roman"/>
              <a:buChar char="●"/>
            </a:pPr>
            <a:r>
              <a:rPr lang="de-CH">
                <a:solidFill>
                  <a:srgbClr val="695D46"/>
                </a:solidFill>
                <a:latin typeface="Times New Roman"/>
                <a:ea typeface="Times New Roman"/>
                <a:cs typeface="Times New Roman"/>
                <a:sym typeface="Times New Roman"/>
              </a:rPr>
              <a:t>Grievances gets addressed in the open house</a:t>
            </a:r>
            <a:endParaRPr>
              <a:solidFill>
                <a:srgbClr val="695D46"/>
              </a:solidFill>
              <a:latin typeface="Times New Roman"/>
              <a:ea typeface="Times New Roman"/>
              <a:cs typeface="Times New Roman"/>
              <a:sym typeface="Times New Roman"/>
            </a:endParaRPr>
          </a:p>
          <a:p>
            <a:pPr indent="0" lvl="0" marL="457200" rtl="0" algn="just">
              <a:lnSpc>
                <a:spcPct val="80000"/>
              </a:lnSpc>
              <a:spcBef>
                <a:spcPts val="0"/>
              </a:spcBef>
              <a:spcAft>
                <a:spcPts val="0"/>
              </a:spcAft>
              <a:buSzPts val="1800"/>
              <a:buNone/>
            </a:pPr>
            <a:r>
              <a:t/>
            </a:r>
            <a:endParaRPr sz="500">
              <a:solidFill>
                <a:srgbClr val="FF0000"/>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2785df75f99_0_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just">
              <a:lnSpc>
                <a:spcPct val="95000"/>
              </a:lnSpc>
              <a:spcBef>
                <a:spcPts val="0"/>
              </a:spcBef>
              <a:spcAft>
                <a:spcPts val="0"/>
              </a:spcAft>
              <a:buNone/>
            </a:pPr>
            <a:r>
              <a:rPr lang="de-CH" sz="1700">
                <a:solidFill>
                  <a:srgbClr val="000000"/>
                </a:solidFill>
                <a:latin typeface="Times New Roman"/>
                <a:ea typeface="Times New Roman"/>
                <a:cs typeface="Times New Roman"/>
                <a:sym typeface="Times New Roman"/>
              </a:rPr>
              <a:t>C6 Department encourages innovations in the assessment. Identifies the best performing       faculty in this aspect.   </a:t>
            </a:r>
            <a:r>
              <a:rPr lang="de-CH" sz="3000">
                <a:solidFill>
                  <a:srgbClr val="FF0000"/>
                </a:solidFill>
                <a:highlight>
                  <a:schemeClr val="lt1"/>
                </a:highlight>
                <a:latin typeface="Times New Roman"/>
                <a:ea typeface="Times New Roman"/>
                <a:cs typeface="Times New Roman"/>
                <a:sym typeface="Times New Roman"/>
              </a:rPr>
              <a:t>Rupali S.</a:t>
            </a:r>
            <a:endParaRPr/>
          </a:p>
        </p:txBody>
      </p:sp>
      <p:sp>
        <p:nvSpPr>
          <p:cNvPr id="344" name="Google Shape;344;g2785df75f99_0_4"/>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0" lvl="0" marL="457200" rtl="0" algn="just">
              <a:lnSpc>
                <a:spcPct val="95000"/>
              </a:lnSpc>
              <a:spcBef>
                <a:spcPts val="0"/>
              </a:spcBef>
              <a:spcAft>
                <a:spcPts val="0"/>
              </a:spcAft>
              <a:buNone/>
            </a:pPr>
            <a:r>
              <a:t/>
            </a:r>
            <a:endParaRPr sz="1700">
              <a:latin typeface="Times New Roman"/>
              <a:ea typeface="Times New Roman"/>
              <a:cs typeface="Times New Roman"/>
              <a:sym typeface="Times New Roman"/>
            </a:endParaRPr>
          </a:p>
          <a:p>
            <a:pPr indent="0" lvl="0" marL="0" rtl="0" algn="l">
              <a:lnSpc>
                <a:spcPct val="115000"/>
              </a:lnSpc>
              <a:spcBef>
                <a:spcPts val="0"/>
              </a:spcBef>
              <a:spcAft>
                <a:spcPts val="0"/>
              </a:spcAft>
              <a:buSzPts val="1800"/>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hd72da3054435e2_16_3"/>
          <p:cNvSpPr txBox="1"/>
          <p:nvPr>
            <p:ph type="title"/>
          </p:nvPr>
        </p:nvSpPr>
        <p:spPr>
          <a:xfrm>
            <a:off x="311700" y="135050"/>
            <a:ext cx="8597100" cy="902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0" lang="de-CH" sz="1800">
                <a:solidFill>
                  <a:srgbClr val="000000"/>
                </a:solidFill>
                <a:latin typeface="Calibri"/>
                <a:ea typeface="Calibri"/>
                <a:cs typeface="Calibri"/>
                <a:sym typeface="Calibri"/>
              </a:rPr>
              <a:t>C7 Department analyzes the results critically, reason out the abnormalities, deliberates in meetings, and finds out the solutions. Extremities are identified and mentored.   </a:t>
            </a:r>
            <a:r>
              <a:rPr lang="de-CH" sz="3000">
                <a:solidFill>
                  <a:srgbClr val="FF0000"/>
                </a:solidFill>
                <a:highlight>
                  <a:schemeClr val="lt1"/>
                </a:highlight>
                <a:latin typeface="Calibri"/>
                <a:ea typeface="Calibri"/>
                <a:cs typeface="Calibri"/>
                <a:sym typeface="Calibri"/>
              </a:rPr>
              <a:t>RK</a:t>
            </a:r>
            <a:endParaRPr sz="3000">
              <a:solidFill>
                <a:srgbClr val="FF0000"/>
              </a:solidFill>
              <a:highlight>
                <a:schemeClr val="lt1"/>
              </a:highlight>
              <a:latin typeface="Calibri"/>
              <a:ea typeface="Calibri"/>
              <a:cs typeface="Calibri"/>
              <a:sym typeface="Calibri"/>
            </a:endParaRPr>
          </a:p>
          <a:p>
            <a:pPr indent="0" lvl="0" marL="0" rtl="0" algn="just">
              <a:spcBef>
                <a:spcPts val="0"/>
              </a:spcBef>
              <a:spcAft>
                <a:spcPts val="0"/>
              </a:spcAft>
              <a:buNone/>
            </a:pPr>
            <a:r>
              <a:t/>
            </a:r>
            <a:endParaRPr sz="1600">
              <a:solidFill>
                <a:srgbClr val="FF0000"/>
              </a:solidFill>
              <a:latin typeface="Calibri"/>
              <a:ea typeface="Calibri"/>
              <a:cs typeface="Calibri"/>
              <a:sym typeface="Calibri"/>
            </a:endParaRPr>
          </a:p>
          <a:p>
            <a:pPr indent="0" lvl="0" marL="0" rtl="0" algn="just">
              <a:spcBef>
                <a:spcPts val="0"/>
              </a:spcBef>
              <a:spcAft>
                <a:spcPts val="0"/>
              </a:spcAft>
              <a:buNone/>
            </a:pPr>
            <a:r>
              <a:t/>
            </a:r>
            <a:endParaRPr sz="3000">
              <a:solidFill>
                <a:srgbClr val="FF0000"/>
              </a:solidFill>
              <a:latin typeface="Calibri"/>
              <a:ea typeface="Calibri"/>
              <a:cs typeface="Calibri"/>
              <a:sym typeface="Calibri"/>
            </a:endParaRPr>
          </a:p>
          <a:p>
            <a:pPr indent="0" lvl="0" marL="0" rtl="0" algn="just">
              <a:spcBef>
                <a:spcPts val="0"/>
              </a:spcBef>
              <a:spcAft>
                <a:spcPts val="0"/>
              </a:spcAft>
              <a:buNone/>
            </a:pPr>
            <a:r>
              <a:t/>
            </a:r>
            <a:endParaRPr sz="3000">
              <a:solidFill>
                <a:srgbClr val="FF0000"/>
              </a:solidFill>
              <a:latin typeface="Calibri"/>
              <a:ea typeface="Calibri"/>
              <a:cs typeface="Calibri"/>
              <a:sym typeface="Calibri"/>
            </a:endParaRPr>
          </a:p>
        </p:txBody>
      </p:sp>
      <p:pic>
        <p:nvPicPr>
          <p:cNvPr id="350" name="Google Shape;350;hd72da3054435e2_16_3"/>
          <p:cNvPicPr preferRelativeResize="0"/>
          <p:nvPr/>
        </p:nvPicPr>
        <p:blipFill>
          <a:blip r:embed="rId3">
            <a:alphaModFix/>
          </a:blip>
          <a:stretch>
            <a:fillRect/>
          </a:stretch>
        </p:blipFill>
        <p:spPr>
          <a:xfrm>
            <a:off x="5020731" y="1883763"/>
            <a:ext cx="3475999" cy="2294389"/>
          </a:xfrm>
          <a:prstGeom prst="rect">
            <a:avLst/>
          </a:prstGeom>
          <a:noFill/>
          <a:ln>
            <a:noFill/>
          </a:ln>
        </p:spPr>
      </p:pic>
      <p:sp>
        <p:nvSpPr>
          <p:cNvPr id="351" name="Google Shape;351;hd72da3054435e2_16_3"/>
          <p:cNvSpPr txBox="1"/>
          <p:nvPr/>
        </p:nvSpPr>
        <p:spPr>
          <a:xfrm>
            <a:off x="4833875" y="962349"/>
            <a:ext cx="4074900" cy="902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de-CH" sz="1600">
                <a:solidFill>
                  <a:srgbClr val="FF0000"/>
                </a:solidFill>
                <a:latin typeface="Calibri"/>
                <a:ea typeface="Calibri"/>
                <a:cs typeface="Calibri"/>
                <a:sym typeface="Calibri"/>
              </a:rPr>
              <a:t>Course Name - Operating System</a:t>
            </a:r>
            <a:endParaRPr b="1" sz="1600">
              <a:solidFill>
                <a:srgbClr val="FF0000"/>
              </a:solidFill>
              <a:latin typeface="Calibri"/>
              <a:ea typeface="Calibri"/>
              <a:cs typeface="Calibri"/>
              <a:sym typeface="Calibri"/>
            </a:endParaRPr>
          </a:p>
          <a:p>
            <a:pPr indent="0" lvl="0" marL="0" rtl="0" algn="just">
              <a:spcBef>
                <a:spcPts val="0"/>
              </a:spcBef>
              <a:spcAft>
                <a:spcPts val="0"/>
              </a:spcAft>
              <a:buNone/>
            </a:pPr>
            <a:r>
              <a:rPr b="1" lang="de-CH" sz="1600">
                <a:solidFill>
                  <a:srgbClr val="FF0000"/>
                </a:solidFill>
                <a:latin typeface="Calibri"/>
                <a:ea typeface="Calibri"/>
                <a:cs typeface="Calibri"/>
                <a:sym typeface="Calibri"/>
              </a:rPr>
              <a:t>No of students enrolled in the course - 451</a:t>
            </a:r>
            <a:endParaRPr b="1" sz="1600">
              <a:solidFill>
                <a:srgbClr val="FF0000"/>
              </a:solidFill>
              <a:latin typeface="Calibri"/>
              <a:ea typeface="Calibri"/>
              <a:cs typeface="Calibri"/>
              <a:sym typeface="Calibri"/>
            </a:endParaRPr>
          </a:p>
          <a:p>
            <a:pPr indent="0" lvl="0" marL="0" rtl="0" algn="just">
              <a:spcBef>
                <a:spcPts val="0"/>
              </a:spcBef>
              <a:spcAft>
                <a:spcPts val="0"/>
              </a:spcAft>
              <a:buNone/>
            </a:pPr>
            <a:r>
              <a:rPr b="1" lang="de-CH" sz="1600">
                <a:solidFill>
                  <a:srgbClr val="FF0000"/>
                </a:solidFill>
                <a:latin typeface="Calibri"/>
                <a:ea typeface="Calibri"/>
                <a:cs typeface="Calibri"/>
                <a:sym typeface="Calibri"/>
              </a:rPr>
              <a:t>Final SA Value - 73</a:t>
            </a:r>
            <a:endParaRPr sz="1800">
              <a:solidFill>
                <a:schemeClr val="dk2"/>
              </a:solidFill>
              <a:latin typeface="Open Sans"/>
              <a:ea typeface="Open Sans"/>
              <a:cs typeface="Open Sans"/>
              <a:sym typeface="Open Sans"/>
            </a:endParaRPr>
          </a:p>
        </p:txBody>
      </p:sp>
      <p:sp>
        <p:nvSpPr>
          <p:cNvPr id="352" name="Google Shape;352;hd72da3054435e2_16_3"/>
          <p:cNvSpPr txBox="1"/>
          <p:nvPr/>
        </p:nvSpPr>
        <p:spPr>
          <a:xfrm>
            <a:off x="751975" y="1669375"/>
            <a:ext cx="3819900" cy="24012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Font typeface="Times New Roman"/>
              <a:buChar char="❏"/>
            </a:pPr>
            <a:r>
              <a:rPr lang="de-CH" sz="1800">
                <a:solidFill>
                  <a:schemeClr val="dk2"/>
                </a:solidFill>
                <a:latin typeface="Times New Roman"/>
                <a:ea typeface="Times New Roman"/>
                <a:cs typeface="Times New Roman"/>
                <a:sym typeface="Times New Roman"/>
              </a:rPr>
              <a:t>Subject faculty prepares slides with 4 SA value graphs</a:t>
            </a:r>
            <a:endParaRPr sz="1800">
              <a:solidFill>
                <a:schemeClr val="dk2"/>
              </a:solidFill>
              <a:latin typeface="Times New Roman"/>
              <a:ea typeface="Times New Roman"/>
              <a:cs typeface="Times New Roman"/>
              <a:sym typeface="Times New Roman"/>
            </a:endParaRPr>
          </a:p>
          <a:p>
            <a:pPr indent="-342900" lvl="0" marL="457200" rtl="0" algn="l">
              <a:spcBef>
                <a:spcPts val="0"/>
              </a:spcBef>
              <a:spcAft>
                <a:spcPts val="0"/>
              </a:spcAft>
              <a:buClr>
                <a:schemeClr val="dk2"/>
              </a:buClr>
              <a:buSzPts val="1800"/>
              <a:buFont typeface="Times New Roman"/>
              <a:buChar char="❏"/>
            </a:pPr>
            <a:r>
              <a:rPr lang="de-CH" sz="1800">
                <a:solidFill>
                  <a:schemeClr val="dk2"/>
                </a:solidFill>
                <a:latin typeface="Times New Roman"/>
                <a:ea typeface="Times New Roman"/>
                <a:cs typeface="Times New Roman"/>
                <a:sym typeface="Times New Roman"/>
              </a:rPr>
              <a:t>Department meeting is convened to analyze SA value</a:t>
            </a:r>
            <a:endParaRPr sz="1800">
              <a:solidFill>
                <a:schemeClr val="dk2"/>
              </a:solidFill>
              <a:latin typeface="Times New Roman"/>
              <a:ea typeface="Times New Roman"/>
              <a:cs typeface="Times New Roman"/>
              <a:sym typeface="Times New Roman"/>
            </a:endParaRPr>
          </a:p>
          <a:p>
            <a:pPr indent="-342900" lvl="0" marL="457200" rtl="0" algn="l">
              <a:spcBef>
                <a:spcPts val="0"/>
              </a:spcBef>
              <a:spcAft>
                <a:spcPts val="0"/>
              </a:spcAft>
              <a:buClr>
                <a:schemeClr val="dk2"/>
              </a:buClr>
              <a:buSzPts val="1800"/>
              <a:buFont typeface="Times New Roman"/>
              <a:buChar char="❏"/>
            </a:pPr>
            <a:r>
              <a:rPr lang="de-CH" sz="1800">
                <a:solidFill>
                  <a:schemeClr val="dk2"/>
                </a:solidFill>
                <a:latin typeface="Times New Roman"/>
                <a:ea typeface="Times New Roman"/>
                <a:cs typeface="Times New Roman"/>
                <a:sym typeface="Times New Roman"/>
              </a:rPr>
              <a:t>Final SA value is selected such that %students in AA grade is 10-15% of total students</a:t>
            </a:r>
            <a:endParaRPr sz="1800">
              <a:solidFill>
                <a:schemeClr val="dk2"/>
              </a:solidFill>
              <a:latin typeface="Times New Roman"/>
              <a:ea typeface="Times New Roman"/>
              <a:cs typeface="Times New Roman"/>
              <a:sym typeface="Times New Roman"/>
            </a:endParaRPr>
          </a:p>
          <a:p>
            <a:pPr indent="-342900" lvl="0" marL="457200" rtl="0" algn="l">
              <a:spcBef>
                <a:spcPts val="0"/>
              </a:spcBef>
              <a:spcAft>
                <a:spcPts val="0"/>
              </a:spcAft>
              <a:buClr>
                <a:schemeClr val="dk2"/>
              </a:buClr>
              <a:buSzPts val="1800"/>
              <a:buFont typeface="Open Sans"/>
              <a:buChar char="❏"/>
            </a:pPr>
            <a:r>
              <a:t/>
            </a:r>
            <a:endParaRPr sz="1800">
              <a:solidFill>
                <a:schemeClr val="dk2"/>
              </a:solidFill>
              <a:latin typeface="Open Sans"/>
              <a:ea typeface="Open Sans"/>
              <a:cs typeface="Open Sans"/>
              <a:sym typeface="Open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g28ea2419252_1_742"/>
          <p:cNvSpPr txBox="1"/>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349250" lvl="0" marL="457200" rtl="0" algn="l">
              <a:lnSpc>
                <a:spcPct val="95000"/>
              </a:lnSpc>
              <a:spcBef>
                <a:spcPts val="0"/>
              </a:spcBef>
              <a:spcAft>
                <a:spcPts val="0"/>
              </a:spcAft>
              <a:buClr>
                <a:srgbClr val="1F1F1F"/>
              </a:buClr>
              <a:buSzPts val="1900"/>
              <a:buFont typeface="Times New Roman"/>
              <a:buChar char="❏"/>
            </a:pPr>
            <a:r>
              <a:rPr b="1" lang="de-CH" sz="1900">
                <a:solidFill>
                  <a:srgbClr val="1F1F1F"/>
                </a:solidFill>
                <a:latin typeface="Times New Roman"/>
                <a:ea typeface="Times New Roman"/>
                <a:cs typeface="Times New Roman"/>
                <a:sym typeface="Times New Roman"/>
              </a:rPr>
              <a:t>Usually SA Values are used for relative Grading and the result should follow the Gaussian Distribution</a:t>
            </a:r>
            <a:endParaRPr b="1" sz="1900">
              <a:solidFill>
                <a:srgbClr val="1F1F1F"/>
              </a:solidFill>
              <a:latin typeface="Times New Roman"/>
              <a:ea typeface="Times New Roman"/>
              <a:cs typeface="Times New Roman"/>
              <a:sym typeface="Times New Roman"/>
            </a:endParaRPr>
          </a:p>
          <a:p>
            <a:pPr indent="0" lvl="0" marL="457200" rtl="0" algn="l">
              <a:lnSpc>
                <a:spcPct val="95000"/>
              </a:lnSpc>
              <a:spcBef>
                <a:spcPts val="0"/>
              </a:spcBef>
              <a:spcAft>
                <a:spcPts val="0"/>
              </a:spcAft>
              <a:buNone/>
            </a:pPr>
            <a:r>
              <a:t/>
            </a:r>
            <a:endParaRPr b="1" sz="1900">
              <a:solidFill>
                <a:srgbClr val="1F1F1F"/>
              </a:solidFill>
              <a:latin typeface="Times New Roman"/>
              <a:ea typeface="Times New Roman"/>
              <a:cs typeface="Times New Roman"/>
              <a:sym typeface="Times New Roman"/>
            </a:endParaRPr>
          </a:p>
          <a:p>
            <a:pPr indent="-349250" lvl="0" marL="457200" rtl="0" algn="l">
              <a:lnSpc>
                <a:spcPct val="95000"/>
              </a:lnSpc>
              <a:spcBef>
                <a:spcPts val="0"/>
              </a:spcBef>
              <a:spcAft>
                <a:spcPts val="0"/>
              </a:spcAft>
              <a:buClr>
                <a:srgbClr val="1F1F1F"/>
              </a:buClr>
              <a:buSzPts val="1900"/>
              <a:buFont typeface="Times New Roman"/>
              <a:buChar char="❏"/>
            </a:pPr>
            <a:r>
              <a:rPr b="1" lang="de-CH" sz="1900">
                <a:solidFill>
                  <a:srgbClr val="1F1F1F"/>
                </a:solidFill>
                <a:latin typeface="Times New Roman"/>
                <a:ea typeface="Times New Roman"/>
                <a:cs typeface="Times New Roman"/>
                <a:sym typeface="Times New Roman"/>
              </a:rPr>
              <a:t>The OPEN house is conducted for  MSE and ESE where students can see his/her paper and marks awarded</a:t>
            </a:r>
            <a:endParaRPr b="1" sz="1900">
              <a:solidFill>
                <a:srgbClr val="1F1F1F"/>
              </a:solidFill>
              <a:latin typeface="Times New Roman"/>
              <a:ea typeface="Times New Roman"/>
              <a:cs typeface="Times New Roman"/>
              <a:sym typeface="Times New Roman"/>
            </a:endParaRPr>
          </a:p>
          <a:p>
            <a:pPr indent="0" lvl="0" marL="457200" rtl="0" algn="l">
              <a:lnSpc>
                <a:spcPct val="95000"/>
              </a:lnSpc>
              <a:spcBef>
                <a:spcPts val="0"/>
              </a:spcBef>
              <a:spcAft>
                <a:spcPts val="0"/>
              </a:spcAft>
              <a:buNone/>
            </a:pPr>
            <a:r>
              <a:t/>
            </a:r>
            <a:endParaRPr b="1" sz="1900">
              <a:solidFill>
                <a:srgbClr val="1F1F1F"/>
              </a:solidFill>
              <a:latin typeface="Times New Roman"/>
              <a:ea typeface="Times New Roman"/>
              <a:cs typeface="Times New Roman"/>
              <a:sym typeface="Times New Roman"/>
            </a:endParaRPr>
          </a:p>
          <a:p>
            <a:pPr indent="-349250" lvl="0" marL="457200" rtl="0" algn="l">
              <a:lnSpc>
                <a:spcPct val="95000"/>
              </a:lnSpc>
              <a:spcBef>
                <a:spcPts val="0"/>
              </a:spcBef>
              <a:spcAft>
                <a:spcPts val="0"/>
              </a:spcAft>
              <a:buClr>
                <a:srgbClr val="1F1F1F"/>
              </a:buClr>
              <a:buSzPts val="1900"/>
              <a:buFont typeface="Times New Roman"/>
              <a:buChar char="❏"/>
            </a:pPr>
            <a:r>
              <a:rPr b="1" lang="de-CH" sz="1900">
                <a:solidFill>
                  <a:srgbClr val="1F1F1F"/>
                </a:solidFill>
                <a:latin typeface="Times New Roman"/>
                <a:ea typeface="Times New Roman"/>
                <a:cs typeface="Times New Roman"/>
                <a:sym typeface="Times New Roman"/>
              </a:rPr>
              <a:t>Any grievances raised are solved by rechecking of the questions</a:t>
            </a:r>
            <a:endParaRPr b="1" sz="1900">
              <a:solidFill>
                <a:srgbClr val="1F1F1F"/>
              </a:solidFill>
              <a:latin typeface="Times New Roman"/>
              <a:ea typeface="Times New Roman"/>
              <a:cs typeface="Times New Roman"/>
              <a:sym typeface="Times New Roman"/>
            </a:endParaRPr>
          </a:p>
          <a:p>
            <a:pPr indent="0" lvl="0" marL="457200" rtl="0" algn="l">
              <a:lnSpc>
                <a:spcPct val="95000"/>
              </a:lnSpc>
              <a:spcBef>
                <a:spcPts val="0"/>
              </a:spcBef>
              <a:spcAft>
                <a:spcPts val="0"/>
              </a:spcAft>
              <a:buNone/>
            </a:pPr>
            <a:r>
              <a:t/>
            </a:r>
            <a:endParaRPr b="1" sz="1900">
              <a:solidFill>
                <a:srgbClr val="1F1F1F"/>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rgbClr val="000000"/>
              </a:buClr>
              <a:buSzPts val="1800"/>
              <a:buFont typeface="Times New Roman"/>
              <a:buChar char="❏"/>
            </a:pPr>
            <a:r>
              <a:rPr b="1" lang="de-CH" sz="1800">
                <a:latin typeface="Times New Roman"/>
                <a:ea typeface="Times New Roman"/>
                <a:cs typeface="Times New Roman"/>
                <a:sym typeface="Times New Roman"/>
              </a:rPr>
              <a:t>If s</a:t>
            </a:r>
            <a:r>
              <a:rPr b="1" lang="de-CH" sz="1800">
                <a:latin typeface="Times New Roman"/>
                <a:ea typeface="Times New Roman"/>
                <a:cs typeface="Times New Roman"/>
                <a:sym typeface="Times New Roman"/>
              </a:rPr>
              <a:t>tudents who are unable to clear the examination, re-exam is held after the results are declared</a:t>
            </a:r>
            <a:endParaRPr b="1" sz="1800">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h7b893a0582d097ac_1_16"/>
          <p:cNvSpPr txBox="1"/>
          <p:nvPr>
            <p:ph type="title"/>
          </p:nvPr>
        </p:nvSpPr>
        <p:spPr>
          <a:xfrm>
            <a:off x="311700" y="135050"/>
            <a:ext cx="8597100" cy="859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0" lang="de-CH" sz="1800">
                <a:solidFill>
                  <a:srgbClr val="000000"/>
                </a:solidFill>
                <a:latin typeface="Calibri"/>
                <a:ea typeface="Calibri"/>
                <a:cs typeface="Calibri"/>
                <a:sym typeface="Calibri"/>
              </a:rPr>
              <a:t>C8 </a:t>
            </a:r>
            <a:r>
              <a:rPr b="0" lang="de-CH" sz="1800">
                <a:solidFill>
                  <a:srgbClr val="000000"/>
                </a:solidFill>
                <a:latin typeface="Calibri"/>
                <a:ea typeface="Calibri"/>
                <a:cs typeface="Calibri"/>
                <a:sym typeface="Calibri"/>
              </a:rPr>
              <a:t>Quality of assessment tools and extent of attainment of learning outcomes</a:t>
            </a:r>
            <a:endParaRPr sz="3000">
              <a:solidFill>
                <a:srgbClr val="FF0000"/>
              </a:solidFill>
              <a:highlight>
                <a:schemeClr val="lt1"/>
              </a:highlight>
              <a:latin typeface="Calibri"/>
              <a:ea typeface="Calibri"/>
              <a:cs typeface="Calibri"/>
              <a:sym typeface="Calibri"/>
            </a:endParaRPr>
          </a:p>
          <a:p>
            <a:pPr indent="0" lvl="0" marL="0" rtl="0" algn="just">
              <a:spcBef>
                <a:spcPts val="0"/>
              </a:spcBef>
              <a:spcAft>
                <a:spcPts val="0"/>
              </a:spcAft>
              <a:buNone/>
            </a:pPr>
            <a:r>
              <a:t/>
            </a:r>
            <a:endParaRPr b="0" sz="2300">
              <a:solidFill>
                <a:srgbClr val="000000"/>
              </a:solidFill>
              <a:latin typeface="Calibri"/>
              <a:ea typeface="Calibri"/>
              <a:cs typeface="Calibri"/>
              <a:sym typeface="Calibri"/>
            </a:endParaRPr>
          </a:p>
        </p:txBody>
      </p:sp>
      <p:graphicFrame>
        <p:nvGraphicFramePr>
          <p:cNvPr id="363" name="Google Shape;363;h7b893a0582d097ac_1_16"/>
          <p:cNvGraphicFramePr/>
          <p:nvPr/>
        </p:nvGraphicFramePr>
        <p:xfrm>
          <a:off x="111170" y="1531256"/>
          <a:ext cx="3000000" cy="3000000"/>
        </p:xfrm>
        <a:graphic>
          <a:graphicData uri="http://schemas.openxmlformats.org/drawingml/2006/table">
            <a:tbl>
              <a:tblPr>
                <a:noFill/>
                <a:tableStyleId>{D67A6EC7-0815-422C-A1C3-3E13D58E9C53}</a:tableStyleId>
              </a:tblPr>
              <a:tblGrid>
                <a:gridCol w="594475"/>
                <a:gridCol w="594475"/>
                <a:gridCol w="594475"/>
                <a:gridCol w="594475"/>
                <a:gridCol w="594475"/>
                <a:gridCol w="594475"/>
                <a:gridCol w="594475"/>
                <a:gridCol w="594475"/>
                <a:gridCol w="594475"/>
                <a:gridCol w="594475"/>
                <a:gridCol w="594475"/>
                <a:gridCol w="594475"/>
                <a:gridCol w="594475"/>
                <a:gridCol w="594475"/>
                <a:gridCol w="594475"/>
              </a:tblGrid>
              <a:tr h="190500">
                <a:tc>
                  <a:txBody>
                    <a:bodyPr/>
                    <a:lstStyle/>
                    <a:p>
                      <a:pPr indent="0" lvl="0" marL="0" rtl="0" algn="l">
                        <a:lnSpc>
                          <a:spcPct val="115000"/>
                        </a:lnSpc>
                        <a:spcBef>
                          <a:spcPts val="0"/>
                        </a:spcBef>
                        <a:spcAft>
                          <a:spcPts val="0"/>
                        </a:spcAft>
                        <a:buNone/>
                      </a:pPr>
                      <a:r>
                        <a:rPr lang="de-CH" sz="1000">
                          <a:latin typeface="Times New Roman"/>
                          <a:ea typeface="Times New Roman"/>
                          <a:cs typeface="Times New Roman"/>
                          <a:sym typeface="Times New Roman"/>
                        </a:rPr>
                        <a:t>PO</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900">
                          <a:latin typeface="Times New Roman"/>
                          <a:ea typeface="Times New Roman"/>
                          <a:cs typeface="Times New Roman"/>
                          <a:sym typeface="Times New Roman"/>
                        </a:rPr>
                        <a:t>PO 1</a:t>
                      </a:r>
                      <a:endParaRPr b="1" sz="900">
                        <a:latin typeface="Times New Roman"/>
                        <a:ea typeface="Times New Roman"/>
                        <a:cs typeface="Times New Roman"/>
                        <a:sym typeface="Times New Roman"/>
                      </a:endParaRPr>
                    </a:p>
                  </a:txBody>
                  <a:tcPr marT="91425" marB="91425"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900">
                          <a:latin typeface="Times New Roman"/>
                          <a:ea typeface="Times New Roman"/>
                          <a:cs typeface="Times New Roman"/>
                          <a:sym typeface="Times New Roman"/>
                        </a:rPr>
                        <a:t>PO 2</a:t>
                      </a:r>
                      <a:endParaRPr b="1" sz="900">
                        <a:latin typeface="Times New Roman"/>
                        <a:ea typeface="Times New Roman"/>
                        <a:cs typeface="Times New Roman"/>
                        <a:sym typeface="Times New Roman"/>
                      </a:endParaRPr>
                    </a:p>
                  </a:txBody>
                  <a:tcPr marT="91425" marB="91425"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900">
                          <a:latin typeface="Times New Roman"/>
                          <a:ea typeface="Times New Roman"/>
                          <a:cs typeface="Times New Roman"/>
                          <a:sym typeface="Times New Roman"/>
                        </a:rPr>
                        <a:t>PO 3</a:t>
                      </a:r>
                      <a:endParaRPr b="1" sz="900">
                        <a:latin typeface="Times New Roman"/>
                        <a:ea typeface="Times New Roman"/>
                        <a:cs typeface="Times New Roman"/>
                        <a:sym typeface="Times New Roman"/>
                      </a:endParaRPr>
                    </a:p>
                  </a:txBody>
                  <a:tcPr marT="91425" marB="91425"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900">
                          <a:latin typeface="Times New Roman"/>
                          <a:ea typeface="Times New Roman"/>
                          <a:cs typeface="Times New Roman"/>
                          <a:sym typeface="Times New Roman"/>
                        </a:rPr>
                        <a:t>PO 4</a:t>
                      </a:r>
                      <a:endParaRPr b="1" sz="900">
                        <a:latin typeface="Times New Roman"/>
                        <a:ea typeface="Times New Roman"/>
                        <a:cs typeface="Times New Roman"/>
                        <a:sym typeface="Times New Roman"/>
                      </a:endParaRPr>
                    </a:p>
                  </a:txBody>
                  <a:tcPr marT="91425" marB="91425"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900">
                          <a:latin typeface="Times New Roman"/>
                          <a:ea typeface="Times New Roman"/>
                          <a:cs typeface="Times New Roman"/>
                          <a:sym typeface="Times New Roman"/>
                        </a:rPr>
                        <a:t>PO 5</a:t>
                      </a:r>
                      <a:endParaRPr b="1" sz="900">
                        <a:latin typeface="Times New Roman"/>
                        <a:ea typeface="Times New Roman"/>
                        <a:cs typeface="Times New Roman"/>
                        <a:sym typeface="Times New Roman"/>
                      </a:endParaRPr>
                    </a:p>
                  </a:txBody>
                  <a:tcPr marT="91425" marB="91425"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900">
                          <a:latin typeface="Times New Roman"/>
                          <a:ea typeface="Times New Roman"/>
                          <a:cs typeface="Times New Roman"/>
                          <a:sym typeface="Times New Roman"/>
                        </a:rPr>
                        <a:t>PO 6</a:t>
                      </a:r>
                      <a:endParaRPr b="1" sz="900">
                        <a:latin typeface="Times New Roman"/>
                        <a:ea typeface="Times New Roman"/>
                        <a:cs typeface="Times New Roman"/>
                        <a:sym typeface="Times New Roman"/>
                      </a:endParaRPr>
                    </a:p>
                  </a:txBody>
                  <a:tcPr marT="91425" marB="91425"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900">
                          <a:latin typeface="Times New Roman"/>
                          <a:ea typeface="Times New Roman"/>
                          <a:cs typeface="Times New Roman"/>
                          <a:sym typeface="Times New Roman"/>
                        </a:rPr>
                        <a:t>PO 7</a:t>
                      </a:r>
                      <a:endParaRPr b="1" sz="900">
                        <a:latin typeface="Times New Roman"/>
                        <a:ea typeface="Times New Roman"/>
                        <a:cs typeface="Times New Roman"/>
                        <a:sym typeface="Times New Roman"/>
                      </a:endParaRPr>
                    </a:p>
                  </a:txBody>
                  <a:tcPr marT="91425" marB="91425"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900">
                          <a:latin typeface="Times New Roman"/>
                          <a:ea typeface="Times New Roman"/>
                          <a:cs typeface="Times New Roman"/>
                          <a:sym typeface="Times New Roman"/>
                        </a:rPr>
                        <a:t>PO 8</a:t>
                      </a:r>
                      <a:endParaRPr b="1" sz="900">
                        <a:latin typeface="Times New Roman"/>
                        <a:ea typeface="Times New Roman"/>
                        <a:cs typeface="Times New Roman"/>
                        <a:sym typeface="Times New Roman"/>
                      </a:endParaRPr>
                    </a:p>
                  </a:txBody>
                  <a:tcPr marT="91425" marB="91425"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900">
                          <a:latin typeface="Times New Roman"/>
                          <a:ea typeface="Times New Roman"/>
                          <a:cs typeface="Times New Roman"/>
                          <a:sym typeface="Times New Roman"/>
                        </a:rPr>
                        <a:t>PO 9</a:t>
                      </a:r>
                      <a:endParaRPr b="1" sz="900">
                        <a:latin typeface="Times New Roman"/>
                        <a:ea typeface="Times New Roman"/>
                        <a:cs typeface="Times New Roman"/>
                        <a:sym typeface="Times New Roman"/>
                      </a:endParaRPr>
                    </a:p>
                  </a:txBody>
                  <a:tcPr marT="91425" marB="91425"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900">
                          <a:solidFill>
                            <a:srgbClr val="000009"/>
                          </a:solidFill>
                          <a:latin typeface="Times New Roman"/>
                          <a:ea typeface="Times New Roman"/>
                          <a:cs typeface="Times New Roman"/>
                          <a:sym typeface="Times New Roman"/>
                        </a:rPr>
                        <a:t>PO 10</a:t>
                      </a:r>
                      <a:endParaRPr b="1" sz="900">
                        <a:solidFill>
                          <a:srgbClr val="000009"/>
                        </a:solidFill>
                        <a:latin typeface="Times New Roman"/>
                        <a:ea typeface="Times New Roman"/>
                        <a:cs typeface="Times New Roman"/>
                        <a:sym typeface="Times New Roman"/>
                      </a:endParaRPr>
                    </a:p>
                  </a:txBody>
                  <a:tcPr marT="91425" marB="91425"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900">
                          <a:solidFill>
                            <a:srgbClr val="000009"/>
                          </a:solidFill>
                          <a:latin typeface="Times New Roman"/>
                          <a:ea typeface="Times New Roman"/>
                          <a:cs typeface="Times New Roman"/>
                          <a:sym typeface="Times New Roman"/>
                        </a:rPr>
                        <a:t>PO 11</a:t>
                      </a:r>
                      <a:endParaRPr b="1" sz="900">
                        <a:solidFill>
                          <a:srgbClr val="000009"/>
                        </a:solidFill>
                        <a:latin typeface="Times New Roman"/>
                        <a:ea typeface="Times New Roman"/>
                        <a:cs typeface="Times New Roman"/>
                        <a:sym typeface="Times New Roman"/>
                      </a:endParaRPr>
                    </a:p>
                  </a:txBody>
                  <a:tcPr marT="91425" marB="91425"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900">
                          <a:solidFill>
                            <a:srgbClr val="000009"/>
                          </a:solidFill>
                          <a:latin typeface="Times New Roman"/>
                          <a:ea typeface="Times New Roman"/>
                          <a:cs typeface="Times New Roman"/>
                          <a:sym typeface="Times New Roman"/>
                        </a:rPr>
                        <a:t>PO 12</a:t>
                      </a:r>
                      <a:endParaRPr b="1" sz="900">
                        <a:solidFill>
                          <a:srgbClr val="000009"/>
                        </a:solidFill>
                        <a:latin typeface="Times New Roman"/>
                        <a:ea typeface="Times New Roman"/>
                        <a:cs typeface="Times New Roman"/>
                        <a:sym typeface="Times New Roman"/>
                      </a:endParaRPr>
                    </a:p>
                  </a:txBody>
                  <a:tcPr marT="91425" marB="91425"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900">
                          <a:solidFill>
                            <a:srgbClr val="000009"/>
                          </a:solidFill>
                          <a:latin typeface="Times New Roman"/>
                          <a:ea typeface="Times New Roman"/>
                          <a:cs typeface="Times New Roman"/>
                          <a:sym typeface="Times New Roman"/>
                        </a:rPr>
                        <a:t>PSO 1</a:t>
                      </a:r>
                      <a:endParaRPr b="1" sz="900">
                        <a:solidFill>
                          <a:srgbClr val="000009"/>
                        </a:solidFill>
                        <a:latin typeface="Times New Roman"/>
                        <a:ea typeface="Times New Roman"/>
                        <a:cs typeface="Times New Roman"/>
                        <a:sym typeface="Times New Roman"/>
                      </a:endParaRPr>
                    </a:p>
                  </a:txBody>
                  <a:tcPr marT="91425" marB="91425"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900">
                          <a:latin typeface="Times New Roman"/>
                          <a:ea typeface="Times New Roman"/>
                          <a:cs typeface="Times New Roman"/>
                          <a:sym typeface="Times New Roman"/>
                        </a:rPr>
                        <a:t>PSO 2</a:t>
                      </a:r>
                      <a:endParaRPr b="1" sz="900">
                        <a:latin typeface="Times New Roman"/>
                        <a:ea typeface="Times New Roman"/>
                        <a:cs typeface="Times New Roman"/>
                        <a:sym typeface="Times New Roman"/>
                      </a:endParaRPr>
                    </a:p>
                  </a:txBody>
                  <a:tcPr marT="91425" marB="91425"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r h="190500">
                <a:tc>
                  <a:txBody>
                    <a:bodyPr/>
                    <a:lstStyle/>
                    <a:p>
                      <a:pPr indent="0" lvl="0" marL="0" rtl="0" algn="l">
                        <a:lnSpc>
                          <a:spcPct val="115000"/>
                        </a:lnSpc>
                        <a:spcBef>
                          <a:spcPts val="0"/>
                        </a:spcBef>
                        <a:spcAft>
                          <a:spcPts val="0"/>
                        </a:spcAft>
                        <a:buNone/>
                      </a:pPr>
                      <a:r>
                        <a:rPr b="1" lang="de-CH" sz="1000">
                          <a:latin typeface="Times New Roman"/>
                          <a:ea typeface="Times New Roman"/>
                          <a:cs typeface="Times New Roman"/>
                          <a:sym typeface="Times New Roman"/>
                        </a:rPr>
                        <a:t>Target</a:t>
                      </a:r>
                      <a:endParaRPr b="1"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2.29</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2.21</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2.33</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1.85</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2.45</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1.86</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1.13</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2.07</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2.02</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2.13</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1.83</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1.82</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2.15</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1.72</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r h="190500">
                <a:tc>
                  <a:txBody>
                    <a:bodyPr/>
                    <a:lstStyle/>
                    <a:p>
                      <a:pPr indent="0" lvl="0" marL="0" rtl="0" algn="l">
                        <a:lnSpc>
                          <a:spcPct val="115000"/>
                        </a:lnSpc>
                        <a:spcBef>
                          <a:spcPts val="0"/>
                        </a:spcBef>
                        <a:spcAft>
                          <a:spcPts val="0"/>
                        </a:spcAft>
                        <a:buNone/>
                      </a:pPr>
                      <a:r>
                        <a:rPr lang="de-CH" sz="1000">
                          <a:latin typeface="Times New Roman"/>
                          <a:ea typeface="Times New Roman"/>
                          <a:cs typeface="Times New Roman"/>
                          <a:sym typeface="Times New Roman"/>
                        </a:rPr>
                        <a:t>Direct</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1.75</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1.76</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1.73</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1.67</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1.90</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1.49</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1.35</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1.22</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1.59</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1.69</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1.79</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1.49</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1.39</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1.16</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r h="190500">
                <a:tc>
                  <a:txBody>
                    <a:bodyPr/>
                    <a:lstStyle/>
                    <a:p>
                      <a:pPr indent="0" lvl="0" marL="0" rtl="0" algn="l">
                        <a:lnSpc>
                          <a:spcPct val="115000"/>
                        </a:lnSpc>
                        <a:spcBef>
                          <a:spcPts val="0"/>
                        </a:spcBef>
                        <a:spcAft>
                          <a:spcPts val="0"/>
                        </a:spcAft>
                        <a:buNone/>
                      </a:pPr>
                      <a:r>
                        <a:rPr lang="de-CH" sz="1000">
                          <a:latin typeface="Times New Roman"/>
                          <a:ea typeface="Times New Roman"/>
                          <a:cs typeface="Times New Roman"/>
                          <a:sym typeface="Times New Roman"/>
                        </a:rPr>
                        <a:t>Indirect</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2.40</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2.48</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2.37</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2.22</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2.41</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1.76</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1.06</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2.23</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2.33</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2.58</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2.37</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2.44</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1.87</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2.26</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r h="190500">
                <a:tc>
                  <a:txBody>
                    <a:bodyPr/>
                    <a:lstStyle/>
                    <a:p>
                      <a:pPr indent="0" lvl="0" marL="0" rtl="0" algn="l">
                        <a:lnSpc>
                          <a:spcPct val="115000"/>
                        </a:lnSpc>
                        <a:spcBef>
                          <a:spcPts val="0"/>
                        </a:spcBef>
                        <a:spcAft>
                          <a:spcPts val="0"/>
                        </a:spcAft>
                        <a:buNone/>
                      </a:pPr>
                      <a:r>
                        <a:rPr b="1" lang="de-CH" sz="1000">
                          <a:latin typeface="Times New Roman"/>
                          <a:ea typeface="Times New Roman"/>
                          <a:cs typeface="Times New Roman"/>
                          <a:sym typeface="Times New Roman"/>
                        </a:rPr>
                        <a:t>Attainment</a:t>
                      </a:r>
                      <a:endParaRPr b="1"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1.88</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1.91</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1.86</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1.78</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1.54</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1.29</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1.42</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1.74</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1.87</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1.9</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1.68</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1.49</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1.38</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bl>
          </a:graphicData>
        </a:graphic>
      </p:graphicFrame>
      <p:sp>
        <p:nvSpPr>
          <p:cNvPr id="364" name="Google Shape;364;h7b893a0582d097ac_1_16"/>
          <p:cNvSpPr txBox="1"/>
          <p:nvPr/>
        </p:nvSpPr>
        <p:spPr>
          <a:xfrm>
            <a:off x="225323" y="901290"/>
            <a:ext cx="3000000" cy="5388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de-CH" sz="2300">
                <a:latin typeface="Calibri"/>
                <a:ea typeface="Calibri"/>
                <a:cs typeface="Calibri"/>
                <a:sym typeface="Calibri"/>
              </a:rPr>
              <a:t>Batch 2021-25</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hd72da3054435e2_25_217"/>
          <p:cNvSpPr txBox="1"/>
          <p:nvPr>
            <p:ph type="title"/>
          </p:nvPr>
        </p:nvSpPr>
        <p:spPr>
          <a:xfrm>
            <a:off x="311700" y="135050"/>
            <a:ext cx="8597100" cy="859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0" lang="de-CH" sz="1800">
                <a:solidFill>
                  <a:srgbClr val="000000"/>
                </a:solidFill>
                <a:latin typeface="Calibri"/>
                <a:ea typeface="Calibri"/>
                <a:cs typeface="Calibri"/>
                <a:sym typeface="Calibri"/>
              </a:rPr>
              <a:t>C8 Quality of assessment tools and extent of attainment of learning outcomes</a:t>
            </a:r>
            <a:endParaRPr sz="3000">
              <a:solidFill>
                <a:srgbClr val="FF0000"/>
              </a:solidFill>
              <a:highlight>
                <a:schemeClr val="lt1"/>
              </a:highlight>
              <a:latin typeface="Calibri"/>
              <a:ea typeface="Calibri"/>
              <a:cs typeface="Calibri"/>
              <a:sym typeface="Calibri"/>
            </a:endParaRPr>
          </a:p>
          <a:p>
            <a:pPr indent="0" lvl="0" marL="0" rtl="0" algn="just">
              <a:spcBef>
                <a:spcPts val="0"/>
              </a:spcBef>
              <a:spcAft>
                <a:spcPts val="0"/>
              </a:spcAft>
              <a:buNone/>
            </a:pPr>
            <a:r>
              <a:t/>
            </a:r>
            <a:endParaRPr b="0" sz="2300">
              <a:solidFill>
                <a:srgbClr val="000000"/>
              </a:solidFill>
              <a:latin typeface="Calibri"/>
              <a:ea typeface="Calibri"/>
              <a:cs typeface="Calibri"/>
              <a:sym typeface="Calibri"/>
            </a:endParaRPr>
          </a:p>
        </p:txBody>
      </p:sp>
      <p:sp>
        <p:nvSpPr>
          <p:cNvPr id="370" name="Google Shape;370;hd72da3054435e2_25_217"/>
          <p:cNvSpPr txBox="1"/>
          <p:nvPr/>
        </p:nvSpPr>
        <p:spPr>
          <a:xfrm>
            <a:off x="317500" y="860323"/>
            <a:ext cx="3000000" cy="5388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de-CH" sz="2300">
                <a:latin typeface="Calibri"/>
                <a:ea typeface="Calibri"/>
                <a:cs typeface="Calibri"/>
                <a:sym typeface="Calibri"/>
              </a:rPr>
              <a:t>Batch 2022-26</a:t>
            </a:r>
            <a:endParaRPr/>
          </a:p>
        </p:txBody>
      </p:sp>
      <p:graphicFrame>
        <p:nvGraphicFramePr>
          <p:cNvPr id="371" name="Google Shape;371;hd72da3054435e2_25_217"/>
          <p:cNvGraphicFramePr/>
          <p:nvPr/>
        </p:nvGraphicFramePr>
        <p:xfrm>
          <a:off x="142150" y="1545292"/>
          <a:ext cx="3000000" cy="3000000"/>
        </p:xfrm>
        <a:graphic>
          <a:graphicData uri="http://schemas.openxmlformats.org/drawingml/2006/table">
            <a:tbl>
              <a:tblPr>
                <a:noFill/>
                <a:tableStyleId>{D67A6EC7-0815-422C-A1C3-3E13D58E9C53}</a:tableStyleId>
              </a:tblPr>
              <a:tblGrid>
                <a:gridCol w="594575"/>
                <a:gridCol w="594575"/>
                <a:gridCol w="594575"/>
                <a:gridCol w="594575"/>
                <a:gridCol w="594575"/>
                <a:gridCol w="594575"/>
                <a:gridCol w="594575"/>
                <a:gridCol w="594575"/>
                <a:gridCol w="594575"/>
                <a:gridCol w="594575"/>
                <a:gridCol w="594575"/>
                <a:gridCol w="594575"/>
                <a:gridCol w="594575"/>
                <a:gridCol w="594575"/>
                <a:gridCol w="594575"/>
              </a:tblGrid>
              <a:tr h="190500">
                <a:tc>
                  <a:txBody>
                    <a:bodyPr/>
                    <a:lstStyle/>
                    <a:p>
                      <a:pPr indent="0" lvl="0" marL="0" rtl="0" algn="l">
                        <a:lnSpc>
                          <a:spcPct val="115000"/>
                        </a:lnSpc>
                        <a:spcBef>
                          <a:spcPts val="0"/>
                        </a:spcBef>
                        <a:spcAft>
                          <a:spcPts val="0"/>
                        </a:spcAft>
                        <a:buNone/>
                      </a:pPr>
                      <a:r>
                        <a:rPr lang="de-CH" sz="1000">
                          <a:latin typeface="Times New Roman"/>
                          <a:ea typeface="Times New Roman"/>
                          <a:cs typeface="Times New Roman"/>
                          <a:sym typeface="Times New Roman"/>
                        </a:rPr>
                        <a:t>PO</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900">
                          <a:latin typeface="Times New Roman"/>
                          <a:ea typeface="Times New Roman"/>
                          <a:cs typeface="Times New Roman"/>
                          <a:sym typeface="Times New Roman"/>
                        </a:rPr>
                        <a:t>PO 1</a:t>
                      </a:r>
                      <a:endParaRPr b="1" sz="900">
                        <a:latin typeface="Times New Roman"/>
                        <a:ea typeface="Times New Roman"/>
                        <a:cs typeface="Times New Roman"/>
                        <a:sym typeface="Times New Roman"/>
                      </a:endParaRPr>
                    </a:p>
                  </a:txBody>
                  <a:tcPr marT="91425" marB="91425"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900">
                          <a:latin typeface="Times New Roman"/>
                          <a:ea typeface="Times New Roman"/>
                          <a:cs typeface="Times New Roman"/>
                          <a:sym typeface="Times New Roman"/>
                        </a:rPr>
                        <a:t>PO 2</a:t>
                      </a:r>
                      <a:endParaRPr b="1" sz="900">
                        <a:latin typeface="Times New Roman"/>
                        <a:ea typeface="Times New Roman"/>
                        <a:cs typeface="Times New Roman"/>
                        <a:sym typeface="Times New Roman"/>
                      </a:endParaRPr>
                    </a:p>
                  </a:txBody>
                  <a:tcPr marT="91425" marB="91425"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900">
                          <a:latin typeface="Times New Roman"/>
                          <a:ea typeface="Times New Roman"/>
                          <a:cs typeface="Times New Roman"/>
                          <a:sym typeface="Times New Roman"/>
                        </a:rPr>
                        <a:t>PO 3</a:t>
                      </a:r>
                      <a:endParaRPr b="1" sz="900">
                        <a:latin typeface="Times New Roman"/>
                        <a:ea typeface="Times New Roman"/>
                        <a:cs typeface="Times New Roman"/>
                        <a:sym typeface="Times New Roman"/>
                      </a:endParaRPr>
                    </a:p>
                  </a:txBody>
                  <a:tcPr marT="91425" marB="91425"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900">
                          <a:latin typeface="Times New Roman"/>
                          <a:ea typeface="Times New Roman"/>
                          <a:cs typeface="Times New Roman"/>
                          <a:sym typeface="Times New Roman"/>
                        </a:rPr>
                        <a:t>PO 4</a:t>
                      </a:r>
                      <a:endParaRPr b="1" sz="900">
                        <a:latin typeface="Times New Roman"/>
                        <a:ea typeface="Times New Roman"/>
                        <a:cs typeface="Times New Roman"/>
                        <a:sym typeface="Times New Roman"/>
                      </a:endParaRPr>
                    </a:p>
                  </a:txBody>
                  <a:tcPr marT="91425" marB="91425"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900">
                          <a:latin typeface="Times New Roman"/>
                          <a:ea typeface="Times New Roman"/>
                          <a:cs typeface="Times New Roman"/>
                          <a:sym typeface="Times New Roman"/>
                        </a:rPr>
                        <a:t>PO 5</a:t>
                      </a:r>
                      <a:endParaRPr b="1" sz="900">
                        <a:latin typeface="Times New Roman"/>
                        <a:ea typeface="Times New Roman"/>
                        <a:cs typeface="Times New Roman"/>
                        <a:sym typeface="Times New Roman"/>
                      </a:endParaRPr>
                    </a:p>
                  </a:txBody>
                  <a:tcPr marT="91425" marB="91425"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900">
                          <a:latin typeface="Times New Roman"/>
                          <a:ea typeface="Times New Roman"/>
                          <a:cs typeface="Times New Roman"/>
                          <a:sym typeface="Times New Roman"/>
                        </a:rPr>
                        <a:t>PO 6</a:t>
                      </a:r>
                      <a:endParaRPr b="1" sz="900">
                        <a:latin typeface="Times New Roman"/>
                        <a:ea typeface="Times New Roman"/>
                        <a:cs typeface="Times New Roman"/>
                        <a:sym typeface="Times New Roman"/>
                      </a:endParaRPr>
                    </a:p>
                  </a:txBody>
                  <a:tcPr marT="91425" marB="91425"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900">
                          <a:latin typeface="Times New Roman"/>
                          <a:ea typeface="Times New Roman"/>
                          <a:cs typeface="Times New Roman"/>
                          <a:sym typeface="Times New Roman"/>
                        </a:rPr>
                        <a:t>PO 7</a:t>
                      </a:r>
                      <a:endParaRPr b="1" sz="900">
                        <a:latin typeface="Times New Roman"/>
                        <a:ea typeface="Times New Roman"/>
                        <a:cs typeface="Times New Roman"/>
                        <a:sym typeface="Times New Roman"/>
                      </a:endParaRPr>
                    </a:p>
                  </a:txBody>
                  <a:tcPr marT="91425" marB="91425"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900">
                          <a:latin typeface="Times New Roman"/>
                          <a:ea typeface="Times New Roman"/>
                          <a:cs typeface="Times New Roman"/>
                          <a:sym typeface="Times New Roman"/>
                        </a:rPr>
                        <a:t>PO 8</a:t>
                      </a:r>
                      <a:endParaRPr b="1" sz="900">
                        <a:latin typeface="Times New Roman"/>
                        <a:ea typeface="Times New Roman"/>
                        <a:cs typeface="Times New Roman"/>
                        <a:sym typeface="Times New Roman"/>
                      </a:endParaRPr>
                    </a:p>
                  </a:txBody>
                  <a:tcPr marT="91425" marB="91425"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900">
                          <a:latin typeface="Times New Roman"/>
                          <a:ea typeface="Times New Roman"/>
                          <a:cs typeface="Times New Roman"/>
                          <a:sym typeface="Times New Roman"/>
                        </a:rPr>
                        <a:t>PO 9</a:t>
                      </a:r>
                      <a:endParaRPr b="1" sz="900">
                        <a:latin typeface="Times New Roman"/>
                        <a:ea typeface="Times New Roman"/>
                        <a:cs typeface="Times New Roman"/>
                        <a:sym typeface="Times New Roman"/>
                      </a:endParaRPr>
                    </a:p>
                  </a:txBody>
                  <a:tcPr marT="91425" marB="91425"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900">
                          <a:solidFill>
                            <a:srgbClr val="000009"/>
                          </a:solidFill>
                          <a:latin typeface="Times New Roman"/>
                          <a:ea typeface="Times New Roman"/>
                          <a:cs typeface="Times New Roman"/>
                          <a:sym typeface="Times New Roman"/>
                        </a:rPr>
                        <a:t>PO 10</a:t>
                      </a:r>
                      <a:endParaRPr b="1" sz="900">
                        <a:solidFill>
                          <a:srgbClr val="000009"/>
                        </a:solidFill>
                        <a:latin typeface="Times New Roman"/>
                        <a:ea typeface="Times New Roman"/>
                        <a:cs typeface="Times New Roman"/>
                        <a:sym typeface="Times New Roman"/>
                      </a:endParaRPr>
                    </a:p>
                  </a:txBody>
                  <a:tcPr marT="91425" marB="91425"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900">
                          <a:solidFill>
                            <a:srgbClr val="000009"/>
                          </a:solidFill>
                          <a:latin typeface="Times New Roman"/>
                          <a:ea typeface="Times New Roman"/>
                          <a:cs typeface="Times New Roman"/>
                          <a:sym typeface="Times New Roman"/>
                        </a:rPr>
                        <a:t>PO 11</a:t>
                      </a:r>
                      <a:endParaRPr b="1" sz="900">
                        <a:solidFill>
                          <a:srgbClr val="000009"/>
                        </a:solidFill>
                        <a:latin typeface="Times New Roman"/>
                        <a:ea typeface="Times New Roman"/>
                        <a:cs typeface="Times New Roman"/>
                        <a:sym typeface="Times New Roman"/>
                      </a:endParaRPr>
                    </a:p>
                  </a:txBody>
                  <a:tcPr marT="91425" marB="91425"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900">
                          <a:solidFill>
                            <a:srgbClr val="000009"/>
                          </a:solidFill>
                          <a:latin typeface="Times New Roman"/>
                          <a:ea typeface="Times New Roman"/>
                          <a:cs typeface="Times New Roman"/>
                          <a:sym typeface="Times New Roman"/>
                        </a:rPr>
                        <a:t>PO 12</a:t>
                      </a:r>
                      <a:endParaRPr b="1" sz="900">
                        <a:solidFill>
                          <a:srgbClr val="000009"/>
                        </a:solidFill>
                        <a:latin typeface="Times New Roman"/>
                        <a:ea typeface="Times New Roman"/>
                        <a:cs typeface="Times New Roman"/>
                        <a:sym typeface="Times New Roman"/>
                      </a:endParaRPr>
                    </a:p>
                  </a:txBody>
                  <a:tcPr marT="91425" marB="91425"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900">
                          <a:solidFill>
                            <a:srgbClr val="000009"/>
                          </a:solidFill>
                          <a:latin typeface="Times New Roman"/>
                          <a:ea typeface="Times New Roman"/>
                          <a:cs typeface="Times New Roman"/>
                          <a:sym typeface="Times New Roman"/>
                        </a:rPr>
                        <a:t>PSO 1</a:t>
                      </a:r>
                      <a:endParaRPr b="1" sz="900">
                        <a:solidFill>
                          <a:srgbClr val="000009"/>
                        </a:solidFill>
                        <a:latin typeface="Times New Roman"/>
                        <a:ea typeface="Times New Roman"/>
                        <a:cs typeface="Times New Roman"/>
                        <a:sym typeface="Times New Roman"/>
                      </a:endParaRPr>
                    </a:p>
                  </a:txBody>
                  <a:tcPr marT="91425" marB="91425"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900">
                          <a:latin typeface="Times New Roman"/>
                          <a:ea typeface="Times New Roman"/>
                          <a:cs typeface="Times New Roman"/>
                          <a:sym typeface="Times New Roman"/>
                        </a:rPr>
                        <a:t>PSO 2</a:t>
                      </a:r>
                      <a:endParaRPr b="1" sz="900">
                        <a:latin typeface="Times New Roman"/>
                        <a:ea typeface="Times New Roman"/>
                        <a:cs typeface="Times New Roman"/>
                        <a:sym typeface="Times New Roman"/>
                      </a:endParaRPr>
                    </a:p>
                  </a:txBody>
                  <a:tcPr marT="91425" marB="91425"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r h="190500">
                <a:tc>
                  <a:txBody>
                    <a:bodyPr/>
                    <a:lstStyle/>
                    <a:p>
                      <a:pPr indent="0" lvl="0" marL="0" rtl="0" algn="l">
                        <a:lnSpc>
                          <a:spcPct val="115000"/>
                        </a:lnSpc>
                        <a:spcBef>
                          <a:spcPts val="0"/>
                        </a:spcBef>
                        <a:spcAft>
                          <a:spcPts val="0"/>
                        </a:spcAft>
                        <a:buNone/>
                      </a:pPr>
                      <a:r>
                        <a:rPr b="1" lang="de-CH" sz="1000">
                          <a:latin typeface="Times New Roman"/>
                          <a:ea typeface="Times New Roman"/>
                          <a:cs typeface="Times New Roman"/>
                          <a:sym typeface="Times New Roman"/>
                        </a:rPr>
                        <a:t>Target</a:t>
                      </a:r>
                      <a:endParaRPr b="1"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2.39</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2.14</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2.19</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1.74</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2.29</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2.20</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1.40</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2.36</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2.25</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2.10</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1.83</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1.93</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2.00</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1.80</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r h="190500">
                <a:tc>
                  <a:txBody>
                    <a:bodyPr/>
                    <a:lstStyle/>
                    <a:p>
                      <a:pPr indent="0" lvl="0" marL="0" rtl="0" algn="l">
                        <a:lnSpc>
                          <a:spcPct val="115000"/>
                        </a:lnSpc>
                        <a:spcBef>
                          <a:spcPts val="0"/>
                        </a:spcBef>
                        <a:spcAft>
                          <a:spcPts val="0"/>
                        </a:spcAft>
                        <a:buNone/>
                      </a:pPr>
                      <a:r>
                        <a:rPr lang="de-CH" sz="1000">
                          <a:latin typeface="Times New Roman"/>
                          <a:ea typeface="Times New Roman"/>
                          <a:cs typeface="Times New Roman"/>
                          <a:sym typeface="Times New Roman"/>
                        </a:rPr>
                        <a:t>Direct</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1.88</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1.66</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1.66</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1.41</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1.79</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1.59</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1.10</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1.52</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1.54</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1.41</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1.47</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1.52</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1.17</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1.29</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r h="190500">
                <a:tc>
                  <a:txBody>
                    <a:bodyPr/>
                    <a:lstStyle/>
                    <a:p>
                      <a:pPr indent="0" lvl="0" marL="0" rtl="0" algn="l">
                        <a:lnSpc>
                          <a:spcPct val="115000"/>
                        </a:lnSpc>
                        <a:spcBef>
                          <a:spcPts val="0"/>
                        </a:spcBef>
                        <a:spcAft>
                          <a:spcPts val="0"/>
                        </a:spcAft>
                        <a:buNone/>
                      </a:pPr>
                      <a:r>
                        <a:rPr lang="de-CH" sz="1000">
                          <a:latin typeface="Times New Roman"/>
                          <a:ea typeface="Times New Roman"/>
                          <a:cs typeface="Times New Roman"/>
                          <a:sym typeface="Times New Roman"/>
                        </a:rPr>
                        <a:t>Indirect</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2.44</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2.25</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2.21</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1.73</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2.25</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1.80</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1.05</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2.51</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2.32</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2.19</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1.56</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2.08</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1.33</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1.45</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r h="190500">
                <a:tc>
                  <a:txBody>
                    <a:bodyPr/>
                    <a:lstStyle/>
                    <a:p>
                      <a:pPr indent="0" lvl="0" marL="0" rtl="0" algn="l">
                        <a:lnSpc>
                          <a:spcPct val="115000"/>
                        </a:lnSpc>
                        <a:spcBef>
                          <a:spcPts val="0"/>
                        </a:spcBef>
                        <a:spcAft>
                          <a:spcPts val="0"/>
                        </a:spcAft>
                        <a:buNone/>
                      </a:pPr>
                      <a:r>
                        <a:rPr b="1" lang="de-CH" sz="1000">
                          <a:latin typeface="Times New Roman"/>
                          <a:ea typeface="Times New Roman"/>
                          <a:cs typeface="Times New Roman"/>
                          <a:sym typeface="Times New Roman"/>
                        </a:rPr>
                        <a:t>Attainment</a:t>
                      </a:r>
                      <a:endParaRPr b="1"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1.99</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1.78</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1.77</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1.47</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1.88</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1.63</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1.09</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1.72</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1.69</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1.56</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1.49</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1.63</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1.2</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000">
                          <a:latin typeface="Times New Roman"/>
                          <a:ea typeface="Times New Roman"/>
                          <a:cs typeface="Times New Roman"/>
                          <a:sym typeface="Times New Roman"/>
                        </a:rPr>
                        <a:t>1.32</a:t>
                      </a:r>
                      <a:endParaRPr sz="1000">
                        <a:latin typeface="Times New Roman"/>
                        <a:ea typeface="Times New Roman"/>
                        <a:cs typeface="Times New Roman"/>
                        <a:sym typeface="Times New Roman"/>
                      </a:endParaRPr>
                    </a:p>
                  </a:txBody>
                  <a:tcPr marT="91425" marB="91425" marR="28575" marL="2857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h7b893a0582d097ac_1_20"/>
          <p:cNvSpPr txBox="1"/>
          <p:nvPr>
            <p:ph type="title"/>
          </p:nvPr>
        </p:nvSpPr>
        <p:spPr>
          <a:xfrm>
            <a:off x="311700" y="135050"/>
            <a:ext cx="8597100" cy="859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0" lang="de-CH" sz="1800">
                <a:solidFill>
                  <a:srgbClr val="000000"/>
                </a:solidFill>
                <a:latin typeface="Calibri"/>
                <a:ea typeface="Calibri"/>
                <a:cs typeface="Calibri"/>
                <a:sym typeface="Calibri"/>
              </a:rPr>
              <a:t>C9 </a:t>
            </a:r>
            <a:r>
              <a:rPr b="0" lang="de-CH" sz="1800">
                <a:solidFill>
                  <a:srgbClr val="000000"/>
                </a:solidFill>
                <a:latin typeface="Calibri"/>
                <a:ea typeface="Calibri"/>
                <a:cs typeface="Calibri"/>
                <a:sym typeface="Calibri"/>
              </a:rPr>
              <a:t>Department checks the course attainment every semester, PO/PSO attainment every year, PEO attainment at an interval of 4 years.</a:t>
            </a:r>
            <a:r>
              <a:rPr b="0" lang="de-CH" sz="1800">
                <a:solidFill>
                  <a:srgbClr val="000000"/>
                </a:solidFill>
                <a:latin typeface="Calibri"/>
                <a:ea typeface="Calibri"/>
                <a:cs typeface="Calibri"/>
                <a:sym typeface="Calibri"/>
              </a:rPr>
              <a:t>      </a:t>
            </a:r>
            <a:r>
              <a:rPr lang="de-CH" sz="3000">
                <a:solidFill>
                  <a:srgbClr val="FF0000"/>
                </a:solidFill>
                <a:highlight>
                  <a:schemeClr val="lt1"/>
                </a:highlight>
                <a:latin typeface="Calibri"/>
                <a:ea typeface="Calibri"/>
                <a:cs typeface="Calibri"/>
                <a:sym typeface="Calibri"/>
              </a:rPr>
              <a:t>Falak M.</a:t>
            </a:r>
            <a:endParaRPr sz="3000">
              <a:solidFill>
                <a:srgbClr val="FF0000"/>
              </a:solidFill>
              <a:latin typeface="Calibri"/>
              <a:ea typeface="Calibri"/>
              <a:cs typeface="Calibri"/>
              <a:sym typeface="Calibri"/>
            </a:endParaRPr>
          </a:p>
        </p:txBody>
      </p:sp>
      <p:pic>
        <p:nvPicPr>
          <p:cNvPr id="377" name="Google Shape;377;h7b893a0582d097ac_1_20" title="Chart"/>
          <p:cNvPicPr preferRelativeResize="0"/>
          <p:nvPr/>
        </p:nvPicPr>
        <p:blipFill>
          <a:blip r:embed="rId3">
            <a:alphaModFix/>
          </a:blip>
          <a:stretch>
            <a:fillRect/>
          </a:stretch>
        </p:blipFill>
        <p:spPr>
          <a:xfrm>
            <a:off x="1438046" y="1178702"/>
            <a:ext cx="6006948" cy="37074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hd72da3054435e2_23_3"/>
          <p:cNvSpPr txBox="1"/>
          <p:nvPr>
            <p:ph type="title"/>
          </p:nvPr>
        </p:nvSpPr>
        <p:spPr>
          <a:xfrm>
            <a:off x="311700" y="135050"/>
            <a:ext cx="8597100" cy="859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0" lang="de-CH" sz="1800">
                <a:solidFill>
                  <a:srgbClr val="000000"/>
                </a:solidFill>
                <a:latin typeface="Calibri"/>
                <a:ea typeface="Calibri"/>
                <a:cs typeface="Calibri"/>
                <a:sym typeface="Calibri"/>
              </a:rPr>
              <a:t>C9 Department checks the course attainment every semester, PO/PSO attainment every year, PEO attainment at an interval of 4 years.      </a:t>
            </a:r>
            <a:r>
              <a:rPr lang="de-CH" sz="3000">
                <a:solidFill>
                  <a:srgbClr val="FF0000"/>
                </a:solidFill>
                <a:highlight>
                  <a:schemeClr val="lt1"/>
                </a:highlight>
                <a:latin typeface="Calibri"/>
                <a:ea typeface="Calibri"/>
                <a:cs typeface="Calibri"/>
                <a:sym typeface="Calibri"/>
              </a:rPr>
              <a:t>Falak M.</a:t>
            </a:r>
            <a:endParaRPr sz="3000">
              <a:solidFill>
                <a:srgbClr val="FF0000"/>
              </a:solidFill>
              <a:latin typeface="Calibri"/>
              <a:ea typeface="Calibri"/>
              <a:cs typeface="Calibri"/>
              <a:sym typeface="Calibri"/>
            </a:endParaRPr>
          </a:p>
        </p:txBody>
      </p:sp>
      <p:pic>
        <p:nvPicPr>
          <p:cNvPr id="383" name="Google Shape;383;hd72da3054435e2_23_3" title="Chart"/>
          <p:cNvPicPr preferRelativeResize="0"/>
          <p:nvPr/>
        </p:nvPicPr>
        <p:blipFill>
          <a:blip r:embed="rId3">
            <a:alphaModFix/>
          </a:blip>
          <a:stretch>
            <a:fillRect/>
          </a:stretch>
        </p:blipFill>
        <p:spPr>
          <a:xfrm>
            <a:off x="1338470" y="1075604"/>
            <a:ext cx="6295373" cy="38854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hd72da3054435e2_23_11"/>
          <p:cNvSpPr txBox="1"/>
          <p:nvPr>
            <p:ph type="title"/>
          </p:nvPr>
        </p:nvSpPr>
        <p:spPr>
          <a:xfrm>
            <a:off x="311700" y="135050"/>
            <a:ext cx="8597100" cy="859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0" lang="de-CH" sz="1800">
                <a:solidFill>
                  <a:srgbClr val="000000"/>
                </a:solidFill>
                <a:latin typeface="Calibri"/>
                <a:ea typeface="Calibri"/>
                <a:cs typeface="Calibri"/>
                <a:sym typeface="Calibri"/>
              </a:rPr>
              <a:t>C9 Department checks the course attainment every semester, PO/PSO attainment every year, PEO attainment at an interval of 4 years.      </a:t>
            </a:r>
            <a:r>
              <a:rPr lang="de-CH" sz="3000">
                <a:solidFill>
                  <a:srgbClr val="FF0000"/>
                </a:solidFill>
                <a:highlight>
                  <a:schemeClr val="lt1"/>
                </a:highlight>
                <a:latin typeface="Calibri"/>
                <a:ea typeface="Calibri"/>
                <a:cs typeface="Calibri"/>
                <a:sym typeface="Calibri"/>
              </a:rPr>
              <a:t>Falak M.</a:t>
            </a:r>
            <a:endParaRPr sz="3000">
              <a:solidFill>
                <a:srgbClr val="FF0000"/>
              </a:solidFill>
              <a:latin typeface="Calibri"/>
              <a:ea typeface="Calibri"/>
              <a:cs typeface="Calibri"/>
              <a:sym typeface="Calibri"/>
            </a:endParaRPr>
          </a:p>
        </p:txBody>
      </p:sp>
      <p:pic>
        <p:nvPicPr>
          <p:cNvPr id="389" name="Google Shape;389;hd72da3054435e2_23_11"/>
          <p:cNvPicPr preferRelativeResize="0"/>
          <p:nvPr/>
        </p:nvPicPr>
        <p:blipFill>
          <a:blip r:embed="rId3">
            <a:alphaModFix/>
          </a:blip>
          <a:stretch>
            <a:fillRect/>
          </a:stretch>
        </p:blipFill>
        <p:spPr>
          <a:xfrm>
            <a:off x="22513" y="1132425"/>
            <a:ext cx="9098976" cy="645375"/>
          </a:xfrm>
          <a:prstGeom prst="rect">
            <a:avLst/>
          </a:prstGeom>
          <a:noFill/>
          <a:ln>
            <a:noFill/>
          </a:ln>
        </p:spPr>
      </p:pic>
      <p:pic>
        <p:nvPicPr>
          <p:cNvPr id="390" name="Google Shape;390;hd72da3054435e2_23_11" title="Chart"/>
          <p:cNvPicPr preferRelativeResize="0"/>
          <p:nvPr/>
        </p:nvPicPr>
        <p:blipFill>
          <a:blip r:embed="rId4">
            <a:alphaModFix/>
          </a:blip>
          <a:stretch>
            <a:fillRect/>
          </a:stretch>
        </p:blipFill>
        <p:spPr>
          <a:xfrm>
            <a:off x="2130538" y="1856125"/>
            <a:ext cx="4959432" cy="3060899"/>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hd72da3054435e2_23_19"/>
          <p:cNvSpPr txBox="1"/>
          <p:nvPr>
            <p:ph type="title"/>
          </p:nvPr>
        </p:nvSpPr>
        <p:spPr>
          <a:xfrm>
            <a:off x="311700" y="135050"/>
            <a:ext cx="8597100" cy="859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0" lang="de-CH" sz="1800">
                <a:solidFill>
                  <a:srgbClr val="000000"/>
                </a:solidFill>
                <a:latin typeface="Calibri"/>
                <a:ea typeface="Calibri"/>
                <a:cs typeface="Calibri"/>
                <a:sym typeface="Calibri"/>
              </a:rPr>
              <a:t>C9 Department checks the course attainment every semester, PO/PSO attainment every year, PEO attainment at an interval of 4 years.      </a:t>
            </a:r>
            <a:r>
              <a:rPr lang="de-CH" sz="3000">
                <a:solidFill>
                  <a:srgbClr val="FF0000"/>
                </a:solidFill>
                <a:highlight>
                  <a:schemeClr val="lt1"/>
                </a:highlight>
                <a:latin typeface="Calibri"/>
                <a:ea typeface="Calibri"/>
                <a:cs typeface="Calibri"/>
                <a:sym typeface="Calibri"/>
              </a:rPr>
              <a:t>Falak M.</a:t>
            </a:r>
            <a:endParaRPr sz="3000">
              <a:solidFill>
                <a:srgbClr val="FF0000"/>
              </a:solidFill>
              <a:latin typeface="Calibri"/>
              <a:ea typeface="Calibri"/>
              <a:cs typeface="Calibri"/>
              <a:sym typeface="Calibri"/>
            </a:endParaRPr>
          </a:p>
        </p:txBody>
      </p:sp>
      <p:pic>
        <p:nvPicPr>
          <p:cNvPr id="396" name="Google Shape;396;hd72da3054435e2_23_19"/>
          <p:cNvPicPr preferRelativeResize="0"/>
          <p:nvPr/>
        </p:nvPicPr>
        <p:blipFill>
          <a:blip r:embed="rId3">
            <a:alphaModFix/>
          </a:blip>
          <a:stretch>
            <a:fillRect/>
          </a:stretch>
        </p:blipFill>
        <p:spPr>
          <a:xfrm>
            <a:off x="76200" y="1168100"/>
            <a:ext cx="8991600" cy="488100"/>
          </a:xfrm>
          <a:prstGeom prst="rect">
            <a:avLst/>
          </a:prstGeom>
          <a:noFill/>
          <a:ln>
            <a:noFill/>
          </a:ln>
        </p:spPr>
      </p:pic>
      <p:pic>
        <p:nvPicPr>
          <p:cNvPr id="397" name="Google Shape;397;hd72da3054435e2_23_19" title="Chart"/>
          <p:cNvPicPr preferRelativeResize="0"/>
          <p:nvPr/>
        </p:nvPicPr>
        <p:blipFill>
          <a:blip r:embed="rId4">
            <a:alphaModFix/>
          </a:blip>
          <a:stretch>
            <a:fillRect/>
          </a:stretch>
        </p:blipFill>
        <p:spPr>
          <a:xfrm>
            <a:off x="2040150" y="1829750"/>
            <a:ext cx="5140188" cy="3182499"/>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g28ea2419252_1_787"/>
          <p:cNvSpPr txBox="1"/>
          <p:nvPr>
            <p:ph type="title"/>
          </p:nvPr>
        </p:nvSpPr>
        <p:spPr>
          <a:xfrm>
            <a:off x="1042450" y="2058300"/>
            <a:ext cx="8078100" cy="857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SzPct val="342449"/>
              <a:buNone/>
            </a:pPr>
            <a:r>
              <a:rPr lang="de-CH">
                <a:latin typeface="Times New Roman"/>
                <a:ea typeface="Times New Roman"/>
                <a:cs typeface="Times New Roman"/>
                <a:sym typeface="Times New Roman"/>
              </a:rPr>
              <a:t>                    D. Research</a:t>
            </a:r>
            <a:endParaRPr sz="1450">
              <a:solidFill>
                <a:srgbClr val="4A86E8"/>
              </a:solidFill>
            </a:endParaRPr>
          </a:p>
          <a:p>
            <a:pPr indent="0" lvl="0" marL="0" rtl="0" algn="ctr">
              <a:lnSpc>
                <a:spcPct val="100000"/>
              </a:lnSpc>
              <a:spcBef>
                <a:spcPts val="0"/>
              </a:spcBef>
              <a:spcAft>
                <a:spcPts val="0"/>
              </a:spcAft>
              <a:buSzPct val="55555"/>
              <a:buNone/>
            </a:pPr>
            <a:r>
              <a:t/>
            </a:r>
            <a:endParaRPr>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g28ea2419252_1_792"/>
          <p:cNvSpPr txBox="1"/>
          <p:nvPr>
            <p:ph idx="1" type="body"/>
          </p:nvPr>
        </p:nvSpPr>
        <p:spPr>
          <a:xfrm>
            <a:off x="457200" y="833250"/>
            <a:ext cx="8435700" cy="41427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400"/>
              </a:spcBef>
              <a:spcAft>
                <a:spcPts val="0"/>
              </a:spcAft>
              <a:buSzPts val="852"/>
              <a:buNone/>
            </a:pPr>
            <a:r>
              <a:rPr lang="de-CH" sz="2000">
                <a:latin typeface="Times New Roman"/>
                <a:ea typeface="Times New Roman"/>
                <a:cs typeface="Times New Roman"/>
                <a:sym typeface="Times New Roman"/>
              </a:rPr>
              <a:t>1.Teachers are encouraged to participate in the FDP, Workshop, STTP.</a:t>
            </a:r>
            <a:endParaRPr sz="2000">
              <a:latin typeface="Times New Roman"/>
              <a:ea typeface="Times New Roman"/>
              <a:cs typeface="Times New Roman"/>
              <a:sym typeface="Times New Roman"/>
            </a:endParaRPr>
          </a:p>
          <a:p>
            <a:pPr indent="0" lvl="0" marL="0" rtl="0" algn="l">
              <a:lnSpc>
                <a:spcPct val="80000"/>
              </a:lnSpc>
              <a:spcBef>
                <a:spcPts val="400"/>
              </a:spcBef>
              <a:spcAft>
                <a:spcPts val="0"/>
              </a:spcAft>
              <a:buSzPts val="852"/>
              <a:buNone/>
            </a:pPr>
            <a:r>
              <a:t/>
            </a:r>
            <a:endParaRPr sz="2000">
              <a:latin typeface="Times New Roman"/>
              <a:ea typeface="Times New Roman"/>
              <a:cs typeface="Times New Roman"/>
              <a:sym typeface="Times New Roman"/>
            </a:endParaRPr>
          </a:p>
          <a:p>
            <a:pPr indent="0" lvl="0" marL="0" rtl="0" algn="l">
              <a:lnSpc>
                <a:spcPct val="80000"/>
              </a:lnSpc>
              <a:spcBef>
                <a:spcPts val="400"/>
              </a:spcBef>
              <a:spcAft>
                <a:spcPts val="0"/>
              </a:spcAft>
              <a:buSzPts val="852"/>
              <a:buNone/>
            </a:pPr>
            <a:r>
              <a:rPr lang="de-CH" sz="2000">
                <a:latin typeface="Times New Roman"/>
                <a:ea typeface="Times New Roman"/>
                <a:cs typeface="Times New Roman"/>
                <a:sym typeface="Times New Roman"/>
              </a:rPr>
              <a:t>2. Every Faculty publishes paper in reputed  Conference or Journal.</a:t>
            </a:r>
            <a:endParaRPr sz="2000">
              <a:latin typeface="Times New Roman"/>
              <a:ea typeface="Times New Roman"/>
              <a:cs typeface="Times New Roman"/>
              <a:sym typeface="Times New Roman"/>
            </a:endParaRPr>
          </a:p>
          <a:p>
            <a:pPr indent="0" lvl="0" marL="0" rtl="0" algn="l">
              <a:lnSpc>
                <a:spcPct val="80000"/>
              </a:lnSpc>
              <a:spcBef>
                <a:spcPts val="400"/>
              </a:spcBef>
              <a:spcAft>
                <a:spcPts val="0"/>
              </a:spcAft>
              <a:buSzPts val="852"/>
              <a:buNone/>
            </a:pPr>
            <a:r>
              <a:t/>
            </a:r>
            <a:endParaRPr sz="2000">
              <a:latin typeface="Times New Roman"/>
              <a:ea typeface="Times New Roman"/>
              <a:cs typeface="Times New Roman"/>
              <a:sym typeface="Times New Roman"/>
            </a:endParaRPr>
          </a:p>
          <a:p>
            <a:pPr indent="0" lvl="0" marL="0" rtl="0" algn="l">
              <a:lnSpc>
                <a:spcPct val="80000"/>
              </a:lnSpc>
              <a:spcBef>
                <a:spcPts val="400"/>
              </a:spcBef>
              <a:spcAft>
                <a:spcPts val="0"/>
              </a:spcAft>
              <a:buSzPts val="852"/>
              <a:buNone/>
            </a:pPr>
            <a:r>
              <a:rPr lang="de-CH" sz="2000">
                <a:latin typeface="Times New Roman"/>
                <a:ea typeface="Times New Roman"/>
                <a:cs typeface="Times New Roman"/>
                <a:sym typeface="Times New Roman"/>
              </a:rPr>
              <a:t>3. Department organizes workshop,FDP for  upgradation.</a:t>
            </a:r>
            <a:endParaRPr sz="2000">
              <a:latin typeface="Times New Roman"/>
              <a:ea typeface="Times New Roman"/>
              <a:cs typeface="Times New Roman"/>
              <a:sym typeface="Times New Roman"/>
            </a:endParaRPr>
          </a:p>
          <a:p>
            <a:pPr indent="0" lvl="0" marL="0" rtl="0" algn="l">
              <a:lnSpc>
                <a:spcPct val="80000"/>
              </a:lnSpc>
              <a:spcBef>
                <a:spcPts val="400"/>
              </a:spcBef>
              <a:spcAft>
                <a:spcPts val="0"/>
              </a:spcAft>
              <a:buSzPts val="852"/>
              <a:buNone/>
            </a:pPr>
            <a:r>
              <a:t/>
            </a:r>
            <a:endParaRPr sz="2292">
              <a:latin typeface="Times New Roman"/>
              <a:ea typeface="Times New Roman"/>
              <a:cs typeface="Times New Roman"/>
              <a:sym typeface="Times New Roman"/>
            </a:endParaRPr>
          </a:p>
          <a:p>
            <a:pPr indent="0" lvl="0" marL="0" rtl="0" algn="l">
              <a:lnSpc>
                <a:spcPct val="80000"/>
              </a:lnSpc>
              <a:spcBef>
                <a:spcPts val="400"/>
              </a:spcBef>
              <a:spcAft>
                <a:spcPts val="0"/>
              </a:spcAft>
              <a:buSzPts val="852"/>
              <a:buNone/>
            </a:pPr>
            <a:r>
              <a:rPr lang="de-CH" sz="2292">
                <a:latin typeface="Times New Roman"/>
                <a:ea typeface="Times New Roman"/>
                <a:cs typeface="Times New Roman"/>
                <a:sym typeface="Times New Roman"/>
              </a:rPr>
              <a:t>4. </a:t>
            </a:r>
            <a:r>
              <a:rPr lang="de-CH" sz="1900">
                <a:latin typeface="Times New Roman"/>
                <a:ea typeface="Times New Roman"/>
                <a:cs typeface="Times New Roman"/>
                <a:sym typeface="Times New Roman"/>
              </a:rPr>
              <a:t>Research related activities : Students are encouraged to be a part of </a:t>
            </a:r>
            <a:endParaRPr sz="1900">
              <a:latin typeface="Times New Roman"/>
              <a:ea typeface="Times New Roman"/>
              <a:cs typeface="Times New Roman"/>
              <a:sym typeface="Times New Roman"/>
            </a:endParaRPr>
          </a:p>
          <a:p>
            <a:pPr indent="0" lvl="0" marL="0" rtl="0" algn="l">
              <a:lnSpc>
                <a:spcPct val="80000"/>
              </a:lnSpc>
              <a:spcBef>
                <a:spcPts val="400"/>
              </a:spcBef>
              <a:spcAft>
                <a:spcPts val="0"/>
              </a:spcAft>
              <a:buSzPts val="852"/>
              <a:buNone/>
            </a:pPr>
            <a:r>
              <a:rPr lang="de-CH" sz="1900">
                <a:latin typeface="Times New Roman"/>
                <a:ea typeface="Times New Roman"/>
                <a:cs typeface="Times New Roman"/>
                <a:sym typeface="Times New Roman"/>
              </a:rPr>
              <a:t>   Technical Research Paper Competitions.</a:t>
            </a:r>
            <a:endParaRPr sz="1900">
              <a:latin typeface="Times New Roman"/>
              <a:ea typeface="Times New Roman"/>
              <a:cs typeface="Times New Roman"/>
              <a:sym typeface="Times New Roman"/>
            </a:endParaRPr>
          </a:p>
          <a:p>
            <a:pPr indent="0" lvl="0" marL="0" rtl="0" algn="l">
              <a:lnSpc>
                <a:spcPct val="80000"/>
              </a:lnSpc>
              <a:spcBef>
                <a:spcPts val="400"/>
              </a:spcBef>
              <a:spcAft>
                <a:spcPts val="0"/>
              </a:spcAft>
              <a:buSzPts val="852"/>
              <a:buNone/>
            </a:pPr>
            <a:r>
              <a:t/>
            </a:r>
            <a:endParaRPr sz="1900">
              <a:latin typeface="Times New Roman"/>
              <a:ea typeface="Times New Roman"/>
              <a:cs typeface="Times New Roman"/>
              <a:sym typeface="Times New Roman"/>
            </a:endParaRPr>
          </a:p>
          <a:p>
            <a:pPr indent="0" lvl="0" marL="0" rtl="0" algn="l">
              <a:lnSpc>
                <a:spcPct val="80000"/>
              </a:lnSpc>
              <a:spcBef>
                <a:spcPts val="400"/>
              </a:spcBef>
              <a:spcAft>
                <a:spcPts val="0"/>
              </a:spcAft>
              <a:buSzPts val="852"/>
              <a:buNone/>
            </a:pPr>
            <a:r>
              <a:rPr lang="de-CH" sz="1900">
                <a:latin typeface="Times New Roman"/>
                <a:ea typeface="Times New Roman"/>
                <a:cs typeface="Times New Roman"/>
                <a:sym typeface="Times New Roman"/>
              </a:rPr>
              <a:t>5. </a:t>
            </a:r>
            <a:r>
              <a:rPr lang="de-CH" sz="1800">
                <a:latin typeface="Times New Roman"/>
                <a:ea typeface="Times New Roman"/>
                <a:cs typeface="Times New Roman"/>
                <a:sym typeface="Times New Roman"/>
              </a:rPr>
              <a:t>Students are encouraged to work on Research Based Mini Projects.</a:t>
            </a:r>
            <a:endParaRPr sz="1900">
              <a:latin typeface="Times New Roman"/>
              <a:ea typeface="Times New Roman"/>
              <a:cs typeface="Times New Roman"/>
              <a:sym typeface="Times New Roman"/>
            </a:endParaRPr>
          </a:p>
          <a:p>
            <a:pPr indent="0" lvl="0" marL="0" rtl="0" algn="l">
              <a:lnSpc>
                <a:spcPct val="80000"/>
              </a:lnSpc>
              <a:spcBef>
                <a:spcPts val="400"/>
              </a:spcBef>
              <a:spcAft>
                <a:spcPts val="0"/>
              </a:spcAft>
              <a:buSzPts val="852"/>
              <a:buNone/>
            </a:pPr>
            <a:r>
              <a:t/>
            </a:r>
            <a:endParaRPr sz="2292">
              <a:latin typeface="Times New Roman"/>
              <a:ea typeface="Times New Roman"/>
              <a:cs typeface="Times New Roman"/>
              <a:sym typeface="Times New Roman"/>
            </a:endParaRPr>
          </a:p>
        </p:txBody>
      </p:sp>
      <p:sp>
        <p:nvSpPr>
          <p:cNvPr id="410" name="Google Shape;410;g28ea2419252_1_792"/>
          <p:cNvSpPr txBox="1"/>
          <p:nvPr>
            <p:ph type="title"/>
          </p:nvPr>
        </p:nvSpPr>
        <p:spPr>
          <a:xfrm>
            <a:off x="457200" y="154484"/>
            <a:ext cx="8229600" cy="6432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SzPct val="55555"/>
              <a:buNone/>
            </a:pPr>
            <a:r>
              <a:t/>
            </a:r>
            <a:endParaRPr>
              <a:latin typeface="Times New Roman"/>
              <a:ea typeface="Times New Roman"/>
              <a:cs typeface="Times New Roman"/>
              <a:sym typeface="Times New Roman"/>
            </a:endParaRPr>
          </a:p>
          <a:p>
            <a:pPr indent="0" lvl="0" marL="0" rtl="0" algn="l">
              <a:lnSpc>
                <a:spcPct val="100000"/>
              </a:lnSpc>
              <a:spcBef>
                <a:spcPts val="0"/>
              </a:spcBef>
              <a:spcAft>
                <a:spcPts val="0"/>
              </a:spcAft>
              <a:buSzPct val="55555"/>
              <a:buNone/>
            </a:pPr>
            <a:r>
              <a:t/>
            </a:r>
            <a:endParaRPr>
              <a:latin typeface="Times New Roman"/>
              <a:ea typeface="Times New Roman"/>
              <a:cs typeface="Times New Roman"/>
              <a:sym typeface="Times New Roman"/>
            </a:endParaRPr>
          </a:p>
          <a:p>
            <a:pPr indent="0" lvl="0" marL="0" rtl="0" algn="l">
              <a:lnSpc>
                <a:spcPct val="100000"/>
              </a:lnSpc>
              <a:spcBef>
                <a:spcPts val="0"/>
              </a:spcBef>
              <a:spcAft>
                <a:spcPts val="0"/>
              </a:spcAft>
              <a:buSzPct val="342449"/>
              <a:buNone/>
            </a:pPr>
            <a:r>
              <a:rPr lang="de-CH">
                <a:latin typeface="Times New Roman"/>
                <a:ea typeface="Times New Roman"/>
                <a:cs typeface="Times New Roman"/>
                <a:sym typeface="Times New Roman"/>
              </a:rPr>
              <a:t>D.Research</a:t>
            </a:r>
            <a:endParaRPr sz="1450">
              <a:solidFill>
                <a:srgbClr val="4A86E8"/>
              </a:solidFill>
            </a:endParaRPr>
          </a:p>
          <a:p>
            <a:pPr indent="0" lvl="0" marL="0" rtl="0" algn="ctr">
              <a:lnSpc>
                <a:spcPct val="100000"/>
              </a:lnSpc>
              <a:spcBef>
                <a:spcPts val="0"/>
              </a:spcBef>
              <a:spcAft>
                <a:spcPts val="0"/>
              </a:spcAft>
              <a:buSzPct val="55555"/>
              <a:buNone/>
            </a:pPr>
            <a:r>
              <a:t/>
            </a:r>
            <a:endParaRPr>
              <a:latin typeface="Times New Roman"/>
              <a:ea typeface="Times New Roman"/>
              <a:cs typeface="Times New Roman"/>
              <a:sym typeface="Times New Roman"/>
            </a:endParaRPr>
          </a:p>
          <a:p>
            <a:pPr indent="0" lvl="0" marL="0" rtl="0" algn="l">
              <a:lnSpc>
                <a:spcPct val="100000"/>
              </a:lnSpc>
              <a:spcBef>
                <a:spcPts val="0"/>
              </a:spcBef>
              <a:spcAft>
                <a:spcPts val="0"/>
              </a:spcAft>
              <a:buSzPct val="55555"/>
              <a:buNone/>
            </a:pPr>
            <a:r>
              <a:t/>
            </a:r>
            <a:endParaRPr>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g28ea2419252_10_10"/>
          <p:cNvSpPr txBox="1"/>
          <p:nvPr>
            <p:ph type="title"/>
          </p:nvPr>
        </p:nvSpPr>
        <p:spPr>
          <a:xfrm>
            <a:off x="231025" y="73825"/>
            <a:ext cx="8520600" cy="707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2"/>
              </a:buClr>
              <a:buSzPts val="1100"/>
              <a:buFont typeface="Arial"/>
              <a:buNone/>
            </a:pPr>
            <a:r>
              <a:rPr lang="de-CH" sz="1800">
                <a:latin typeface="Times New Roman"/>
                <a:ea typeface="Times New Roman"/>
                <a:cs typeface="Times New Roman"/>
                <a:sym typeface="Times New Roman"/>
              </a:rPr>
              <a:t>D.1. </a:t>
            </a:r>
            <a:r>
              <a:rPr b="0" lang="de-CH" sz="1800">
                <a:solidFill>
                  <a:srgbClr val="000000"/>
                </a:solidFill>
                <a:latin typeface="Calibri"/>
                <a:ea typeface="Calibri"/>
                <a:cs typeface="Calibri"/>
                <a:sym typeface="Calibri"/>
              </a:rPr>
              <a:t>Research related activities of faculty. </a:t>
            </a:r>
            <a:r>
              <a:rPr b="0" lang="de-CH" sz="1800">
                <a:solidFill>
                  <a:srgbClr val="FF0000"/>
                </a:solidFill>
                <a:latin typeface="Calibri"/>
                <a:ea typeface="Calibri"/>
                <a:cs typeface="Calibri"/>
                <a:sym typeface="Calibri"/>
              </a:rPr>
              <a:t>Writing proposals for sponsored research projects</a:t>
            </a:r>
            <a:r>
              <a:rPr b="0" lang="de-CH" sz="1800">
                <a:solidFill>
                  <a:srgbClr val="000000"/>
                </a:solidFill>
                <a:latin typeface="Calibri"/>
                <a:ea typeface="Calibri"/>
                <a:cs typeface="Calibri"/>
                <a:sym typeface="Calibri"/>
              </a:rPr>
              <a:t>, research focused projects for UG/PG students, PhD program  </a:t>
            </a:r>
            <a:r>
              <a:rPr lang="de-CH" sz="3000">
                <a:solidFill>
                  <a:srgbClr val="FF0000"/>
                </a:solidFill>
                <a:highlight>
                  <a:schemeClr val="lt1"/>
                </a:highlight>
                <a:latin typeface="Calibri"/>
                <a:ea typeface="Calibri"/>
                <a:cs typeface="Calibri"/>
                <a:sym typeface="Calibri"/>
              </a:rPr>
              <a:t> PJB</a:t>
            </a:r>
            <a:endParaRPr sz="3000">
              <a:solidFill>
                <a:srgbClr val="FF0000"/>
              </a:solidFill>
              <a:highlight>
                <a:schemeClr val="lt1"/>
              </a:highlight>
            </a:endParaRPr>
          </a:p>
          <a:p>
            <a:pPr indent="0" lvl="0" marL="914400" rtl="0" algn="ctr">
              <a:lnSpc>
                <a:spcPct val="115000"/>
              </a:lnSpc>
              <a:spcBef>
                <a:spcPts val="1200"/>
              </a:spcBef>
              <a:spcAft>
                <a:spcPts val="1200"/>
              </a:spcAft>
              <a:buSzPts val="3600"/>
              <a:buNone/>
            </a:pPr>
            <a:r>
              <a:t/>
            </a:r>
            <a:endParaRPr sz="3000">
              <a:highlight>
                <a:srgbClr val="FF0000"/>
              </a:highlight>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h7b893a0582d097ac_1_25"/>
          <p:cNvSpPr txBox="1"/>
          <p:nvPr>
            <p:ph type="title"/>
          </p:nvPr>
        </p:nvSpPr>
        <p:spPr>
          <a:xfrm>
            <a:off x="231025" y="73825"/>
            <a:ext cx="8520600" cy="707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2"/>
              </a:buClr>
              <a:buSzPts val="1100"/>
              <a:buFont typeface="Arial"/>
              <a:buNone/>
            </a:pPr>
            <a:r>
              <a:rPr lang="de-CH" sz="1800">
                <a:latin typeface="Times New Roman"/>
                <a:ea typeface="Times New Roman"/>
                <a:cs typeface="Times New Roman"/>
                <a:sym typeface="Times New Roman"/>
              </a:rPr>
              <a:t>D.1. </a:t>
            </a:r>
            <a:r>
              <a:rPr b="0" lang="de-CH" sz="1800">
                <a:solidFill>
                  <a:srgbClr val="000000"/>
                </a:solidFill>
                <a:latin typeface="Calibri"/>
                <a:ea typeface="Calibri"/>
                <a:cs typeface="Calibri"/>
                <a:sym typeface="Calibri"/>
              </a:rPr>
              <a:t>Research related activities of faculty. Writing proposals for sponsored research projects,</a:t>
            </a:r>
            <a:r>
              <a:rPr b="0" lang="de-CH" sz="1800">
                <a:solidFill>
                  <a:srgbClr val="FF0000"/>
                </a:solidFill>
                <a:latin typeface="Calibri"/>
                <a:ea typeface="Calibri"/>
                <a:cs typeface="Calibri"/>
                <a:sym typeface="Calibri"/>
              </a:rPr>
              <a:t> research focused projects for UG/PG students, PhD program </a:t>
            </a:r>
            <a:r>
              <a:rPr b="0" lang="de-CH" sz="1800">
                <a:solidFill>
                  <a:srgbClr val="000000"/>
                </a:solidFill>
                <a:highlight>
                  <a:schemeClr val="lt1"/>
                </a:highlight>
                <a:latin typeface="Calibri"/>
                <a:ea typeface="Calibri"/>
                <a:cs typeface="Calibri"/>
                <a:sym typeface="Calibri"/>
              </a:rPr>
              <a:t> </a:t>
            </a:r>
            <a:r>
              <a:rPr lang="de-CH" sz="3000">
                <a:solidFill>
                  <a:srgbClr val="000000"/>
                </a:solidFill>
                <a:highlight>
                  <a:schemeClr val="lt1"/>
                </a:highlight>
                <a:latin typeface="Calibri"/>
                <a:ea typeface="Calibri"/>
                <a:cs typeface="Calibri"/>
                <a:sym typeface="Calibri"/>
              </a:rPr>
              <a:t> </a:t>
            </a:r>
            <a:r>
              <a:rPr lang="de-CH" sz="3000">
                <a:solidFill>
                  <a:srgbClr val="FF0000"/>
                </a:solidFill>
                <a:highlight>
                  <a:schemeClr val="lt1"/>
                </a:highlight>
                <a:latin typeface="Calibri"/>
                <a:ea typeface="Calibri"/>
                <a:cs typeface="Calibri"/>
                <a:sym typeface="Calibri"/>
              </a:rPr>
              <a:t>SBG</a:t>
            </a:r>
            <a:endParaRPr sz="3000">
              <a:solidFill>
                <a:srgbClr val="FF0000"/>
              </a:solidFill>
              <a:highlight>
                <a:schemeClr val="lt1"/>
              </a:highlight>
            </a:endParaRPr>
          </a:p>
          <a:p>
            <a:pPr indent="0" lvl="0" marL="914400" rtl="0" algn="ctr">
              <a:lnSpc>
                <a:spcPct val="115000"/>
              </a:lnSpc>
              <a:spcBef>
                <a:spcPts val="1200"/>
              </a:spcBef>
              <a:spcAft>
                <a:spcPts val="1200"/>
              </a:spcAft>
              <a:buSzPts val="3600"/>
              <a:buNone/>
            </a:pPr>
            <a:r>
              <a:t/>
            </a:r>
            <a:endParaRPr sz="3000">
              <a:highlight>
                <a:srgbClr val="FF0000"/>
              </a:highlight>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h7b893a0582d097ac_1_31"/>
          <p:cNvSpPr txBox="1"/>
          <p:nvPr>
            <p:ph type="title"/>
          </p:nvPr>
        </p:nvSpPr>
        <p:spPr>
          <a:xfrm>
            <a:off x="231025" y="73825"/>
            <a:ext cx="8520600" cy="707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2"/>
              </a:buClr>
              <a:buSzPts val="1100"/>
              <a:buFont typeface="Arial"/>
              <a:buNone/>
            </a:pPr>
            <a:r>
              <a:rPr lang="de-CH" sz="1800">
                <a:latin typeface="Times New Roman"/>
                <a:ea typeface="Times New Roman"/>
                <a:cs typeface="Times New Roman"/>
                <a:sym typeface="Times New Roman"/>
              </a:rPr>
              <a:t>D.2. </a:t>
            </a:r>
            <a:r>
              <a:rPr b="0" lang="de-CH" sz="1800">
                <a:solidFill>
                  <a:srgbClr val="FF0000"/>
                </a:solidFill>
                <a:latin typeface="Calibri"/>
                <a:ea typeface="Calibri"/>
                <a:cs typeface="Calibri"/>
                <a:sym typeface="Calibri"/>
              </a:rPr>
              <a:t>Industrial projects, Sponsored research, </a:t>
            </a:r>
            <a:r>
              <a:rPr b="0" lang="de-CH" sz="1800">
                <a:solidFill>
                  <a:srgbClr val="000000"/>
                </a:solidFill>
                <a:latin typeface="Calibri"/>
                <a:ea typeface="Calibri"/>
                <a:cs typeface="Calibri"/>
                <a:sym typeface="Calibri"/>
              </a:rPr>
              <a:t>collaborations and consultancy </a:t>
            </a:r>
            <a:r>
              <a:rPr b="0" lang="de-CH" sz="1800">
                <a:solidFill>
                  <a:srgbClr val="000000"/>
                </a:solidFill>
                <a:highlight>
                  <a:schemeClr val="lt1"/>
                </a:highlight>
                <a:latin typeface="Calibri"/>
                <a:ea typeface="Calibri"/>
                <a:cs typeface="Calibri"/>
                <a:sym typeface="Calibri"/>
              </a:rPr>
              <a:t> </a:t>
            </a:r>
            <a:r>
              <a:rPr lang="de-CH" sz="3000">
                <a:solidFill>
                  <a:srgbClr val="000000"/>
                </a:solidFill>
                <a:highlight>
                  <a:schemeClr val="lt1"/>
                </a:highlight>
                <a:latin typeface="Calibri"/>
                <a:ea typeface="Calibri"/>
                <a:cs typeface="Calibri"/>
                <a:sym typeface="Calibri"/>
              </a:rPr>
              <a:t> </a:t>
            </a:r>
            <a:r>
              <a:rPr lang="de-CH" sz="3000">
                <a:solidFill>
                  <a:srgbClr val="FF0000"/>
                </a:solidFill>
                <a:highlight>
                  <a:schemeClr val="lt1"/>
                </a:highlight>
                <a:latin typeface="Calibri"/>
                <a:ea typeface="Calibri"/>
                <a:cs typeface="Calibri"/>
                <a:sym typeface="Calibri"/>
              </a:rPr>
              <a:t>PJB</a:t>
            </a:r>
            <a:endParaRPr sz="3000">
              <a:solidFill>
                <a:srgbClr val="FF0000"/>
              </a:solidFill>
              <a:highlight>
                <a:schemeClr val="lt1"/>
              </a:highlight>
            </a:endParaRPr>
          </a:p>
          <a:p>
            <a:pPr indent="0" lvl="0" marL="914400" rtl="0" algn="ctr">
              <a:lnSpc>
                <a:spcPct val="115000"/>
              </a:lnSpc>
              <a:spcBef>
                <a:spcPts val="1200"/>
              </a:spcBef>
              <a:spcAft>
                <a:spcPts val="1200"/>
              </a:spcAft>
              <a:buSzPts val="3600"/>
              <a:buNone/>
            </a:pPr>
            <a:r>
              <a:t/>
            </a:r>
            <a:endParaRPr sz="3000">
              <a:highlight>
                <a:srgbClr val="FF0000"/>
              </a:highlight>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h7b893a0582d097ac_1_39"/>
          <p:cNvSpPr txBox="1"/>
          <p:nvPr>
            <p:ph type="title"/>
          </p:nvPr>
        </p:nvSpPr>
        <p:spPr>
          <a:xfrm>
            <a:off x="231025" y="73825"/>
            <a:ext cx="8520600" cy="707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2"/>
              </a:buClr>
              <a:buSzPts val="1100"/>
              <a:buFont typeface="Arial"/>
              <a:buNone/>
            </a:pPr>
            <a:r>
              <a:rPr lang="de-CH" sz="1800">
                <a:latin typeface="Times New Roman"/>
                <a:ea typeface="Times New Roman"/>
                <a:cs typeface="Times New Roman"/>
                <a:sym typeface="Times New Roman"/>
              </a:rPr>
              <a:t>D.2. </a:t>
            </a:r>
            <a:r>
              <a:rPr b="0" lang="de-CH" sz="1800">
                <a:solidFill>
                  <a:srgbClr val="000000"/>
                </a:solidFill>
                <a:latin typeface="Calibri"/>
                <a:ea typeface="Calibri"/>
                <a:cs typeface="Calibri"/>
                <a:sym typeface="Calibri"/>
              </a:rPr>
              <a:t>Industrial projects, Sponsored research, </a:t>
            </a:r>
            <a:r>
              <a:rPr b="0" lang="de-CH" sz="1800">
                <a:solidFill>
                  <a:srgbClr val="FF0000"/>
                </a:solidFill>
                <a:latin typeface="Calibri"/>
                <a:ea typeface="Calibri"/>
                <a:cs typeface="Calibri"/>
                <a:sym typeface="Calibri"/>
              </a:rPr>
              <a:t>collaborations and consultancy</a:t>
            </a:r>
            <a:r>
              <a:rPr b="0" lang="de-CH" sz="1800">
                <a:solidFill>
                  <a:srgbClr val="000000"/>
                </a:solidFill>
                <a:latin typeface="Calibri"/>
                <a:ea typeface="Calibri"/>
                <a:cs typeface="Calibri"/>
                <a:sym typeface="Calibri"/>
              </a:rPr>
              <a:t> </a:t>
            </a:r>
            <a:r>
              <a:rPr b="0" lang="de-CH" sz="1800">
                <a:solidFill>
                  <a:srgbClr val="000000"/>
                </a:solidFill>
                <a:highlight>
                  <a:schemeClr val="lt1"/>
                </a:highlight>
                <a:latin typeface="Calibri"/>
                <a:ea typeface="Calibri"/>
                <a:cs typeface="Calibri"/>
                <a:sym typeface="Calibri"/>
              </a:rPr>
              <a:t> </a:t>
            </a:r>
            <a:r>
              <a:rPr lang="de-CH" sz="3000">
                <a:solidFill>
                  <a:srgbClr val="000000"/>
                </a:solidFill>
                <a:highlight>
                  <a:schemeClr val="lt1"/>
                </a:highlight>
                <a:latin typeface="Calibri"/>
                <a:ea typeface="Calibri"/>
                <a:cs typeface="Calibri"/>
                <a:sym typeface="Calibri"/>
              </a:rPr>
              <a:t> </a:t>
            </a:r>
            <a:r>
              <a:rPr lang="de-CH" sz="3000">
                <a:solidFill>
                  <a:srgbClr val="FF0000"/>
                </a:solidFill>
                <a:highlight>
                  <a:schemeClr val="lt1"/>
                </a:highlight>
                <a:latin typeface="Calibri"/>
                <a:ea typeface="Calibri"/>
                <a:cs typeface="Calibri"/>
                <a:sym typeface="Calibri"/>
              </a:rPr>
              <a:t>AVN</a:t>
            </a:r>
            <a:endParaRPr sz="3000">
              <a:solidFill>
                <a:srgbClr val="FF0000"/>
              </a:solidFill>
              <a:highlight>
                <a:schemeClr val="lt1"/>
              </a:highlight>
            </a:endParaRPr>
          </a:p>
          <a:p>
            <a:pPr indent="0" lvl="0" marL="914400" rtl="0" algn="ctr">
              <a:lnSpc>
                <a:spcPct val="115000"/>
              </a:lnSpc>
              <a:spcBef>
                <a:spcPts val="1200"/>
              </a:spcBef>
              <a:spcAft>
                <a:spcPts val="1200"/>
              </a:spcAft>
              <a:buSzPts val="3600"/>
              <a:buNone/>
            </a:pPr>
            <a:r>
              <a:t/>
            </a:r>
            <a:endParaRPr sz="3000">
              <a:highlight>
                <a:srgbClr val="FF0000"/>
              </a:highlight>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h7b893a0582d097ac_1_35"/>
          <p:cNvSpPr txBox="1"/>
          <p:nvPr>
            <p:ph type="title"/>
          </p:nvPr>
        </p:nvSpPr>
        <p:spPr>
          <a:xfrm>
            <a:off x="231025" y="73825"/>
            <a:ext cx="8520600" cy="707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2"/>
              </a:buClr>
              <a:buSzPts val="1100"/>
              <a:buFont typeface="Arial"/>
              <a:buNone/>
            </a:pPr>
            <a:r>
              <a:rPr lang="de-CH" sz="1800">
                <a:latin typeface="Times New Roman"/>
                <a:ea typeface="Times New Roman"/>
                <a:cs typeface="Times New Roman"/>
                <a:sym typeface="Times New Roman"/>
              </a:rPr>
              <a:t>D.3. </a:t>
            </a:r>
            <a:r>
              <a:rPr b="0" lang="de-CH" sz="1800">
                <a:solidFill>
                  <a:srgbClr val="000000"/>
                </a:solidFill>
                <a:latin typeface="Calibri"/>
                <a:ea typeface="Calibri"/>
                <a:cs typeface="Calibri"/>
                <a:sym typeface="Calibri"/>
              </a:rPr>
              <a:t>Faculty publications, quality, citations, h-index, and IPR, books and book chapters, monograms.</a:t>
            </a:r>
            <a:r>
              <a:rPr b="0" lang="de-CH" sz="1800">
                <a:solidFill>
                  <a:srgbClr val="000000"/>
                </a:solidFill>
                <a:latin typeface="Calibri"/>
                <a:ea typeface="Calibri"/>
                <a:cs typeface="Calibri"/>
                <a:sym typeface="Calibri"/>
              </a:rPr>
              <a:t> </a:t>
            </a:r>
            <a:r>
              <a:rPr b="0" lang="de-CH" sz="1800">
                <a:solidFill>
                  <a:srgbClr val="000000"/>
                </a:solidFill>
                <a:highlight>
                  <a:schemeClr val="lt1"/>
                </a:highlight>
                <a:latin typeface="Calibri"/>
                <a:ea typeface="Calibri"/>
                <a:cs typeface="Calibri"/>
                <a:sym typeface="Calibri"/>
              </a:rPr>
              <a:t> </a:t>
            </a:r>
            <a:r>
              <a:rPr lang="de-CH" sz="3000">
                <a:solidFill>
                  <a:srgbClr val="000000"/>
                </a:solidFill>
                <a:highlight>
                  <a:schemeClr val="lt1"/>
                </a:highlight>
                <a:latin typeface="Calibri"/>
                <a:ea typeface="Calibri"/>
                <a:cs typeface="Calibri"/>
                <a:sym typeface="Calibri"/>
              </a:rPr>
              <a:t> </a:t>
            </a:r>
            <a:r>
              <a:rPr lang="de-CH" sz="3000">
                <a:solidFill>
                  <a:srgbClr val="FF0000"/>
                </a:solidFill>
                <a:highlight>
                  <a:schemeClr val="lt1"/>
                </a:highlight>
                <a:latin typeface="Calibri"/>
                <a:ea typeface="Calibri"/>
                <a:cs typeface="Calibri"/>
                <a:sym typeface="Calibri"/>
              </a:rPr>
              <a:t>JS</a:t>
            </a:r>
            <a:endParaRPr sz="3000">
              <a:solidFill>
                <a:srgbClr val="FF0000"/>
              </a:solidFill>
              <a:highlight>
                <a:schemeClr val="lt1"/>
              </a:highlight>
            </a:endParaRPr>
          </a:p>
          <a:p>
            <a:pPr indent="0" lvl="0" marL="914400" rtl="0" algn="ctr">
              <a:lnSpc>
                <a:spcPct val="115000"/>
              </a:lnSpc>
              <a:spcBef>
                <a:spcPts val="1200"/>
              </a:spcBef>
              <a:spcAft>
                <a:spcPts val="1200"/>
              </a:spcAft>
              <a:buSzPts val="3600"/>
              <a:buNone/>
            </a:pPr>
            <a:r>
              <a:t/>
            </a:r>
            <a:endParaRPr sz="3000">
              <a:highlight>
                <a:srgbClr val="FF0000"/>
              </a:highlight>
            </a:endParaRPr>
          </a:p>
        </p:txBody>
      </p:sp>
      <p:graphicFrame>
        <p:nvGraphicFramePr>
          <p:cNvPr id="436" name="Google Shape;436;h7b893a0582d097ac_1_35"/>
          <p:cNvGraphicFramePr/>
          <p:nvPr/>
        </p:nvGraphicFramePr>
        <p:xfrm>
          <a:off x="740650" y="1098438"/>
          <a:ext cx="3000000" cy="3000000"/>
        </p:xfrm>
        <a:graphic>
          <a:graphicData uri="http://schemas.openxmlformats.org/drawingml/2006/table">
            <a:tbl>
              <a:tblPr>
                <a:noFill/>
                <a:tableStyleId>{D67A6EC7-0815-422C-A1C3-3E13D58E9C53}</a:tableStyleId>
              </a:tblPr>
              <a:tblGrid>
                <a:gridCol w="1181400"/>
                <a:gridCol w="1181400"/>
                <a:gridCol w="1391425"/>
                <a:gridCol w="1507500"/>
                <a:gridCol w="1485400"/>
              </a:tblGrid>
              <a:tr h="426475">
                <a:tc>
                  <a:txBody>
                    <a:bodyPr/>
                    <a:lstStyle/>
                    <a:p>
                      <a:pPr indent="0" lvl="0" marL="0" rtl="0" algn="ctr">
                        <a:lnSpc>
                          <a:spcPct val="115000"/>
                        </a:lnSpc>
                        <a:spcBef>
                          <a:spcPts val="0"/>
                        </a:spcBef>
                        <a:spcAft>
                          <a:spcPts val="0"/>
                        </a:spcAft>
                        <a:buNone/>
                      </a:pPr>
                      <a:r>
                        <a:rPr b="1" lang="de-CH" sz="1700">
                          <a:latin typeface="Times New Roman"/>
                          <a:ea typeface="Times New Roman"/>
                          <a:cs typeface="Times New Roman"/>
                          <a:sym typeface="Times New Roman"/>
                        </a:rPr>
                        <a:t>Year</a:t>
                      </a:r>
                      <a:endParaRPr b="1" sz="1700">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EF1CC"/>
                    </a:solidFill>
                  </a:tcPr>
                </a:tc>
                <a:tc>
                  <a:txBody>
                    <a:bodyPr/>
                    <a:lstStyle/>
                    <a:p>
                      <a:pPr indent="0" lvl="0" marL="0" rtl="0" algn="ctr">
                        <a:lnSpc>
                          <a:spcPct val="115000"/>
                        </a:lnSpc>
                        <a:spcBef>
                          <a:spcPts val="0"/>
                        </a:spcBef>
                        <a:spcAft>
                          <a:spcPts val="0"/>
                        </a:spcAft>
                        <a:buNone/>
                      </a:pPr>
                      <a:r>
                        <a:rPr b="1" lang="de-CH" sz="1700">
                          <a:latin typeface="Times New Roman"/>
                          <a:ea typeface="Times New Roman"/>
                          <a:cs typeface="Times New Roman"/>
                          <a:sym typeface="Times New Roman"/>
                        </a:rPr>
                        <a:t>Journals</a:t>
                      </a:r>
                      <a:endParaRPr b="1" sz="1700">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EF1CC"/>
                    </a:solidFill>
                  </a:tcPr>
                </a:tc>
                <a:tc>
                  <a:txBody>
                    <a:bodyPr/>
                    <a:lstStyle/>
                    <a:p>
                      <a:pPr indent="0" lvl="0" marL="0" rtl="0" algn="ctr">
                        <a:lnSpc>
                          <a:spcPct val="115000"/>
                        </a:lnSpc>
                        <a:spcBef>
                          <a:spcPts val="0"/>
                        </a:spcBef>
                        <a:spcAft>
                          <a:spcPts val="0"/>
                        </a:spcAft>
                        <a:buNone/>
                      </a:pPr>
                      <a:r>
                        <a:rPr b="1" lang="de-CH" sz="1700">
                          <a:latin typeface="Times New Roman"/>
                          <a:ea typeface="Times New Roman"/>
                          <a:cs typeface="Times New Roman"/>
                          <a:sym typeface="Times New Roman"/>
                        </a:rPr>
                        <a:t>Conference</a:t>
                      </a:r>
                      <a:endParaRPr b="1" sz="1700">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EF1CC"/>
                    </a:solidFill>
                  </a:tcPr>
                </a:tc>
                <a:tc>
                  <a:txBody>
                    <a:bodyPr/>
                    <a:lstStyle/>
                    <a:p>
                      <a:pPr indent="0" lvl="0" marL="0" rtl="0" algn="ctr">
                        <a:lnSpc>
                          <a:spcPct val="115000"/>
                        </a:lnSpc>
                        <a:spcBef>
                          <a:spcPts val="0"/>
                        </a:spcBef>
                        <a:spcAft>
                          <a:spcPts val="0"/>
                        </a:spcAft>
                        <a:buNone/>
                      </a:pPr>
                      <a:r>
                        <a:rPr b="1" lang="de-CH" sz="1700">
                          <a:latin typeface="Times New Roman"/>
                          <a:ea typeface="Times New Roman"/>
                          <a:cs typeface="Times New Roman"/>
                          <a:sym typeface="Times New Roman"/>
                        </a:rPr>
                        <a:t>Book Chapters</a:t>
                      </a:r>
                      <a:endParaRPr b="1" sz="1700">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EF1CC"/>
                    </a:solidFill>
                  </a:tcPr>
                </a:tc>
                <a:tc>
                  <a:txBody>
                    <a:bodyPr/>
                    <a:lstStyle/>
                    <a:p>
                      <a:pPr indent="0" lvl="0" marL="0" rtl="0" algn="ctr">
                        <a:lnSpc>
                          <a:spcPct val="115000"/>
                        </a:lnSpc>
                        <a:spcBef>
                          <a:spcPts val="0"/>
                        </a:spcBef>
                        <a:spcAft>
                          <a:spcPts val="0"/>
                        </a:spcAft>
                        <a:buNone/>
                      </a:pPr>
                      <a:r>
                        <a:rPr b="1" lang="de-CH" sz="1700">
                          <a:latin typeface="Times New Roman"/>
                          <a:ea typeface="Times New Roman"/>
                          <a:cs typeface="Times New Roman"/>
                          <a:sym typeface="Times New Roman"/>
                        </a:rPr>
                        <a:t>Patents</a:t>
                      </a:r>
                      <a:endParaRPr b="1" sz="1700">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EF1CC"/>
                    </a:solidFill>
                  </a:tcPr>
                </a:tc>
              </a:tr>
              <a:tr h="404925">
                <a:tc>
                  <a:txBody>
                    <a:bodyPr/>
                    <a:lstStyle/>
                    <a:p>
                      <a:pPr indent="0" lvl="0" marL="0" rtl="0" algn="ctr">
                        <a:lnSpc>
                          <a:spcPct val="115000"/>
                        </a:lnSpc>
                        <a:spcBef>
                          <a:spcPts val="0"/>
                        </a:spcBef>
                        <a:spcAft>
                          <a:spcPts val="0"/>
                        </a:spcAft>
                        <a:buNone/>
                      </a:pPr>
                      <a:r>
                        <a:rPr b="1" lang="de-CH" sz="1700">
                          <a:latin typeface="Times New Roman"/>
                          <a:ea typeface="Times New Roman"/>
                          <a:cs typeface="Times New Roman"/>
                          <a:sym typeface="Times New Roman"/>
                        </a:rPr>
                        <a:t>2025-26</a:t>
                      </a:r>
                      <a:endParaRPr b="1" sz="1700">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1700">
                          <a:latin typeface="Times New Roman"/>
                          <a:ea typeface="Times New Roman"/>
                          <a:cs typeface="Times New Roman"/>
                          <a:sym typeface="Times New Roman"/>
                        </a:rPr>
                        <a:t>20</a:t>
                      </a:r>
                      <a:endParaRPr b="1" sz="1700">
                        <a:solidFill>
                          <a:srgbClr val="0000FF"/>
                        </a:solidFill>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1700">
                          <a:latin typeface="Times New Roman"/>
                          <a:ea typeface="Times New Roman"/>
                          <a:cs typeface="Times New Roman"/>
                          <a:sym typeface="Times New Roman"/>
                        </a:rPr>
                        <a:t>25</a:t>
                      </a:r>
                      <a:endParaRPr b="1" sz="1700">
                        <a:solidFill>
                          <a:srgbClr val="0000FF"/>
                        </a:solidFill>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1700">
                          <a:latin typeface="Times New Roman"/>
                          <a:ea typeface="Times New Roman"/>
                          <a:cs typeface="Times New Roman"/>
                          <a:sym typeface="Times New Roman"/>
                        </a:rPr>
                        <a:t>5</a:t>
                      </a:r>
                      <a:endParaRPr b="1" sz="1700">
                        <a:solidFill>
                          <a:srgbClr val="0000FF"/>
                        </a:solidFill>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1700">
                          <a:latin typeface="Times New Roman"/>
                          <a:ea typeface="Times New Roman"/>
                          <a:cs typeface="Times New Roman"/>
                          <a:sym typeface="Times New Roman"/>
                        </a:rPr>
                        <a:t>2</a:t>
                      </a:r>
                      <a:endParaRPr b="1" sz="1700">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04925">
                <a:tc>
                  <a:txBody>
                    <a:bodyPr/>
                    <a:lstStyle/>
                    <a:p>
                      <a:pPr indent="0" lvl="0" marL="0" rtl="0" algn="ctr">
                        <a:lnSpc>
                          <a:spcPct val="115000"/>
                        </a:lnSpc>
                        <a:spcBef>
                          <a:spcPts val="0"/>
                        </a:spcBef>
                        <a:spcAft>
                          <a:spcPts val="0"/>
                        </a:spcAft>
                        <a:buNone/>
                      </a:pPr>
                      <a:r>
                        <a:rPr b="1" lang="de-CH" sz="1700">
                          <a:latin typeface="Times New Roman"/>
                          <a:ea typeface="Times New Roman"/>
                          <a:cs typeface="Times New Roman"/>
                          <a:sym typeface="Times New Roman"/>
                        </a:rPr>
                        <a:t>2024-25</a:t>
                      </a:r>
                      <a:endParaRPr b="1" sz="1700">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1700">
                          <a:latin typeface="Times New Roman"/>
                          <a:ea typeface="Times New Roman"/>
                          <a:cs typeface="Times New Roman"/>
                          <a:sym typeface="Times New Roman"/>
                        </a:rPr>
                        <a:t>13</a:t>
                      </a:r>
                      <a:endParaRPr b="1" sz="1700">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1700">
                          <a:latin typeface="Times New Roman"/>
                          <a:ea typeface="Times New Roman"/>
                          <a:cs typeface="Times New Roman"/>
                          <a:sym typeface="Times New Roman"/>
                        </a:rPr>
                        <a:t>25</a:t>
                      </a:r>
                      <a:endParaRPr b="1" sz="1700">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1700">
                          <a:latin typeface="Times New Roman"/>
                          <a:ea typeface="Times New Roman"/>
                          <a:cs typeface="Times New Roman"/>
                          <a:sym typeface="Times New Roman"/>
                        </a:rPr>
                        <a:t>2</a:t>
                      </a:r>
                      <a:endParaRPr b="1" sz="1700">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1700">
                          <a:latin typeface="Times New Roman"/>
                          <a:ea typeface="Times New Roman"/>
                          <a:cs typeface="Times New Roman"/>
                          <a:sym typeface="Times New Roman"/>
                        </a:rPr>
                        <a:t>5</a:t>
                      </a:r>
                      <a:endParaRPr b="1" sz="1700">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437" name="Google Shape;437;h7b893a0582d097ac_1_35"/>
          <p:cNvGraphicFramePr/>
          <p:nvPr/>
        </p:nvGraphicFramePr>
        <p:xfrm>
          <a:off x="822675" y="2999650"/>
          <a:ext cx="3000000" cy="3000000"/>
        </p:xfrm>
        <a:graphic>
          <a:graphicData uri="http://schemas.openxmlformats.org/drawingml/2006/table">
            <a:tbl>
              <a:tblPr>
                <a:noFill/>
                <a:tableStyleId>{D67A6EC7-0815-422C-A1C3-3E13D58E9C53}</a:tableStyleId>
              </a:tblPr>
              <a:tblGrid>
                <a:gridCol w="1096925"/>
                <a:gridCol w="1096925"/>
                <a:gridCol w="1123950"/>
              </a:tblGrid>
              <a:tr h="1047000">
                <a:tc>
                  <a:txBody>
                    <a:bodyPr/>
                    <a:lstStyle/>
                    <a:p>
                      <a:pPr indent="0" lvl="0" marL="0" rtl="0" algn="ctr">
                        <a:lnSpc>
                          <a:spcPct val="115000"/>
                        </a:lnSpc>
                        <a:spcBef>
                          <a:spcPts val="0"/>
                        </a:spcBef>
                        <a:spcAft>
                          <a:spcPts val="0"/>
                        </a:spcAft>
                        <a:buNone/>
                      </a:pPr>
                      <a:r>
                        <a:rPr b="1" lang="de-CH" sz="1700">
                          <a:latin typeface="Times New Roman"/>
                          <a:ea typeface="Times New Roman"/>
                          <a:cs typeface="Times New Roman"/>
                          <a:sym typeface="Times New Roman"/>
                        </a:rPr>
                        <a:t>Year</a:t>
                      </a:r>
                      <a:endParaRPr b="1" sz="1700">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EF1CC"/>
                    </a:solidFill>
                  </a:tcPr>
                </a:tc>
                <a:tc>
                  <a:txBody>
                    <a:bodyPr/>
                    <a:lstStyle/>
                    <a:p>
                      <a:pPr indent="0" lvl="0" marL="0" rtl="0" algn="ctr">
                        <a:lnSpc>
                          <a:spcPct val="115000"/>
                        </a:lnSpc>
                        <a:spcBef>
                          <a:spcPts val="0"/>
                        </a:spcBef>
                        <a:spcAft>
                          <a:spcPts val="0"/>
                        </a:spcAft>
                        <a:buNone/>
                      </a:pPr>
                      <a:r>
                        <a:rPr b="1" lang="de-CH" sz="1700">
                          <a:latin typeface="Times New Roman"/>
                          <a:ea typeface="Times New Roman"/>
                          <a:cs typeface="Times New Roman"/>
                          <a:sym typeface="Times New Roman"/>
                        </a:rPr>
                        <a:t>Scopus Indexed </a:t>
                      </a:r>
                      <a:r>
                        <a:rPr b="1" lang="de-CH" sz="1700">
                          <a:latin typeface="Times New Roman"/>
                          <a:ea typeface="Times New Roman"/>
                          <a:cs typeface="Times New Roman"/>
                          <a:sym typeface="Times New Roman"/>
                        </a:rPr>
                        <a:t>Journals</a:t>
                      </a:r>
                      <a:endParaRPr b="1" sz="1700">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EF1CC"/>
                    </a:solidFill>
                  </a:tcPr>
                </a:tc>
                <a:tc>
                  <a:txBody>
                    <a:bodyPr/>
                    <a:lstStyle/>
                    <a:p>
                      <a:pPr indent="0" lvl="0" marL="0" rtl="0" algn="ctr">
                        <a:lnSpc>
                          <a:spcPct val="115000"/>
                        </a:lnSpc>
                        <a:spcBef>
                          <a:spcPts val="0"/>
                        </a:spcBef>
                        <a:spcAft>
                          <a:spcPts val="0"/>
                        </a:spcAft>
                        <a:buNone/>
                      </a:pPr>
                      <a:r>
                        <a:rPr b="1" lang="de-CH" sz="1700">
                          <a:latin typeface="Times New Roman"/>
                          <a:ea typeface="Times New Roman"/>
                          <a:cs typeface="Times New Roman"/>
                          <a:sym typeface="Times New Roman"/>
                        </a:rPr>
                        <a:t>SCI/ESCI</a:t>
                      </a:r>
                      <a:endParaRPr b="1" sz="1700">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EF1CC"/>
                    </a:solidFill>
                  </a:tcPr>
                </a:tc>
              </a:tr>
              <a:tr h="468425">
                <a:tc>
                  <a:txBody>
                    <a:bodyPr/>
                    <a:lstStyle/>
                    <a:p>
                      <a:pPr indent="0" lvl="0" marL="0" rtl="0" algn="ctr">
                        <a:lnSpc>
                          <a:spcPct val="115000"/>
                        </a:lnSpc>
                        <a:spcBef>
                          <a:spcPts val="0"/>
                        </a:spcBef>
                        <a:spcAft>
                          <a:spcPts val="0"/>
                        </a:spcAft>
                        <a:buNone/>
                      </a:pPr>
                      <a:r>
                        <a:rPr b="1" lang="de-CH" sz="1700">
                          <a:latin typeface="Times New Roman"/>
                          <a:ea typeface="Times New Roman"/>
                          <a:cs typeface="Times New Roman"/>
                          <a:sym typeface="Times New Roman"/>
                        </a:rPr>
                        <a:t>2025-26</a:t>
                      </a:r>
                      <a:endParaRPr b="1" sz="1700">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1700">
                          <a:latin typeface="Times New Roman"/>
                          <a:ea typeface="Times New Roman"/>
                          <a:cs typeface="Times New Roman"/>
                          <a:sym typeface="Times New Roman"/>
                        </a:rPr>
                        <a:t>09</a:t>
                      </a:r>
                      <a:endParaRPr b="1" sz="1700">
                        <a:solidFill>
                          <a:srgbClr val="0000FF"/>
                        </a:solidFill>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1700">
                          <a:latin typeface="Times New Roman"/>
                          <a:ea typeface="Times New Roman"/>
                          <a:cs typeface="Times New Roman"/>
                          <a:sym typeface="Times New Roman"/>
                        </a:rPr>
                        <a:t>04</a:t>
                      </a:r>
                      <a:endParaRPr b="1" sz="1700">
                        <a:solidFill>
                          <a:srgbClr val="0000FF"/>
                        </a:solidFill>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68425">
                <a:tc>
                  <a:txBody>
                    <a:bodyPr/>
                    <a:lstStyle/>
                    <a:p>
                      <a:pPr indent="0" lvl="0" marL="0" rtl="0" algn="ctr">
                        <a:lnSpc>
                          <a:spcPct val="115000"/>
                        </a:lnSpc>
                        <a:spcBef>
                          <a:spcPts val="0"/>
                        </a:spcBef>
                        <a:spcAft>
                          <a:spcPts val="0"/>
                        </a:spcAft>
                        <a:buNone/>
                      </a:pPr>
                      <a:r>
                        <a:rPr b="1" lang="de-CH" sz="1700">
                          <a:latin typeface="Times New Roman"/>
                          <a:ea typeface="Times New Roman"/>
                          <a:cs typeface="Times New Roman"/>
                          <a:sym typeface="Times New Roman"/>
                        </a:rPr>
                        <a:t>2024-25</a:t>
                      </a:r>
                      <a:endParaRPr b="1" sz="1700">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1700">
                          <a:latin typeface="Times New Roman"/>
                          <a:ea typeface="Times New Roman"/>
                          <a:cs typeface="Times New Roman"/>
                          <a:sym typeface="Times New Roman"/>
                        </a:rPr>
                        <a:t>03</a:t>
                      </a:r>
                      <a:endParaRPr b="1" sz="1700">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1700">
                          <a:latin typeface="Times New Roman"/>
                          <a:ea typeface="Times New Roman"/>
                          <a:cs typeface="Times New Roman"/>
                          <a:sym typeface="Times New Roman"/>
                        </a:rPr>
                        <a:t>01</a:t>
                      </a:r>
                      <a:endParaRPr b="1" sz="1700">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438" name="Google Shape;438;h7b893a0582d097ac_1_35"/>
          <p:cNvGraphicFramePr/>
          <p:nvPr/>
        </p:nvGraphicFramePr>
        <p:xfrm>
          <a:off x="4572000" y="3145325"/>
          <a:ext cx="3000000" cy="3000000"/>
        </p:xfrm>
        <a:graphic>
          <a:graphicData uri="http://schemas.openxmlformats.org/drawingml/2006/table">
            <a:tbl>
              <a:tblPr>
                <a:noFill/>
                <a:tableStyleId>{D67A6EC7-0815-422C-A1C3-3E13D58E9C53}</a:tableStyleId>
              </a:tblPr>
              <a:tblGrid>
                <a:gridCol w="925600"/>
                <a:gridCol w="925600"/>
                <a:gridCol w="1042600"/>
              </a:tblGrid>
              <a:tr h="385525">
                <a:tc gridSpan="3">
                  <a:txBody>
                    <a:bodyPr/>
                    <a:lstStyle/>
                    <a:p>
                      <a:pPr indent="0" lvl="0" marL="0" rtl="0" algn="ctr">
                        <a:lnSpc>
                          <a:spcPct val="115000"/>
                        </a:lnSpc>
                        <a:spcBef>
                          <a:spcPts val="0"/>
                        </a:spcBef>
                        <a:spcAft>
                          <a:spcPts val="0"/>
                        </a:spcAft>
                        <a:buNone/>
                      </a:pPr>
                      <a:r>
                        <a:rPr b="1" lang="de-CH" sz="1700">
                          <a:latin typeface="Times New Roman"/>
                          <a:ea typeface="Times New Roman"/>
                          <a:cs typeface="Times New Roman"/>
                          <a:sym typeface="Times New Roman"/>
                        </a:rPr>
                        <a:t>Citations</a:t>
                      </a:r>
                      <a:endParaRPr b="1" sz="1700">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EF1CC"/>
                    </a:solidFill>
                  </a:tcPr>
                </a:tc>
                <a:tc hMerge="1"/>
                <a:tc hMerge="1"/>
              </a:tr>
              <a:tr h="412900">
                <a:tc>
                  <a:txBody>
                    <a:bodyPr/>
                    <a:lstStyle/>
                    <a:p>
                      <a:pPr indent="0" lvl="0" marL="0" rtl="0" algn="ctr">
                        <a:lnSpc>
                          <a:spcPct val="115000"/>
                        </a:lnSpc>
                        <a:spcBef>
                          <a:spcPts val="0"/>
                        </a:spcBef>
                        <a:spcAft>
                          <a:spcPts val="0"/>
                        </a:spcAft>
                        <a:buNone/>
                      </a:pPr>
                      <a:r>
                        <a:rPr b="1" lang="de-CH" sz="1700">
                          <a:latin typeface="Times New Roman"/>
                          <a:ea typeface="Times New Roman"/>
                          <a:cs typeface="Times New Roman"/>
                          <a:sym typeface="Times New Roman"/>
                        </a:rPr>
                        <a:t>2024</a:t>
                      </a:r>
                      <a:endParaRPr b="1" sz="1700">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EF1CC"/>
                    </a:solidFill>
                  </a:tcPr>
                </a:tc>
                <a:tc>
                  <a:txBody>
                    <a:bodyPr/>
                    <a:lstStyle/>
                    <a:p>
                      <a:pPr indent="0" lvl="0" marL="0" rtl="0" algn="ctr">
                        <a:lnSpc>
                          <a:spcPct val="115000"/>
                        </a:lnSpc>
                        <a:spcBef>
                          <a:spcPts val="0"/>
                        </a:spcBef>
                        <a:spcAft>
                          <a:spcPts val="0"/>
                        </a:spcAft>
                        <a:buNone/>
                      </a:pPr>
                      <a:r>
                        <a:rPr b="1" lang="de-CH" sz="1700">
                          <a:latin typeface="Times New Roman"/>
                          <a:ea typeface="Times New Roman"/>
                          <a:cs typeface="Times New Roman"/>
                          <a:sym typeface="Times New Roman"/>
                        </a:rPr>
                        <a:t>2025</a:t>
                      </a:r>
                      <a:endParaRPr b="1" sz="1700">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EF1CC"/>
                    </a:solidFill>
                  </a:tcPr>
                </a:tc>
                <a:tc>
                  <a:txBody>
                    <a:bodyPr/>
                    <a:lstStyle/>
                    <a:p>
                      <a:pPr indent="0" lvl="0" marL="0" rtl="0" algn="ctr">
                        <a:lnSpc>
                          <a:spcPct val="115000"/>
                        </a:lnSpc>
                        <a:spcBef>
                          <a:spcPts val="0"/>
                        </a:spcBef>
                        <a:spcAft>
                          <a:spcPts val="0"/>
                        </a:spcAft>
                        <a:buNone/>
                      </a:pPr>
                      <a:r>
                        <a:rPr b="1" lang="de-CH" sz="1700">
                          <a:latin typeface="Times New Roman"/>
                          <a:ea typeface="Times New Roman"/>
                          <a:cs typeface="Times New Roman"/>
                          <a:sym typeface="Times New Roman"/>
                        </a:rPr>
                        <a:t>2026</a:t>
                      </a:r>
                      <a:endParaRPr b="1" sz="1700">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EF1CC"/>
                    </a:solidFill>
                  </a:tcPr>
                </a:tc>
              </a:tr>
              <a:tr h="664775">
                <a:tc>
                  <a:txBody>
                    <a:bodyPr/>
                    <a:lstStyle/>
                    <a:p>
                      <a:pPr indent="0" lvl="0" marL="0" rtl="0" algn="ctr">
                        <a:lnSpc>
                          <a:spcPct val="115000"/>
                        </a:lnSpc>
                        <a:spcBef>
                          <a:spcPts val="0"/>
                        </a:spcBef>
                        <a:spcAft>
                          <a:spcPts val="0"/>
                        </a:spcAft>
                        <a:buNone/>
                      </a:pPr>
                      <a:r>
                        <a:rPr b="1" lang="de-CH" sz="1700">
                          <a:latin typeface="Times New Roman"/>
                          <a:ea typeface="Times New Roman"/>
                          <a:cs typeface="Times New Roman"/>
                          <a:sym typeface="Times New Roman"/>
                        </a:rPr>
                        <a:t>1168</a:t>
                      </a:r>
                      <a:endParaRPr b="1" sz="1700">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1700">
                          <a:latin typeface="Times New Roman"/>
                          <a:ea typeface="Times New Roman"/>
                          <a:cs typeface="Times New Roman"/>
                          <a:sym typeface="Times New Roman"/>
                        </a:rPr>
                        <a:t>1077</a:t>
                      </a:r>
                      <a:endParaRPr b="1" sz="1700">
                        <a:solidFill>
                          <a:srgbClr val="0000FF"/>
                        </a:solidFill>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1700">
                          <a:latin typeface="Times New Roman"/>
                          <a:ea typeface="Times New Roman"/>
                          <a:cs typeface="Times New Roman"/>
                          <a:sym typeface="Times New Roman"/>
                        </a:rPr>
                        <a:t>294+</a:t>
                      </a:r>
                      <a:endParaRPr b="1" sz="1700">
                        <a:solidFill>
                          <a:srgbClr val="0000FF"/>
                        </a:solidFill>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h7b893a0582d097ac_1_43"/>
          <p:cNvSpPr txBox="1"/>
          <p:nvPr>
            <p:ph type="title"/>
          </p:nvPr>
        </p:nvSpPr>
        <p:spPr>
          <a:xfrm>
            <a:off x="231025" y="73825"/>
            <a:ext cx="8520600" cy="707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2"/>
              </a:buClr>
              <a:buSzPts val="1100"/>
              <a:buFont typeface="Arial"/>
              <a:buNone/>
            </a:pPr>
            <a:r>
              <a:rPr lang="de-CH" sz="1800">
                <a:latin typeface="Times New Roman"/>
                <a:ea typeface="Times New Roman"/>
                <a:cs typeface="Times New Roman"/>
                <a:sym typeface="Times New Roman"/>
              </a:rPr>
              <a:t>D.4.</a:t>
            </a:r>
            <a:r>
              <a:rPr lang="de-CH" sz="1800">
                <a:latin typeface="Times New Roman"/>
                <a:ea typeface="Times New Roman"/>
                <a:cs typeface="Times New Roman"/>
                <a:sym typeface="Times New Roman"/>
              </a:rPr>
              <a:t> </a:t>
            </a:r>
            <a:r>
              <a:rPr b="0" lang="de-CH" sz="1800">
                <a:solidFill>
                  <a:srgbClr val="000000"/>
                </a:solidFill>
                <a:latin typeface="Calibri"/>
                <a:ea typeface="Calibri"/>
                <a:cs typeface="Calibri"/>
                <a:sym typeface="Calibri"/>
              </a:rPr>
              <a:t>Faculty achievements, awards and recognition </a:t>
            </a:r>
            <a:r>
              <a:rPr b="0" lang="de-CH" sz="1800">
                <a:solidFill>
                  <a:srgbClr val="000000"/>
                </a:solidFill>
                <a:highlight>
                  <a:schemeClr val="lt1"/>
                </a:highlight>
                <a:latin typeface="Calibri"/>
                <a:ea typeface="Calibri"/>
                <a:cs typeface="Calibri"/>
                <a:sym typeface="Calibri"/>
              </a:rPr>
              <a:t> </a:t>
            </a:r>
            <a:r>
              <a:rPr lang="de-CH" sz="3000">
                <a:solidFill>
                  <a:srgbClr val="000000"/>
                </a:solidFill>
                <a:highlight>
                  <a:schemeClr val="lt1"/>
                </a:highlight>
                <a:latin typeface="Calibri"/>
                <a:ea typeface="Calibri"/>
                <a:cs typeface="Calibri"/>
                <a:sym typeface="Calibri"/>
              </a:rPr>
              <a:t> </a:t>
            </a:r>
            <a:r>
              <a:rPr lang="de-CH" sz="3000">
                <a:solidFill>
                  <a:srgbClr val="FF0000"/>
                </a:solidFill>
                <a:highlight>
                  <a:schemeClr val="lt1"/>
                </a:highlight>
                <a:latin typeface="Calibri"/>
                <a:ea typeface="Calibri"/>
                <a:cs typeface="Calibri"/>
                <a:sym typeface="Calibri"/>
              </a:rPr>
              <a:t>JS</a:t>
            </a:r>
            <a:endParaRPr sz="3000">
              <a:solidFill>
                <a:srgbClr val="FF0000"/>
              </a:solidFill>
              <a:highlight>
                <a:schemeClr val="lt1"/>
              </a:highlight>
            </a:endParaRPr>
          </a:p>
          <a:p>
            <a:pPr indent="0" lvl="0" marL="914400" rtl="0" algn="ctr">
              <a:lnSpc>
                <a:spcPct val="115000"/>
              </a:lnSpc>
              <a:spcBef>
                <a:spcPts val="1200"/>
              </a:spcBef>
              <a:spcAft>
                <a:spcPts val="1200"/>
              </a:spcAft>
              <a:buSzPts val="3600"/>
              <a:buNone/>
            </a:pPr>
            <a:r>
              <a:t/>
            </a:r>
            <a:endParaRPr sz="3000">
              <a:highlight>
                <a:srgbClr val="FF0000"/>
              </a:highlight>
            </a:endParaRPr>
          </a:p>
        </p:txBody>
      </p:sp>
      <p:graphicFrame>
        <p:nvGraphicFramePr>
          <p:cNvPr id="444" name="Google Shape;444;h7b893a0582d097ac_1_43"/>
          <p:cNvGraphicFramePr/>
          <p:nvPr/>
        </p:nvGraphicFramePr>
        <p:xfrm>
          <a:off x="713250" y="1068925"/>
          <a:ext cx="3000000" cy="3000000"/>
        </p:xfrm>
        <a:graphic>
          <a:graphicData uri="http://schemas.openxmlformats.org/drawingml/2006/table">
            <a:tbl>
              <a:tblPr>
                <a:noFill/>
                <a:tableStyleId>{D67A6EC7-0815-422C-A1C3-3E13D58E9C53}</a:tableStyleId>
              </a:tblPr>
              <a:tblGrid>
                <a:gridCol w="2245050"/>
                <a:gridCol w="4574150"/>
              </a:tblGrid>
              <a:tr h="451050">
                <a:tc>
                  <a:txBody>
                    <a:bodyPr/>
                    <a:lstStyle/>
                    <a:p>
                      <a:pPr indent="0" lvl="0" marL="0" rtl="0" algn="l">
                        <a:lnSpc>
                          <a:spcPct val="115000"/>
                        </a:lnSpc>
                        <a:spcBef>
                          <a:spcPts val="0"/>
                        </a:spcBef>
                        <a:spcAft>
                          <a:spcPts val="0"/>
                        </a:spcAft>
                        <a:buNone/>
                      </a:pPr>
                      <a:r>
                        <a:rPr b="1" lang="de-CH" sz="1600">
                          <a:latin typeface="Times New Roman"/>
                          <a:ea typeface="Times New Roman"/>
                          <a:cs typeface="Times New Roman"/>
                          <a:sym typeface="Times New Roman"/>
                        </a:rPr>
                        <a:t> Name of Faculty</a:t>
                      </a:r>
                      <a:endParaRPr b="1" sz="1600">
                        <a:latin typeface="Times New Roman"/>
                        <a:ea typeface="Times New Roman"/>
                        <a:cs typeface="Times New Roman"/>
                        <a:sym typeface="Times New Roman"/>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de-CH" sz="1600">
                          <a:latin typeface="Times New Roman"/>
                          <a:ea typeface="Times New Roman"/>
                          <a:cs typeface="Times New Roman"/>
                          <a:sym typeface="Times New Roman"/>
                        </a:rPr>
                        <a:t>Achievement</a:t>
                      </a:r>
                      <a:endParaRPr b="1" sz="1600">
                        <a:latin typeface="Times New Roman"/>
                        <a:ea typeface="Times New Roman"/>
                        <a:cs typeface="Times New Roman"/>
                        <a:sym typeface="Times New Roman"/>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1050">
                <a:tc>
                  <a:txBody>
                    <a:bodyPr/>
                    <a:lstStyle/>
                    <a:p>
                      <a:pPr indent="0" lvl="0" marL="0" rtl="0" algn="l">
                        <a:lnSpc>
                          <a:spcPct val="115000"/>
                        </a:lnSpc>
                        <a:spcBef>
                          <a:spcPts val="0"/>
                        </a:spcBef>
                        <a:spcAft>
                          <a:spcPts val="0"/>
                        </a:spcAft>
                        <a:buNone/>
                      </a:pPr>
                      <a:r>
                        <a:rPr lang="de-CH" sz="1600">
                          <a:latin typeface="Times New Roman"/>
                          <a:ea typeface="Times New Roman"/>
                          <a:cs typeface="Times New Roman"/>
                          <a:sym typeface="Times New Roman"/>
                        </a:rPr>
                        <a:t>Prof. Anand Godbole</a:t>
                      </a:r>
                      <a:endParaRPr sz="1600">
                        <a:latin typeface="Times New Roman"/>
                        <a:ea typeface="Times New Roman"/>
                        <a:cs typeface="Times New Roman"/>
                        <a:sym typeface="Times New Roman"/>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de-CH" sz="1600">
                          <a:latin typeface="Times New Roman"/>
                          <a:ea typeface="Times New Roman"/>
                          <a:cs typeface="Times New Roman"/>
                          <a:sym typeface="Times New Roman"/>
                        </a:rPr>
                        <a:t>NPTEL Discipline Star Award</a:t>
                      </a:r>
                      <a:endParaRPr sz="1600">
                        <a:latin typeface="Times New Roman"/>
                        <a:ea typeface="Times New Roman"/>
                        <a:cs typeface="Times New Roman"/>
                        <a:sym typeface="Times New Roman"/>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1050">
                <a:tc>
                  <a:txBody>
                    <a:bodyPr/>
                    <a:lstStyle/>
                    <a:p>
                      <a:pPr indent="0" lvl="0" marL="0" rtl="0" algn="l">
                        <a:lnSpc>
                          <a:spcPct val="115000"/>
                        </a:lnSpc>
                        <a:spcBef>
                          <a:spcPts val="0"/>
                        </a:spcBef>
                        <a:spcAft>
                          <a:spcPts val="0"/>
                        </a:spcAft>
                        <a:buNone/>
                      </a:pPr>
                      <a:r>
                        <a:rPr lang="de-CH" sz="1600">
                          <a:latin typeface="Times New Roman"/>
                          <a:ea typeface="Times New Roman"/>
                          <a:cs typeface="Times New Roman"/>
                          <a:sym typeface="Times New Roman"/>
                        </a:rPr>
                        <a:t>Dr. Pramod Bide</a:t>
                      </a:r>
                      <a:endParaRPr sz="1600">
                        <a:latin typeface="Times New Roman"/>
                        <a:ea typeface="Times New Roman"/>
                        <a:cs typeface="Times New Roman"/>
                        <a:sym typeface="Times New Roman"/>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de-CH" sz="1600">
                          <a:latin typeface="Times New Roman"/>
                          <a:ea typeface="Times New Roman"/>
                          <a:cs typeface="Times New Roman"/>
                          <a:sym typeface="Times New Roman"/>
                        </a:rPr>
                        <a:t>Best Innovative Teaching Award by L&amp;T Edutech</a:t>
                      </a:r>
                      <a:endParaRPr sz="1600">
                        <a:latin typeface="Times New Roman"/>
                        <a:ea typeface="Times New Roman"/>
                        <a:cs typeface="Times New Roman"/>
                        <a:sym typeface="Times New Roman"/>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1050">
                <a:tc>
                  <a:txBody>
                    <a:bodyPr/>
                    <a:lstStyle/>
                    <a:p>
                      <a:pPr indent="0" lvl="0" marL="0" rtl="0" algn="l">
                        <a:lnSpc>
                          <a:spcPct val="115000"/>
                        </a:lnSpc>
                        <a:spcBef>
                          <a:spcPts val="0"/>
                        </a:spcBef>
                        <a:spcAft>
                          <a:spcPts val="0"/>
                        </a:spcAft>
                        <a:buNone/>
                      </a:pPr>
                      <a:r>
                        <a:rPr lang="de-CH" sz="1600">
                          <a:latin typeface="Times New Roman"/>
                          <a:ea typeface="Times New Roman"/>
                          <a:cs typeface="Times New Roman"/>
                          <a:sym typeface="Times New Roman"/>
                        </a:rPr>
                        <a:t>Dr. Jignesh Sisodia</a:t>
                      </a:r>
                      <a:endParaRPr sz="1600">
                        <a:latin typeface="Times New Roman"/>
                        <a:ea typeface="Times New Roman"/>
                        <a:cs typeface="Times New Roman"/>
                        <a:sym typeface="Times New Roman"/>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de-CH" sz="1600">
                          <a:latin typeface="Times New Roman"/>
                          <a:ea typeface="Times New Roman"/>
                          <a:cs typeface="Times New Roman"/>
                          <a:sym typeface="Times New Roman"/>
                        </a:rPr>
                        <a:t>Best Software Project Award by Cantilever</a:t>
                      </a:r>
                      <a:endParaRPr sz="1600">
                        <a:latin typeface="Times New Roman"/>
                        <a:ea typeface="Times New Roman"/>
                        <a:cs typeface="Times New Roman"/>
                        <a:sym typeface="Times New Roman"/>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73225">
                <a:tc>
                  <a:txBody>
                    <a:bodyPr/>
                    <a:lstStyle/>
                    <a:p>
                      <a:pPr indent="0" lvl="0" marL="0" rtl="0" algn="l">
                        <a:lnSpc>
                          <a:spcPct val="115000"/>
                        </a:lnSpc>
                        <a:spcBef>
                          <a:spcPts val="0"/>
                        </a:spcBef>
                        <a:spcAft>
                          <a:spcPts val="800"/>
                        </a:spcAft>
                        <a:buNone/>
                      </a:pPr>
                      <a:r>
                        <a:rPr lang="de-CH" sz="1600">
                          <a:latin typeface="Times New Roman"/>
                          <a:ea typeface="Times New Roman"/>
                          <a:cs typeface="Times New Roman"/>
                          <a:sym typeface="Times New Roman"/>
                        </a:rPr>
                        <a:t> Prof. Govind Gaundalkar</a:t>
                      </a:r>
                      <a:endParaRPr sz="1600">
                        <a:latin typeface="Times New Roman"/>
                        <a:ea typeface="Times New Roman"/>
                        <a:cs typeface="Times New Roman"/>
                        <a:sym typeface="Times New Roman"/>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de-CH" sz="1600">
                          <a:latin typeface="Times New Roman"/>
                          <a:ea typeface="Times New Roman"/>
                          <a:cs typeface="Times New Roman"/>
                          <a:sym typeface="Times New Roman"/>
                        </a:rPr>
                        <a:t>Best Question Paper Award,</a:t>
                      </a:r>
                      <a:endParaRPr sz="16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de-CH" sz="1600">
                          <a:latin typeface="Times New Roman"/>
                          <a:ea typeface="Times New Roman"/>
                          <a:cs typeface="Times New Roman"/>
                          <a:sym typeface="Times New Roman"/>
                        </a:rPr>
                        <a:t>for the subject Digital Systems</a:t>
                      </a:r>
                      <a:endParaRPr sz="1600">
                        <a:latin typeface="Times New Roman"/>
                        <a:ea typeface="Times New Roman"/>
                        <a:cs typeface="Times New Roman"/>
                        <a:sym typeface="Times New Roman"/>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052450">
                <a:tc>
                  <a:txBody>
                    <a:bodyPr/>
                    <a:lstStyle/>
                    <a:p>
                      <a:pPr indent="0" lvl="0" marL="0" rtl="0" algn="l">
                        <a:lnSpc>
                          <a:spcPct val="115000"/>
                        </a:lnSpc>
                        <a:spcBef>
                          <a:spcPts val="0"/>
                        </a:spcBef>
                        <a:spcAft>
                          <a:spcPts val="0"/>
                        </a:spcAft>
                        <a:buNone/>
                      </a:pPr>
                      <a:r>
                        <a:rPr lang="de-CH" sz="1600">
                          <a:latin typeface="Times New Roman"/>
                          <a:ea typeface="Times New Roman"/>
                          <a:cs typeface="Times New Roman"/>
                          <a:sym typeface="Times New Roman"/>
                        </a:rPr>
                        <a:t>Dr. Jignesh Sisodia,</a:t>
                      </a:r>
                      <a:endParaRPr sz="1600">
                        <a:latin typeface="Times New Roman"/>
                        <a:ea typeface="Times New Roman"/>
                        <a:cs typeface="Times New Roman"/>
                        <a:sym typeface="Times New Roman"/>
                      </a:endParaRPr>
                    </a:p>
                    <a:p>
                      <a:pPr indent="0" lvl="0" marL="0" rtl="0" algn="l">
                        <a:lnSpc>
                          <a:spcPct val="115000"/>
                        </a:lnSpc>
                        <a:spcBef>
                          <a:spcPts val="800"/>
                        </a:spcBef>
                        <a:spcAft>
                          <a:spcPts val="800"/>
                        </a:spcAft>
                        <a:buNone/>
                      </a:pPr>
                      <a:r>
                        <a:rPr lang="de-CH" sz="1600">
                          <a:latin typeface="Times New Roman"/>
                          <a:ea typeface="Times New Roman"/>
                          <a:cs typeface="Times New Roman"/>
                          <a:sym typeface="Times New Roman"/>
                        </a:rPr>
                        <a:t>Prof. Abhijit Salunke</a:t>
                      </a:r>
                      <a:endParaRPr sz="1600">
                        <a:latin typeface="Times New Roman"/>
                        <a:ea typeface="Times New Roman"/>
                        <a:cs typeface="Times New Roman"/>
                        <a:sym typeface="Times New Roman"/>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de-CH" sz="1600">
                          <a:latin typeface="Times New Roman"/>
                          <a:ea typeface="Times New Roman"/>
                          <a:cs typeface="Times New Roman"/>
                          <a:sym typeface="Times New Roman"/>
                        </a:rPr>
                        <a:t>Best Question Paper Award,</a:t>
                      </a:r>
                      <a:endParaRPr sz="16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de-CH" sz="1600">
                          <a:latin typeface="Times New Roman"/>
                          <a:ea typeface="Times New Roman"/>
                          <a:cs typeface="Times New Roman"/>
                          <a:sym typeface="Times New Roman"/>
                        </a:rPr>
                        <a:t>for the subject Computer Communication and Networks</a:t>
                      </a:r>
                      <a:endParaRPr sz="1600">
                        <a:latin typeface="Times New Roman"/>
                        <a:ea typeface="Times New Roman"/>
                        <a:cs typeface="Times New Roman"/>
                        <a:sym typeface="Times New Roman"/>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h7b893a0582d097ac_1_47"/>
          <p:cNvSpPr txBox="1"/>
          <p:nvPr>
            <p:ph type="title"/>
          </p:nvPr>
        </p:nvSpPr>
        <p:spPr>
          <a:xfrm>
            <a:off x="231025" y="73825"/>
            <a:ext cx="8520600" cy="707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2"/>
              </a:buClr>
              <a:buSzPts val="1100"/>
              <a:buFont typeface="Arial"/>
              <a:buNone/>
            </a:pPr>
            <a:r>
              <a:rPr lang="de-CH" sz="1800">
                <a:latin typeface="Times New Roman"/>
                <a:ea typeface="Times New Roman"/>
                <a:cs typeface="Times New Roman"/>
                <a:sym typeface="Times New Roman"/>
              </a:rPr>
              <a:t>D.5.</a:t>
            </a:r>
            <a:r>
              <a:rPr b="0" lang="de-CH" sz="1800">
                <a:solidFill>
                  <a:srgbClr val="000000"/>
                </a:solidFill>
                <a:latin typeface="Calibri"/>
                <a:ea typeface="Calibri"/>
                <a:cs typeface="Calibri"/>
                <a:sym typeface="Calibri"/>
              </a:rPr>
              <a:t>Student publications and IPR</a:t>
            </a:r>
            <a:r>
              <a:rPr b="0" lang="de-CH" sz="1800">
                <a:solidFill>
                  <a:srgbClr val="000000"/>
                </a:solidFill>
                <a:latin typeface="Calibri"/>
                <a:ea typeface="Calibri"/>
                <a:cs typeface="Calibri"/>
                <a:sym typeface="Calibri"/>
              </a:rPr>
              <a:t> </a:t>
            </a:r>
            <a:r>
              <a:rPr b="0" lang="de-CH" sz="1800">
                <a:solidFill>
                  <a:srgbClr val="000000"/>
                </a:solidFill>
                <a:highlight>
                  <a:schemeClr val="lt1"/>
                </a:highlight>
                <a:latin typeface="Calibri"/>
                <a:ea typeface="Calibri"/>
                <a:cs typeface="Calibri"/>
                <a:sym typeface="Calibri"/>
              </a:rPr>
              <a:t> </a:t>
            </a:r>
            <a:r>
              <a:rPr lang="de-CH" sz="3000">
                <a:solidFill>
                  <a:srgbClr val="000000"/>
                </a:solidFill>
                <a:highlight>
                  <a:schemeClr val="lt1"/>
                </a:highlight>
                <a:latin typeface="Calibri"/>
                <a:ea typeface="Calibri"/>
                <a:cs typeface="Calibri"/>
                <a:sym typeface="Calibri"/>
              </a:rPr>
              <a:t> </a:t>
            </a:r>
            <a:r>
              <a:rPr lang="de-CH" sz="3000">
                <a:solidFill>
                  <a:srgbClr val="FF0000"/>
                </a:solidFill>
                <a:highlight>
                  <a:schemeClr val="lt1"/>
                </a:highlight>
                <a:latin typeface="Calibri"/>
                <a:ea typeface="Calibri"/>
                <a:cs typeface="Calibri"/>
                <a:sym typeface="Calibri"/>
              </a:rPr>
              <a:t>YP</a:t>
            </a:r>
            <a:endParaRPr sz="3000">
              <a:solidFill>
                <a:srgbClr val="FF0000"/>
              </a:solidFill>
              <a:highlight>
                <a:schemeClr val="lt1"/>
              </a:highlight>
            </a:endParaRPr>
          </a:p>
          <a:p>
            <a:pPr indent="0" lvl="0" marL="914400" rtl="0" algn="ctr">
              <a:lnSpc>
                <a:spcPct val="115000"/>
              </a:lnSpc>
              <a:spcBef>
                <a:spcPts val="1200"/>
              </a:spcBef>
              <a:spcAft>
                <a:spcPts val="1200"/>
              </a:spcAft>
              <a:buSzPts val="3600"/>
              <a:buNone/>
            </a:pPr>
            <a:r>
              <a:t/>
            </a:r>
            <a:endParaRPr sz="3000">
              <a:highlight>
                <a:srgbClr val="FF0000"/>
              </a:highlight>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h7b893a0582d097ac_1_51"/>
          <p:cNvSpPr txBox="1"/>
          <p:nvPr>
            <p:ph type="title"/>
          </p:nvPr>
        </p:nvSpPr>
        <p:spPr>
          <a:xfrm>
            <a:off x="231025" y="73825"/>
            <a:ext cx="8520600" cy="707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2"/>
              </a:buClr>
              <a:buSzPts val="1100"/>
              <a:buFont typeface="Arial"/>
              <a:buNone/>
            </a:pPr>
            <a:r>
              <a:rPr lang="de-CH" sz="1800">
                <a:latin typeface="Times New Roman"/>
                <a:ea typeface="Times New Roman"/>
                <a:cs typeface="Times New Roman"/>
                <a:sym typeface="Times New Roman"/>
              </a:rPr>
              <a:t>D.6. </a:t>
            </a:r>
            <a:r>
              <a:rPr b="0" lang="de-CH" sz="1800">
                <a:solidFill>
                  <a:srgbClr val="000000"/>
                </a:solidFill>
                <a:latin typeface="Calibri"/>
                <a:ea typeface="Calibri"/>
                <a:cs typeface="Calibri"/>
                <a:sym typeface="Calibri"/>
              </a:rPr>
              <a:t>Student participation and success in the technical competitions of repute, AICTE hackathon, ROBOCON, etc.</a:t>
            </a:r>
            <a:r>
              <a:rPr b="0" lang="de-CH" sz="1800">
                <a:solidFill>
                  <a:srgbClr val="000000"/>
                </a:solidFill>
                <a:latin typeface="Calibri"/>
                <a:ea typeface="Calibri"/>
                <a:cs typeface="Calibri"/>
                <a:sym typeface="Calibri"/>
              </a:rPr>
              <a:t> </a:t>
            </a:r>
            <a:r>
              <a:rPr b="0" lang="de-CH" sz="1800">
                <a:solidFill>
                  <a:srgbClr val="000000"/>
                </a:solidFill>
                <a:highlight>
                  <a:schemeClr val="lt1"/>
                </a:highlight>
                <a:latin typeface="Calibri"/>
                <a:ea typeface="Calibri"/>
                <a:cs typeface="Calibri"/>
                <a:sym typeface="Calibri"/>
              </a:rPr>
              <a:t> </a:t>
            </a:r>
            <a:r>
              <a:rPr lang="de-CH" sz="3000">
                <a:solidFill>
                  <a:srgbClr val="000000"/>
                </a:solidFill>
                <a:highlight>
                  <a:schemeClr val="lt1"/>
                </a:highlight>
                <a:latin typeface="Calibri"/>
                <a:ea typeface="Calibri"/>
                <a:cs typeface="Calibri"/>
                <a:sym typeface="Calibri"/>
              </a:rPr>
              <a:t> </a:t>
            </a:r>
            <a:endParaRPr sz="3000">
              <a:solidFill>
                <a:srgbClr val="FF0000"/>
              </a:solidFill>
              <a:highlight>
                <a:schemeClr val="lt1"/>
              </a:highlight>
            </a:endParaRPr>
          </a:p>
          <a:p>
            <a:pPr indent="0" lvl="0" marL="914400" rtl="0" algn="ctr">
              <a:lnSpc>
                <a:spcPct val="115000"/>
              </a:lnSpc>
              <a:spcBef>
                <a:spcPts val="1200"/>
              </a:spcBef>
              <a:spcAft>
                <a:spcPts val="1200"/>
              </a:spcAft>
              <a:buSzPts val="3600"/>
              <a:buNone/>
            </a:pPr>
            <a:r>
              <a:t/>
            </a:r>
            <a:endParaRPr sz="3000">
              <a:highlight>
                <a:srgbClr val="FF0000"/>
              </a:highlight>
            </a:endParaRPr>
          </a:p>
        </p:txBody>
      </p:sp>
      <p:graphicFrame>
        <p:nvGraphicFramePr>
          <p:cNvPr id="455" name="Google Shape;455;h7b893a0582d097ac_1_51"/>
          <p:cNvGraphicFramePr/>
          <p:nvPr/>
        </p:nvGraphicFramePr>
        <p:xfrm>
          <a:off x="1508764" y="1512725"/>
          <a:ext cx="3000000" cy="3000000"/>
        </p:xfrm>
        <a:graphic>
          <a:graphicData uri="http://schemas.openxmlformats.org/drawingml/2006/table">
            <a:tbl>
              <a:tblPr>
                <a:noFill/>
                <a:tableStyleId>{74466135-534C-4DE0-9D03-2267C9AB3275}</a:tableStyleId>
              </a:tblPr>
              <a:tblGrid>
                <a:gridCol w="1561850"/>
                <a:gridCol w="1561850"/>
                <a:gridCol w="1561850"/>
              </a:tblGrid>
              <a:tr h="433325">
                <a:tc>
                  <a:txBody>
                    <a:bodyPr/>
                    <a:lstStyle/>
                    <a:p>
                      <a:pPr indent="0" lvl="0" marL="0" rtl="0" algn="l">
                        <a:spcBef>
                          <a:spcPts val="0"/>
                        </a:spcBef>
                        <a:spcAft>
                          <a:spcPts val="0"/>
                        </a:spcAft>
                        <a:buNone/>
                      </a:pPr>
                      <a:r>
                        <a:rPr b="1" lang="de-CH"/>
                        <a:t>Competition Category </a:t>
                      </a:r>
                      <a:endParaRPr b="1"/>
                    </a:p>
                  </a:txBody>
                  <a:tcPr marT="68575" marB="68575" marR="91425" marL="91425"/>
                </a:tc>
                <a:tc>
                  <a:txBody>
                    <a:bodyPr/>
                    <a:lstStyle/>
                    <a:p>
                      <a:pPr indent="0" lvl="0" marL="0" rtl="0" algn="l">
                        <a:spcBef>
                          <a:spcPts val="0"/>
                        </a:spcBef>
                        <a:spcAft>
                          <a:spcPts val="0"/>
                        </a:spcAft>
                        <a:buClr>
                          <a:schemeClr val="dk1"/>
                        </a:buClr>
                        <a:buSzPts val="800"/>
                        <a:buFont typeface="Arial"/>
                        <a:buNone/>
                      </a:pPr>
                      <a:r>
                        <a:rPr b="1" lang="de-CH"/>
                        <a:t>Distinct Events </a:t>
                      </a:r>
                      <a:endParaRPr b="1"/>
                    </a:p>
                  </a:txBody>
                  <a:tcPr marT="68575" marB="68575" marR="91425" marL="91425"/>
                </a:tc>
                <a:tc>
                  <a:txBody>
                    <a:bodyPr/>
                    <a:lstStyle/>
                    <a:p>
                      <a:pPr indent="0" lvl="0" marL="0" rtl="0" algn="l">
                        <a:spcBef>
                          <a:spcPts val="0"/>
                        </a:spcBef>
                        <a:spcAft>
                          <a:spcPts val="0"/>
                        </a:spcAft>
                        <a:buClr>
                          <a:schemeClr val="dk1"/>
                        </a:buClr>
                        <a:buSzPts val="800"/>
                        <a:buFont typeface="Arial"/>
                        <a:buNone/>
                      </a:pPr>
                      <a:r>
                        <a:rPr b="1" lang="de-CH"/>
                        <a:t>Student Entries </a:t>
                      </a:r>
                      <a:endParaRPr b="1"/>
                    </a:p>
                  </a:txBody>
                  <a:tcPr marT="68575" marB="68575" marR="91425" marL="91425"/>
                </a:tc>
              </a:tr>
              <a:tr h="281675">
                <a:tc>
                  <a:txBody>
                    <a:bodyPr/>
                    <a:lstStyle/>
                    <a:p>
                      <a:pPr indent="0" lvl="0" marL="0" rtl="0" algn="l">
                        <a:spcBef>
                          <a:spcPts val="0"/>
                        </a:spcBef>
                        <a:spcAft>
                          <a:spcPts val="0"/>
                        </a:spcAft>
                        <a:buNone/>
                      </a:pPr>
                      <a:r>
                        <a:rPr lang="de-CH"/>
                        <a:t>Hackathon </a:t>
                      </a:r>
                      <a:endParaRPr/>
                    </a:p>
                  </a:txBody>
                  <a:tcPr marT="68575" marB="68575" marR="91425" marL="91425"/>
                </a:tc>
                <a:tc>
                  <a:txBody>
                    <a:bodyPr/>
                    <a:lstStyle/>
                    <a:p>
                      <a:pPr indent="0" lvl="0" marL="0" rtl="0" algn="ctr">
                        <a:spcBef>
                          <a:spcPts val="0"/>
                        </a:spcBef>
                        <a:spcAft>
                          <a:spcPts val="0"/>
                        </a:spcAft>
                        <a:buNone/>
                      </a:pPr>
                      <a:r>
                        <a:rPr b="1" lang="de-CH"/>
                        <a:t>20</a:t>
                      </a:r>
                      <a:endParaRPr b="1"/>
                    </a:p>
                  </a:txBody>
                  <a:tcPr marT="68575" marB="68575" marR="91425" marL="91425"/>
                </a:tc>
                <a:tc>
                  <a:txBody>
                    <a:bodyPr/>
                    <a:lstStyle/>
                    <a:p>
                      <a:pPr indent="0" lvl="0" marL="0" rtl="0" algn="ctr">
                        <a:spcBef>
                          <a:spcPts val="0"/>
                        </a:spcBef>
                        <a:spcAft>
                          <a:spcPts val="0"/>
                        </a:spcAft>
                        <a:buNone/>
                      </a:pPr>
                      <a:r>
                        <a:rPr b="1" lang="de-CH"/>
                        <a:t>50</a:t>
                      </a:r>
                      <a:endParaRPr b="1"/>
                    </a:p>
                  </a:txBody>
                  <a:tcPr marT="68575" marB="68575" marR="91425" marL="91425"/>
                </a:tc>
              </a:tr>
              <a:tr h="433325">
                <a:tc>
                  <a:txBody>
                    <a:bodyPr/>
                    <a:lstStyle/>
                    <a:p>
                      <a:pPr indent="0" lvl="0" marL="0" rtl="0" algn="l">
                        <a:spcBef>
                          <a:spcPts val="0"/>
                        </a:spcBef>
                        <a:spcAft>
                          <a:spcPts val="0"/>
                        </a:spcAft>
                        <a:buNone/>
                      </a:pPr>
                      <a:r>
                        <a:rPr lang="de-CH"/>
                        <a:t>Case Study Competition </a:t>
                      </a:r>
                      <a:endParaRPr/>
                    </a:p>
                  </a:txBody>
                  <a:tcPr marT="68575" marB="68575" marR="91425" marL="91425"/>
                </a:tc>
                <a:tc>
                  <a:txBody>
                    <a:bodyPr/>
                    <a:lstStyle/>
                    <a:p>
                      <a:pPr indent="0" lvl="0" marL="0" rtl="0" algn="ctr">
                        <a:spcBef>
                          <a:spcPts val="0"/>
                        </a:spcBef>
                        <a:spcAft>
                          <a:spcPts val="0"/>
                        </a:spcAft>
                        <a:buNone/>
                      </a:pPr>
                      <a:r>
                        <a:rPr b="1" lang="de-CH"/>
                        <a:t>13</a:t>
                      </a:r>
                      <a:endParaRPr b="1"/>
                    </a:p>
                  </a:txBody>
                  <a:tcPr marT="68575" marB="68575" marR="91425" marL="91425"/>
                </a:tc>
                <a:tc>
                  <a:txBody>
                    <a:bodyPr/>
                    <a:lstStyle/>
                    <a:p>
                      <a:pPr indent="0" lvl="0" marL="0" rtl="0" algn="ctr">
                        <a:spcBef>
                          <a:spcPts val="0"/>
                        </a:spcBef>
                        <a:spcAft>
                          <a:spcPts val="0"/>
                        </a:spcAft>
                        <a:buNone/>
                      </a:pPr>
                      <a:r>
                        <a:rPr b="1" lang="de-CH"/>
                        <a:t>23</a:t>
                      </a:r>
                      <a:endParaRPr b="1"/>
                    </a:p>
                  </a:txBody>
                  <a:tcPr marT="68575" marB="68575" marR="91425" marL="91425"/>
                </a:tc>
              </a:tr>
              <a:tr h="433325">
                <a:tc>
                  <a:txBody>
                    <a:bodyPr/>
                    <a:lstStyle/>
                    <a:p>
                      <a:pPr indent="0" lvl="0" marL="0" rtl="0" algn="l">
                        <a:spcBef>
                          <a:spcPts val="0"/>
                        </a:spcBef>
                        <a:spcAft>
                          <a:spcPts val="0"/>
                        </a:spcAft>
                        <a:buNone/>
                      </a:pPr>
                      <a:r>
                        <a:rPr lang="de-CH"/>
                        <a:t>Technical / Examination </a:t>
                      </a:r>
                      <a:endParaRPr/>
                    </a:p>
                  </a:txBody>
                  <a:tcPr marT="68575" marB="68575" marR="91425" marL="91425"/>
                </a:tc>
                <a:tc>
                  <a:txBody>
                    <a:bodyPr/>
                    <a:lstStyle/>
                    <a:p>
                      <a:pPr indent="0" lvl="0" marL="0" rtl="0" algn="ctr">
                        <a:spcBef>
                          <a:spcPts val="0"/>
                        </a:spcBef>
                        <a:spcAft>
                          <a:spcPts val="0"/>
                        </a:spcAft>
                        <a:buNone/>
                      </a:pPr>
                      <a:r>
                        <a:rPr b="1" lang="de-CH"/>
                        <a:t>5</a:t>
                      </a:r>
                      <a:endParaRPr b="1"/>
                    </a:p>
                  </a:txBody>
                  <a:tcPr marT="68575" marB="68575" marR="91425" marL="91425"/>
                </a:tc>
                <a:tc>
                  <a:txBody>
                    <a:bodyPr/>
                    <a:lstStyle/>
                    <a:p>
                      <a:pPr indent="0" lvl="0" marL="0" rtl="0" algn="ctr">
                        <a:spcBef>
                          <a:spcPts val="0"/>
                        </a:spcBef>
                        <a:spcAft>
                          <a:spcPts val="0"/>
                        </a:spcAft>
                        <a:buNone/>
                      </a:pPr>
                      <a:r>
                        <a:rPr b="1" lang="de-CH"/>
                        <a:t>9</a:t>
                      </a:r>
                      <a:endParaRPr b="1"/>
                    </a:p>
                  </a:txBody>
                  <a:tcPr marT="68575" marB="68575" marR="91425" marL="91425"/>
                </a:tc>
              </a:tr>
              <a:tr h="448225">
                <a:tc>
                  <a:txBody>
                    <a:bodyPr/>
                    <a:lstStyle/>
                    <a:p>
                      <a:pPr indent="0" lvl="0" marL="0" rtl="0" algn="l">
                        <a:spcBef>
                          <a:spcPts val="0"/>
                        </a:spcBef>
                        <a:spcAft>
                          <a:spcPts val="0"/>
                        </a:spcAft>
                        <a:buNone/>
                      </a:pPr>
                      <a:r>
                        <a:rPr lang="de-CH"/>
                        <a:t>Competition / Recognition </a:t>
                      </a:r>
                      <a:endParaRPr/>
                    </a:p>
                  </a:txBody>
                  <a:tcPr marT="68575" marB="68575" marR="91425" marL="91425"/>
                </a:tc>
                <a:tc>
                  <a:txBody>
                    <a:bodyPr/>
                    <a:lstStyle/>
                    <a:p>
                      <a:pPr indent="0" lvl="0" marL="0" rtl="0" algn="ctr">
                        <a:spcBef>
                          <a:spcPts val="0"/>
                        </a:spcBef>
                        <a:spcAft>
                          <a:spcPts val="0"/>
                        </a:spcAft>
                        <a:buNone/>
                      </a:pPr>
                      <a:r>
                        <a:rPr b="1" lang="de-CH"/>
                        <a:t>7</a:t>
                      </a:r>
                      <a:endParaRPr b="1"/>
                    </a:p>
                  </a:txBody>
                  <a:tcPr marT="68575" marB="68575" marR="91425" marL="91425"/>
                </a:tc>
                <a:tc>
                  <a:txBody>
                    <a:bodyPr/>
                    <a:lstStyle/>
                    <a:p>
                      <a:pPr indent="0" lvl="0" marL="0" rtl="0" algn="ctr">
                        <a:spcBef>
                          <a:spcPts val="0"/>
                        </a:spcBef>
                        <a:spcAft>
                          <a:spcPts val="0"/>
                        </a:spcAft>
                        <a:buNone/>
                      </a:pPr>
                      <a:r>
                        <a:rPr b="1" lang="de-CH"/>
                        <a:t>9</a:t>
                      </a:r>
                      <a:endParaRPr b="1"/>
                    </a:p>
                  </a:txBody>
                  <a:tcPr marT="68575" marB="68575" marR="91425" marL="91425"/>
                </a:tc>
              </a:tr>
              <a:tr h="433325">
                <a:tc>
                  <a:txBody>
                    <a:bodyPr/>
                    <a:lstStyle/>
                    <a:p>
                      <a:pPr indent="0" lvl="0" marL="0" rtl="0" algn="l">
                        <a:spcBef>
                          <a:spcPts val="0"/>
                        </a:spcBef>
                        <a:spcAft>
                          <a:spcPts val="0"/>
                        </a:spcAft>
                        <a:buNone/>
                      </a:pPr>
                      <a:r>
                        <a:rPr lang="de-CH"/>
                        <a:t>Event Coordination </a:t>
                      </a:r>
                      <a:endParaRPr/>
                    </a:p>
                  </a:txBody>
                  <a:tcPr marT="68575" marB="68575" marR="91425" marL="91425"/>
                </a:tc>
                <a:tc>
                  <a:txBody>
                    <a:bodyPr/>
                    <a:lstStyle/>
                    <a:p>
                      <a:pPr indent="0" lvl="0" marL="0" rtl="0" algn="ctr">
                        <a:spcBef>
                          <a:spcPts val="0"/>
                        </a:spcBef>
                        <a:spcAft>
                          <a:spcPts val="0"/>
                        </a:spcAft>
                        <a:buNone/>
                      </a:pPr>
                      <a:r>
                        <a:rPr b="1" lang="de-CH"/>
                        <a:t>2</a:t>
                      </a:r>
                      <a:endParaRPr b="1"/>
                    </a:p>
                  </a:txBody>
                  <a:tcPr marT="68575" marB="68575" marR="91425" marL="91425"/>
                </a:tc>
                <a:tc>
                  <a:txBody>
                    <a:bodyPr/>
                    <a:lstStyle/>
                    <a:p>
                      <a:pPr indent="0" lvl="0" marL="0" rtl="0" algn="ctr">
                        <a:spcBef>
                          <a:spcPts val="0"/>
                        </a:spcBef>
                        <a:spcAft>
                          <a:spcPts val="0"/>
                        </a:spcAft>
                        <a:buNone/>
                      </a:pPr>
                      <a:r>
                        <a:rPr b="1" lang="de-CH"/>
                        <a:t>6</a:t>
                      </a:r>
                      <a:endParaRPr b="1"/>
                    </a:p>
                  </a:txBody>
                  <a:tcPr marT="68575" marB="68575" marR="91425" marL="91425"/>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h7b893a0582d097ac_1_55"/>
          <p:cNvSpPr txBox="1"/>
          <p:nvPr>
            <p:ph type="title"/>
          </p:nvPr>
        </p:nvSpPr>
        <p:spPr>
          <a:xfrm>
            <a:off x="231025" y="73825"/>
            <a:ext cx="8520600" cy="707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2"/>
              </a:buClr>
              <a:buSzPts val="1100"/>
              <a:buFont typeface="Arial"/>
              <a:buNone/>
            </a:pPr>
            <a:r>
              <a:rPr lang="de-CH" sz="1800">
                <a:latin typeface="Times New Roman"/>
                <a:ea typeface="Times New Roman"/>
                <a:cs typeface="Times New Roman"/>
                <a:sym typeface="Times New Roman"/>
              </a:rPr>
              <a:t>D.5.</a:t>
            </a:r>
            <a:r>
              <a:rPr b="0" lang="de-CH" sz="1800">
                <a:solidFill>
                  <a:srgbClr val="000000"/>
                </a:solidFill>
                <a:latin typeface="Calibri"/>
                <a:ea typeface="Calibri"/>
                <a:cs typeface="Calibri"/>
                <a:sym typeface="Calibri"/>
              </a:rPr>
              <a:t>Student publications and IPR </a:t>
            </a:r>
            <a:r>
              <a:rPr b="0" lang="de-CH" sz="1800">
                <a:solidFill>
                  <a:srgbClr val="000000"/>
                </a:solidFill>
                <a:highlight>
                  <a:schemeClr val="lt1"/>
                </a:highlight>
                <a:latin typeface="Calibri"/>
                <a:ea typeface="Calibri"/>
                <a:cs typeface="Calibri"/>
                <a:sym typeface="Calibri"/>
              </a:rPr>
              <a:t> </a:t>
            </a:r>
            <a:r>
              <a:rPr lang="de-CH" sz="3000">
                <a:solidFill>
                  <a:srgbClr val="000000"/>
                </a:solidFill>
                <a:highlight>
                  <a:schemeClr val="lt1"/>
                </a:highlight>
                <a:latin typeface="Calibri"/>
                <a:ea typeface="Calibri"/>
                <a:cs typeface="Calibri"/>
                <a:sym typeface="Calibri"/>
              </a:rPr>
              <a:t> </a:t>
            </a:r>
            <a:r>
              <a:rPr lang="de-CH" sz="3000">
                <a:solidFill>
                  <a:srgbClr val="FF0000"/>
                </a:solidFill>
                <a:highlight>
                  <a:schemeClr val="lt1"/>
                </a:highlight>
                <a:latin typeface="Calibri"/>
                <a:ea typeface="Calibri"/>
                <a:cs typeface="Calibri"/>
                <a:sym typeface="Calibri"/>
              </a:rPr>
              <a:t>YP</a:t>
            </a:r>
            <a:endParaRPr sz="3000">
              <a:solidFill>
                <a:srgbClr val="FF0000"/>
              </a:solidFill>
              <a:highlight>
                <a:schemeClr val="lt1"/>
              </a:highlight>
            </a:endParaRPr>
          </a:p>
          <a:p>
            <a:pPr indent="0" lvl="0" marL="914400" rtl="0" algn="ctr">
              <a:lnSpc>
                <a:spcPct val="115000"/>
              </a:lnSpc>
              <a:spcBef>
                <a:spcPts val="1200"/>
              </a:spcBef>
              <a:spcAft>
                <a:spcPts val="1200"/>
              </a:spcAft>
              <a:buSzPts val="3600"/>
              <a:buNone/>
            </a:pPr>
            <a:r>
              <a:t/>
            </a:r>
            <a:endParaRPr sz="3000">
              <a:highlight>
                <a:srgbClr val="FF0000"/>
              </a:highlight>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h7b893a0582d097ac_1_61"/>
          <p:cNvSpPr txBox="1"/>
          <p:nvPr>
            <p:ph type="title"/>
          </p:nvPr>
        </p:nvSpPr>
        <p:spPr>
          <a:xfrm>
            <a:off x="1042450" y="2058300"/>
            <a:ext cx="80781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966"/>
              <a:buNone/>
            </a:pPr>
            <a:r>
              <a:rPr lang="de-CH" sz="3100">
                <a:latin typeface="Times New Roman"/>
                <a:ea typeface="Times New Roman"/>
                <a:cs typeface="Times New Roman"/>
                <a:sym typeface="Times New Roman"/>
              </a:rPr>
              <a:t>E.</a:t>
            </a:r>
            <a:r>
              <a:rPr lang="de-CH" sz="3100">
                <a:solidFill>
                  <a:srgbClr val="EF6C00"/>
                </a:solidFill>
                <a:latin typeface="Times New Roman"/>
                <a:ea typeface="Times New Roman"/>
                <a:cs typeface="Times New Roman"/>
                <a:sym typeface="Times New Roman"/>
              </a:rPr>
              <a:t> </a:t>
            </a:r>
            <a:r>
              <a:rPr lang="de-CH" sz="3100">
                <a:solidFill>
                  <a:srgbClr val="EF6C00"/>
                </a:solidFill>
                <a:latin typeface="Times New Roman"/>
                <a:ea typeface="Times New Roman"/>
                <a:cs typeface="Times New Roman"/>
                <a:sym typeface="Times New Roman"/>
              </a:rPr>
              <a:t>STUDENT SUPPORT &amp; PROGRESSION</a:t>
            </a:r>
            <a:endParaRPr b="0" sz="3100">
              <a:solidFill>
                <a:srgbClr val="EF6C00"/>
              </a:solidFill>
              <a:latin typeface="Times New Roman"/>
              <a:ea typeface="Times New Roman"/>
              <a:cs typeface="Times New Roman"/>
              <a:sym typeface="Times New Roman"/>
            </a:endParaRPr>
          </a:p>
          <a:p>
            <a:pPr indent="0" lvl="0" marL="0" rtl="0" algn="ctr">
              <a:lnSpc>
                <a:spcPct val="100000"/>
              </a:lnSpc>
              <a:spcBef>
                <a:spcPts val="0"/>
              </a:spcBef>
              <a:spcAft>
                <a:spcPts val="0"/>
              </a:spcAft>
              <a:buSzPts val="2000"/>
              <a:buNone/>
            </a:pPr>
            <a:r>
              <a:t/>
            </a:r>
            <a:endParaRPr sz="3100">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h7b893a0582d097ac_1_66"/>
          <p:cNvSpPr txBox="1"/>
          <p:nvPr>
            <p:ph type="title"/>
          </p:nvPr>
        </p:nvSpPr>
        <p:spPr>
          <a:xfrm>
            <a:off x="231025" y="73825"/>
            <a:ext cx="8520600" cy="707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2"/>
              </a:buClr>
              <a:buSzPts val="1100"/>
              <a:buFont typeface="Arial"/>
              <a:buNone/>
            </a:pPr>
            <a:r>
              <a:rPr lang="de-CH" sz="1800">
                <a:latin typeface="Times New Roman"/>
                <a:ea typeface="Times New Roman"/>
                <a:cs typeface="Times New Roman"/>
                <a:sym typeface="Times New Roman"/>
              </a:rPr>
              <a:t>E</a:t>
            </a:r>
            <a:r>
              <a:rPr lang="de-CH" sz="1800">
                <a:latin typeface="Times New Roman"/>
                <a:ea typeface="Times New Roman"/>
                <a:cs typeface="Times New Roman"/>
                <a:sym typeface="Times New Roman"/>
              </a:rPr>
              <a:t>.1.</a:t>
            </a:r>
            <a:r>
              <a:rPr b="0" lang="de-CH" sz="1800">
                <a:solidFill>
                  <a:srgbClr val="000000"/>
                </a:solidFill>
                <a:latin typeface="Calibri"/>
                <a:ea typeface="Calibri"/>
                <a:cs typeface="Calibri"/>
                <a:sym typeface="Calibri"/>
              </a:rPr>
              <a:t>Department has well planned mentorship scheme and every student is reached. There is observed periodicity. The problems/concerns are immediately addressed, and this process is well documented.</a:t>
            </a:r>
            <a:r>
              <a:rPr b="0" lang="de-CH" sz="1800">
                <a:solidFill>
                  <a:srgbClr val="000000"/>
                </a:solidFill>
                <a:latin typeface="Calibri"/>
                <a:ea typeface="Calibri"/>
                <a:cs typeface="Calibri"/>
                <a:sym typeface="Calibri"/>
              </a:rPr>
              <a:t> </a:t>
            </a:r>
            <a:r>
              <a:rPr b="0" lang="de-CH" sz="1800">
                <a:solidFill>
                  <a:srgbClr val="000000"/>
                </a:solidFill>
                <a:highlight>
                  <a:schemeClr val="lt1"/>
                </a:highlight>
                <a:latin typeface="Calibri"/>
                <a:ea typeface="Calibri"/>
                <a:cs typeface="Calibri"/>
                <a:sym typeface="Calibri"/>
              </a:rPr>
              <a:t> </a:t>
            </a:r>
            <a:r>
              <a:rPr lang="de-CH" sz="3000">
                <a:solidFill>
                  <a:srgbClr val="000000"/>
                </a:solidFill>
                <a:highlight>
                  <a:schemeClr val="lt1"/>
                </a:highlight>
                <a:latin typeface="Calibri"/>
                <a:ea typeface="Calibri"/>
                <a:cs typeface="Calibri"/>
                <a:sym typeface="Calibri"/>
              </a:rPr>
              <a:t> </a:t>
            </a:r>
            <a:r>
              <a:rPr lang="de-CH" sz="3000">
                <a:solidFill>
                  <a:srgbClr val="FF0000"/>
                </a:solidFill>
                <a:highlight>
                  <a:schemeClr val="lt1"/>
                </a:highlight>
                <a:latin typeface="Calibri"/>
                <a:ea typeface="Calibri"/>
                <a:cs typeface="Calibri"/>
                <a:sym typeface="Calibri"/>
              </a:rPr>
              <a:t>YP</a:t>
            </a:r>
            <a:endParaRPr sz="3000">
              <a:solidFill>
                <a:srgbClr val="FF0000"/>
              </a:solidFill>
              <a:highlight>
                <a:schemeClr val="lt1"/>
              </a:highlight>
            </a:endParaRPr>
          </a:p>
          <a:p>
            <a:pPr indent="0" lvl="0" marL="914400" rtl="0" algn="ctr">
              <a:lnSpc>
                <a:spcPct val="115000"/>
              </a:lnSpc>
              <a:spcBef>
                <a:spcPts val="1200"/>
              </a:spcBef>
              <a:spcAft>
                <a:spcPts val="1200"/>
              </a:spcAft>
              <a:buClr>
                <a:srgbClr val="000000"/>
              </a:buClr>
              <a:buSzPts val="3600"/>
              <a:buFont typeface="Arial"/>
              <a:buNone/>
            </a:pPr>
            <a:r>
              <a:t/>
            </a:r>
            <a:endParaRPr sz="3000">
              <a:highlight>
                <a:srgbClr val="FF0000"/>
              </a:highlight>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h7b893a0582d097ac_1_70"/>
          <p:cNvSpPr txBox="1"/>
          <p:nvPr>
            <p:ph type="title"/>
          </p:nvPr>
        </p:nvSpPr>
        <p:spPr>
          <a:xfrm>
            <a:off x="231025" y="73825"/>
            <a:ext cx="8520600" cy="10053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2"/>
              </a:buClr>
              <a:buSzPts val="1100"/>
              <a:buFont typeface="Arial"/>
              <a:buNone/>
            </a:pPr>
            <a:r>
              <a:rPr lang="de-CH" sz="1800">
                <a:latin typeface="Times New Roman"/>
                <a:ea typeface="Times New Roman"/>
                <a:cs typeface="Times New Roman"/>
                <a:sym typeface="Times New Roman"/>
              </a:rPr>
              <a:t>E.2.</a:t>
            </a:r>
            <a:r>
              <a:rPr b="0" lang="de-CH" sz="1800">
                <a:solidFill>
                  <a:srgbClr val="000000"/>
                </a:solidFill>
                <a:latin typeface="Calibri"/>
                <a:ea typeface="Calibri"/>
                <a:cs typeface="Calibri"/>
                <a:sym typeface="Calibri"/>
              </a:rPr>
              <a:t>Department has effective mechanisms for academic monitoring both formally and informally. The feedback, suggestions are considered duly. </a:t>
            </a:r>
            <a:r>
              <a:rPr b="0" lang="de-CH" sz="1800">
                <a:solidFill>
                  <a:srgbClr val="000000"/>
                </a:solidFill>
                <a:latin typeface="Calibri"/>
                <a:ea typeface="Calibri"/>
                <a:cs typeface="Calibri"/>
                <a:sym typeface="Calibri"/>
              </a:rPr>
              <a:t> </a:t>
            </a:r>
            <a:r>
              <a:rPr b="0" lang="de-CH" sz="1800">
                <a:solidFill>
                  <a:srgbClr val="000000"/>
                </a:solidFill>
                <a:highlight>
                  <a:schemeClr val="lt1"/>
                </a:highlight>
                <a:latin typeface="Calibri"/>
                <a:ea typeface="Calibri"/>
                <a:cs typeface="Calibri"/>
                <a:sym typeface="Calibri"/>
              </a:rPr>
              <a:t> </a:t>
            </a:r>
            <a:r>
              <a:rPr lang="de-CH" sz="3000">
                <a:solidFill>
                  <a:srgbClr val="000000"/>
                </a:solidFill>
                <a:highlight>
                  <a:schemeClr val="lt1"/>
                </a:highlight>
                <a:latin typeface="Calibri"/>
                <a:ea typeface="Calibri"/>
                <a:cs typeface="Calibri"/>
                <a:sym typeface="Calibri"/>
              </a:rPr>
              <a:t> </a:t>
            </a:r>
            <a:r>
              <a:rPr lang="de-CH" sz="3000">
                <a:solidFill>
                  <a:srgbClr val="FF0000"/>
                </a:solidFill>
                <a:highlight>
                  <a:schemeClr val="lt1"/>
                </a:highlight>
                <a:latin typeface="Calibri"/>
                <a:ea typeface="Calibri"/>
                <a:cs typeface="Calibri"/>
                <a:sym typeface="Calibri"/>
              </a:rPr>
              <a:t>SBG</a:t>
            </a:r>
            <a:endParaRPr sz="3000">
              <a:solidFill>
                <a:srgbClr val="FF0000"/>
              </a:solidFill>
              <a:highlight>
                <a:schemeClr val="lt1"/>
              </a:highlight>
            </a:endParaRPr>
          </a:p>
          <a:p>
            <a:pPr indent="0" lvl="0" marL="914400" rtl="0" algn="ctr">
              <a:lnSpc>
                <a:spcPct val="115000"/>
              </a:lnSpc>
              <a:spcBef>
                <a:spcPts val="1200"/>
              </a:spcBef>
              <a:spcAft>
                <a:spcPts val="1200"/>
              </a:spcAft>
              <a:buSzPts val="3600"/>
              <a:buNone/>
            </a:pPr>
            <a:r>
              <a:t/>
            </a:r>
            <a:endParaRPr sz="3000">
              <a:highlight>
                <a:srgbClr val="FF0000"/>
              </a:highlight>
            </a:endParaRPr>
          </a:p>
        </p:txBody>
      </p:sp>
      <p:sp>
        <p:nvSpPr>
          <p:cNvPr id="477" name="Google Shape;477;h7b893a0582d097ac_1_70"/>
          <p:cNvSpPr txBox="1"/>
          <p:nvPr/>
        </p:nvSpPr>
        <p:spPr>
          <a:xfrm>
            <a:off x="339075" y="1217800"/>
            <a:ext cx="8349600" cy="2124000"/>
          </a:xfrm>
          <a:prstGeom prst="rect">
            <a:avLst/>
          </a:prstGeom>
          <a:noFill/>
          <a:ln>
            <a:noFill/>
          </a:ln>
        </p:spPr>
        <p:txBody>
          <a:bodyPr anchorCtr="0" anchor="t" bIns="91425" lIns="91425" spcFirstLastPara="1" rIns="91425" wrap="square" tIns="91425">
            <a:spAutoFit/>
          </a:bodyPr>
          <a:lstStyle/>
          <a:p>
            <a:pPr indent="-342900" lvl="0" marL="457200" rtl="0" algn="just">
              <a:spcBef>
                <a:spcPts val="0"/>
              </a:spcBef>
              <a:spcAft>
                <a:spcPts val="0"/>
              </a:spcAft>
              <a:buSzPts val="1800"/>
              <a:buFont typeface="Calibri"/>
              <a:buChar char="●"/>
            </a:pPr>
            <a:r>
              <a:rPr lang="de-CH" sz="1800">
                <a:latin typeface="Calibri"/>
                <a:ea typeface="Calibri"/>
                <a:cs typeface="Calibri"/>
                <a:sym typeface="Calibri"/>
              </a:rPr>
              <a:t>The department regularly monitors academic activities through formal and informal mechanisms.</a:t>
            </a:r>
            <a:endParaRPr sz="1800">
              <a:latin typeface="Calibri"/>
              <a:ea typeface="Calibri"/>
              <a:cs typeface="Calibri"/>
              <a:sym typeface="Calibri"/>
            </a:endParaRPr>
          </a:p>
          <a:p>
            <a:pPr indent="-342900" lvl="0" marL="457200" rtl="0" algn="just">
              <a:spcBef>
                <a:spcPts val="0"/>
              </a:spcBef>
              <a:spcAft>
                <a:spcPts val="0"/>
              </a:spcAft>
              <a:buSzPts val="1800"/>
              <a:buFont typeface="Calibri"/>
              <a:buChar char="●"/>
            </a:pPr>
            <a:r>
              <a:rPr lang="de-CH" sz="1800">
                <a:latin typeface="Calibri"/>
                <a:ea typeface="Calibri"/>
                <a:cs typeface="Calibri"/>
                <a:sym typeface="Calibri"/>
              </a:rPr>
              <a:t>Feedback and suggestions from students and faculty are reviewed and considered for improvement.</a:t>
            </a:r>
            <a:endParaRPr sz="1800">
              <a:latin typeface="Calibri"/>
              <a:ea typeface="Calibri"/>
              <a:cs typeface="Calibri"/>
              <a:sym typeface="Calibri"/>
            </a:endParaRPr>
          </a:p>
          <a:p>
            <a:pPr indent="-342900" lvl="0" marL="457200" rtl="0" algn="just">
              <a:spcBef>
                <a:spcPts val="0"/>
              </a:spcBef>
              <a:spcAft>
                <a:spcPts val="0"/>
              </a:spcAft>
              <a:buSzPts val="1800"/>
              <a:buFont typeface="Calibri"/>
              <a:buChar char="●"/>
            </a:pPr>
            <a:r>
              <a:rPr lang="de-CH" sz="1800">
                <a:latin typeface="Calibri"/>
                <a:ea typeface="Calibri"/>
                <a:cs typeface="Calibri"/>
                <a:sym typeface="Calibri"/>
              </a:rPr>
              <a:t>Class Representatives (CRs) help in identifying and communicating academic issues and concerns.</a:t>
            </a:r>
            <a:endParaRPr sz="1100"/>
          </a:p>
          <a:p>
            <a:pPr indent="0" lvl="0" marL="0" rtl="0" algn="l">
              <a:spcBef>
                <a:spcPts val="0"/>
              </a:spcBef>
              <a:spcAft>
                <a:spcPts val="0"/>
              </a:spcAft>
              <a:buNone/>
            </a:pPr>
            <a:r>
              <a:t/>
            </a:r>
            <a:endParaRPr sz="1800">
              <a:solidFill>
                <a:schemeClr val="dk2"/>
              </a:solidFill>
              <a:latin typeface="Open Sans"/>
              <a:ea typeface="Open Sans"/>
              <a:cs typeface="Open Sans"/>
              <a:sym typeface="Open Sans"/>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h7b893a0582d097ac_1_74"/>
          <p:cNvSpPr txBox="1"/>
          <p:nvPr>
            <p:ph type="title"/>
          </p:nvPr>
        </p:nvSpPr>
        <p:spPr>
          <a:xfrm>
            <a:off x="231025" y="73825"/>
            <a:ext cx="8520600" cy="707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2"/>
              </a:buClr>
              <a:buSzPts val="1100"/>
              <a:buFont typeface="Arial"/>
              <a:buNone/>
            </a:pPr>
            <a:r>
              <a:rPr lang="de-CH" sz="1800">
                <a:latin typeface="Times New Roman"/>
                <a:ea typeface="Times New Roman"/>
                <a:cs typeface="Times New Roman"/>
                <a:sym typeface="Times New Roman"/>
              </a:rPr>
              <a:t>E.3.</a:t>
            </a:r>
            <a:r>
              <a:rPr b="0" lang="de-CH" sz="1800">
                <a:solidFill>
                  <a:srgbClr val="000000"/>
                </a:solidFill>
                <a:latin typeface="Calibri"/>
                <a:ea typeface="Calibri"/>
                <a:cs typeface="Calibri"/>
                <a:sym typeface="Calibri"/>
              </a:rPr>
              <a:t>Department has a 360-degree feedback system, student feedback on academics, admin etc, grievances/ redressal and its effectiveness</a:t>
            </a:r>
            <a:r>
              <a:rPr b="0" lang="de-CH" sz="1800">
                <a:solidFill>
                  <a:srgbClr val="000000"/>
                </a:solidFill>
                <a:latin typeface="Calibri"/>
                <a:ea typeface="Calibri"/>
                <a:cs typeface="Calibri"/>
                <a:sym typeface="Calibri"/>
              </a:rPr>
              <a:t> </a:t>
            </a:r>
            <a:r>
              <a:rPr b="0" lang="de-CH" sz="1800">
                <a:solidFill>
                  <a:srgbClr val="000000"/>
                </a:solidFill>
                <a:highlight>
                  <a:schemeClr val="lt1"/>
                </a:highlight>
                <a:latin typeface="Calibri"/>
                <a:ea typeface="Calibri"/>
                <a:cs typeface="Calibri"/>
                <a:sym typeface="Calibri"/>
              </a:rPr>
              <a:t> </a:t>
            </a:r>
            <a:r>
              <a:rPr lang="de-CH" sz="3000">
                <a:solidFill>
                  <a:srgbClr val="000000"/>
                </a:solidFill>
                <a:highlight>
                  <a:schemeClr val="lt1"/>
                </a:highlight>
                <a:latin typeface="Calibri"/>
                <a:ea typeface="Calibri"/>
                <a:cs typeface="Calibri"/>
                <a:sym typeface="Calibri"/>
              </a:rPr>
              <a:t> </a:t>
            </a:r>
            <a:r>
              <a:rPr lang="de-CH" sz="3000">
                <a:solidFill>
                  <a:srgbClr val="FF0000"/>
                </a:solidFill>
                <a:highlight>
                  <a:schemeClr val="lt1"/>
                </a:highlight>
                <a:latin typeface="Calibri"/>
                <a:ea typeface="Calibri"/>
                <a:cs typeface="Calibri"/>
                <a:sym typeface="Calibri"/>
              </a:rPr>
              <a:t>AV</a:t>
            </a:r>
            <a:r>
              <a:rPr lang="de-CH" sz="3000">
                <a:solidFill>
                  <a:srgbClr val="FF0000"/>
                </a:solidFill>
                <a:highlight>
                  <a:schemeClr val="lt1"/>
                </a:highlight>
              </a:rPr>
              <a:t>N</a:t>
            </a:r>
            <a:endParaRPr sz="3000">
              <a:highlight>
                <a:srgbClr val="FF0000"/>
              </a:highlight>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h7b893a0582d097ac_1_78"/>
          <p:cNvSpPr txBox="1"/>
          <p:nvPr>
            <p:ph type="title"/>
          </p:nvPr>
        </p:nvSpPr>
        <p:spPr>
          <a:xfrm>
            <a:off x="231025" y="73825"/>
            <a:ext cx="8520600" cy="707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2"/>
              </a:buClr>
              <a:buSzPts val="1100"/>
              <a:buFont typeface="Arial"/>
              <a:buNone/>
            </a:pPr>
            <a:r>
              <a:rPr lang="de-CH" sz="1800">
                <a:latin typeface="Times New Roman"/>
                <a:ea typeface="Times New Roman"/>
                <a:cs typeface="Times New Roman"/>
                <a:sym typeface="Times New Roman"/>
              </a:rPr>
              <a:t>E.4.</a:t>
            </a:r>
            <a:r>
              <a:rPr b="0" lang="de-CH" sz="1800">
                <a:solidFill>
                  <a:srgbClr val="000000"/>
                </a:solidFill>
                <a:latin typeface="Calibri"/>
                <a:ea typeface="Calibri"/>
                <a:cs typeface="Calibri"/>
                <a:sym typeface="Calibri"/>
              </a:rPr>
              <a:t>Department maintains close relations with the alumni and derives best possible benefits with their association. For example, co teaching, special lectures, co supervision of projects etc.</a:t>
            </a:r>
            <a:r>
              <a:rPr b="0" lang="de-CH" sz="1800">
                <a:solidFill>
                  <a:srgbClr val="000000"/>
                </a:solidFill>
                <a:highlight>
                  <a:schemeClr val="lt1"/>
                </a:highlight>
                <a:latin typeface="Calibri"/>
                <a:ea typeface="Calibri"/>
                <a:cs typeface="Calibri"/>
                <a:sym typeface="Calibri"/>
              </a:rPr>
              <a:t> </a:t>
            </a:r>
            <a:r>
              <a:rPr lang="de-CH" sz="3000">
                <a:solidFill>
                  <a:srgbClr val="000000"/>
                </a:solidFill>
                <a:highlight>
                  <a:schemeClr val="lt1"/>
                </a:highlight>
                <a:latin typeface="Calibri"/>
                <a:ea typeface="Calibri"/>
                <a:cs typeface="Calibri"/>
                <a:sym typeface="Calibri"/>
              </a:rPr>
              <a:t> </a:t>
            </a:r>
            <a:r>
              <a:rPr lang="de-CH" sz="3000">
                <a:solidFill>
                  <a:srgbClr val="FF0000"/>
                </a:solidFill>
                <a:highlight>
                  <a:schemeClr val="lt1"/>
                </a:highlight>
                <a:latin typeface="Calibri"/>
                <a:ea typeface="Calibri"/>
                <a:cs typeface="Calibri"/>
                <a:sym typeface="Calibri"/>
              </a:rPr>
              <a:t>JR</a:t>
            </a:r>
            <a:endParaRPr sz="3000">
              <a:solidFill>
                <a:srgbClr val="FF0000"/>
              </a:solidFill>
              <a:highlight>
                <a:schemeClr val="lt1"/>
              </a:highlight>
            </a:endParaRPr>
          </a:p>
          <a:p>
            <a:pPr indent="0" lvl="0" marL="914400" rtl="0" algn="ctr">
              <a:lnSpc>
                <a:spcPct val="115000"/>
              </a:lnSpc>
              <a:spcBef>
                <a:spcPts val="1200"/>
              </a:spcBef>
              <a:spcAft>
                <a:spcPts val="1200"/>
              </a:spcAft>
              <a:buSzPts val="3600"/>
              <a:buNone/>
            </a:pPr>
            <a:r>
              <a:t/>
            </a:r>
            <a:endParaRPr sz="3000">
              <a:highlight>
                <a:srgbClr val="FF0000"/>
              </a:highlight>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h7b893a0582d097ac_1_82"/>
          <p:cNvSpPr txBox="1"/>
          <p:nvPr>
            <p:ph type="title"/>
          </p:nvPr>
        </p:nvSpPr>
        <p:spPr>
          <a:xfrm>
            <a:off x="231025" y="73825"/>
            <a:ext cx="8520600" cy="707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2"/>
              </a:buClr>
              <a:buSzPts val="1100"/>
              <a:buFont typeface="Arial"/>
              <a:buNone/>
            </a:pPr>
            <a:r>
              <a:rPr lang="de-CH" sz="1800">
                <a:latin typeface="Times New Roman"/>
                <a:ea typeface="Times New Roman"/>
                <a:cs typeface="Times New Roman"/>
                <a:sym typeface="Times New Roman"/>
              </a:rPr>
              <a:t>E.5.</a:t>
            </a:r>
            <a:r>
              <a:rPr b="0" lang="de-CH" sz="1800">
                <a:solidFill>
                  <a:srgbClr val="000000"/>
                </a:solidFill>
                <a:latin typeface="Calibri"/>
                <a:ea typeface="Calibri"/>
                <a:cs typeface="Calibri"/>
                <a:sym typeface="Calibri"/>
              </a:rPr>
              <a:t>Students’ participation in extracurricular and cocurricular activities, technical and cultural events, quizzes, workshops, seminars, conferences, exhibitions, tech competitions like ROBOCON, BAHA etc.</a:t>
            </a:r>
            <a:r>
              <a:rPr lang="de-CH" sz="3000">
                <a:solidFill>
                  <a:srgbClr val="000000"/>
                </a:solidFill>
                <a:highlight>
                  <a:schemeClr val="lt1"/>
                </a:highlight>
                <a:latin typeface="Calibri"/>
                <a:ea typeface="Calibri"/>
                <a:cs typeface="Calibri"/>
                <a:sym typeface="Calibri"/>
              </a:rPr>
              <a:t> </a:t>
            </a:r>
            <a:endParaRPr sz="3000">
              <a:solidFill>
                <a:srgbClr val="FF0000"/>
              </a:solidFill>
              <a:highlight>
                <a:schemeClr val="lt1"/>
              </a:highlight>
            </a:endParaRPr>
          </a:p>
          <a:p>
            <a:pPr indent="0" lvl="0" marL="914400" rtl="0" algn="ctr">
              <a:lnSpc>
                <a:spcPct val="115000"/>
              </a:lnSpc>
              <a:spcBef>
                <a:spcPts val="1200"/>
              </a:spcBef>
              <a:spcAft>
                <a:spcPts val="1200"/>
              </a:spcAft>
              <a:buSzPts val="3600"/>
              <a:buNone/>
            </a:pPr>
            <a:r>
              <a:t/>
            </a:r>
            <a:endParaRPr sz="3000">
              <a:highlight>
                <a:srgbClr val="FF0000"/>
              </a:highlight>
            </a:endParaRPr>
          </a:p>
        </p:txBody>
      </p:sp>
      <p:pic>
        <p:nvPicPr>
          <p:cNvPr id="493" name="Google Shape;493;h7b893a0582d097ac_1_82"/>
          <p:cNvPicPr preferRelativeResize="0"/>
          <p:nvPr/>
        </p:nvPicPr>
        <p:blipFill>
          <a:blip r:embed="rId3">
            <a:alphaModFix/>
          </a:blip>
          <a:stretch>
            <a:fillRect/>
          </a:stretch>
        </p:blipFill>
        <p:spPr>
          <a:xfrm>
            <a:off x="5700500" y="1847197"/>
            <a:ext cx="2398327" cy="1983900"/>
          </a:xfrm>
          <a:prstGeom prst="rect">
            <a:avLst/>
          </a:prstGeom>
          <a:noFill/>
          <a:ln>
            <a:noFill/>
          </a:ln>
        </p:spPr>
      </p:pic>
      <p:pic>
        <p:nvPicPr>
          <p:cNvPr id="494" name="Google Shape;494;h7b893a0582d097ac_1_82"/>
          <p:cNvPicPr preferRelativeResize="0"/>
          <p:nvPr/>
        </p:nvPicPr>
        <p:blipFill>
          <a:blip r:embed="rId4">
            <a:alphaModFix/>
          </a:blip>
          <a:stretch>
            <a:fillRect/>
          </a:stretch>
        </p:blipFill>
        <p:spPr>
          <a:xfrm>
            <a:off x="783498" y="1505219"/>
            <a:ext cx="1832214" cy="1515620"/>
          </a:xfrm>
          <a:prstGeom prst="rect">
            <a:avLst/>
          </a:prstGeom>
          <a:noFill/>
          <a:ln>
            <a:noFill/>
          </a:ln>
        </p:spPr>
      </p:pic>
      <p:pic>
        <p:nvPicPr>
          <p:cNvPr id="495" name="Google Shape;495;h7b893a0582d097ac_1_82"/>
          <p:cNvPicPr preferRelativeResize="0"/>
          <p:nvPr/>
        </p:nvPicPr>
        <p:blipFill>
          <a:blip r:embed="rId5">
            <a:alphaModFix/>
          </a:blip>
          <a:stretch>
            <a:fillRect/>
          </a:stretch>
        </p:blipFill>
        <p:spPr>
          <a:xfrm>
            <a:off x="783500" y="3020850"/>
            <a:ext cx="1897675" cy="1433974"/>
          </a:xfrm>
          <a:prstGeom prst="rect">
            <a:avLst/>
          </a:prstGeom>
          <a:noFill/>
          <a:ln>
            <a:noFill/>
          </a:ln>
        </p:spPr>
      </p:pic>
      <p:pic>
        <p:nvPicPr>
          <p:cNvPr id="496" name="Google Shape;496;h7b893a0582d097ac_1_82"/>
          <p:cNvPicPr preferRelativeResize="0"/>
          <p:nvPr/>
        </p:nvPicPr>
        <p:blipFill>
          <a:blip r:embed="rId6">
            <a:alphaModFix/>
          </a:blip>
          <a:stretch>
            <a:fillRect/>
          </a:stretch>
        </p:blipFill>
        <p:spPr>
          <a:xfrm>
            <a:off x="3437875" y="1505221"/>
            <a:ext cx="1832212" cy="1515618"/>
          </a:xfrm>
          <a:prstGeom prst="rect">
            <a:avLst/>
          </a:prstGeom>
          <a:noFill/>
          <a:ln>
            <a:noFill/>
          </a:ln>
        </p:spPr>
      </p:pic>
      <p:pic>
        <p:nvPicPr>
          <p:cNvPr id="497" name="Google Shape;497;h7b893a0582d097ac_1_82"/>
          <p:cNvPicPr preferRelativeResize="0"/>
          <p:nvPr/>
        </p:nvPicPr>
        <p:blipFill>
          <a:blip r:embed="rId7">
            <a:alphaModFix/>
          </a:blip>
          <a:stretch>
            <a:fillRect/>
          </a:stretch>
        </p:blipFill>
        <p:spPr>
          <a:xfrm>
            <a:off x="3437875" y="3053000"/>
            <a:ext cx="1832201" cy="1369674"/>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h7b893a0582d097ac_1_86"/>
          <p:cNvSpPr txBox="1"/>
          <p:nvPr>
            <p:ph type="title"/>
          </p:nvPr>
        </p:nvSpPr>
        <p:spPr>
          <a:xfrm>
            <a:off x="231025" y="738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1100"/>
              <a:buFont typeface="Arial"/>
              <a:buNone/>
            </a:pPr>
            <a:r>
              <a:rPr lang="de-CH" sz="1800">
                <a:latin typeface="Times New Roman"/>
                <a:ea typeface="Times New Roman"/>
                <a:cs typeface="Times New Roman"/>
                <a:sym typeface="Times New Roman"/>
              </a:rPr>
              <a:t>E.6.</a:t>
            </a:r>
            <a:r>
              <a:rPr b="0" lang="de-CH" sz="1800">
                <a:solidFill>
                  <a:srgbClr val="000000"/>
                </a:solidFill>
                <a:latin typeface="Calibri"/>
                <a:ea typeface="Calibri"/>
                <a:cs typeface="Calibri"/>
                <a:sym typeface="Calibri"/>
              </a:rPr>
              <a:t>Institute promotes the culture of student clubs. Students are motivated and encouraged to start dedicated, focused student clubs with diversified objectives.- </a:t>
            </a:r>
            <a:r>
              <a:rPr lang="de-CH" sz="3000">
                <a:solidFill>
                  <a:srgbClr val="000000"/>
                </a:solidFill>
                <a:highlight>
                  <a:schemeClr val="lt1"/>
                </a:highlight>
                <a:latin typeface="Calibri"/>
                <a:ea typeface="Calibri"/>
                <a:cs typeface="Calibri"/>
                <a:sym typeface="Calibri"/>
              </a:rPr>
              <a:t> </a:t>
            </a:r>
            <a:endParaRPr sz="3000">
              <a:solidFill>
                <a:srgbClr val="FF0000"/>
              </a:solidFill>
              <a:highlight>
                <a:schemeClr val="lt1"/>
              </a:highlight>
              <a:latin typeface="Calibri"/>
              <a:ea typeface="Calibri"/>
              <a:cs typeface="Calibri"/>
              <a:sym typeface="Calibri"/>
            </a:endParaRPr>
          </a:p>
          <a:p>
            <a:pPr indent="0" lvl="0" marL="0" rtl="0" algn="l">
              <a:lnSpc>
                <a:spcPct val="100000"/>
              </a:lnSpc>
              <a:spcBef>
                <a:spcPts val="0"/>
              </a:spcBef>
              <a:spcAft>
                <a:spcPts val="0"/>
              </a:spcAft>
              <a:buClr>
                <a:schemeClr val="dk2"/>
              </a:buClr>
              <a:buSzPts val="1100"/>
              <a:buFont typeface="Arial"/>
              <a:buNone/>
            </a:pPr>
            <a:r>
              <a:rPr lang="de-CH" sz="1800">
                <a:solidFill>
                  <a:srgbClr val="221D1D"/>
                </a:solidFill>
                <a:highlight>
                  <a:schemeClr val="lt1"/>
                </a:highlight>
                <a:latin typeface="Calibri"/>
                <a:ea typeface="Calibri"/>
                <a:cs typeface="Calibri"/>
                <a:sym typeface="Calibri"/>
              </a:rPr>
              <a:t>Computer Society of India(CSI)  conducted various activities and workshops for students such as </a:t>
            </a:r>
            <a:r>
              <a:rPr b="0" lang="de-CH" sz="1400">
                <a:solidFill>
                  <a:srgbClr val="000000"/>
                </a:solidFill>
                <a:latin typeface="Times New Roman"/>
                <a:ea typeface="Times New Roman"/>
                <a:cs typeface="Times New Roman"/>
                <a:sym typeface="Times New Roman"/>
              </a:rPr>
              <a:t>Git and GitHub</a:t>
            </a:r>
            <a:r>
              <a:rPr lang="de-CH" sz="1100">
                <a:solidFill>
                  <a:srgbClr val="000000"/>
                </a:solidFill>
                <a:latin typeface="Times New Roman"/>
                <a:ea typeface="Times New Roman"/>
                <a:cs typeface="Times New Roman"/>
                <a:sym typeface="Times New Roman"/>
              </a:rPr>
              <a:t> </a:t>
            </a:r>
            <a:r>
              <a:rPr b="0" lang="de-CH" sz="1400">
                <a:solidFill>
                  <a:srgbClr val="000000"/>
                </a:solidFill>
                <a:latin typeface="Times New Roman"/>
                <a:ea typeface="Times New Roman"/>
                <a:cs typeface="Times New Roman"/>
                <a:sym typeface="Times New Roman"/>
              </a:rPr>
              <a:t>Workshop</a:t>
            </a:r>
            <a:r>
              <a:rPr lang="de-CH" sz="1100">
                <a:solidFill>
                  <a:srgbClr val="000000"/>
                </a:solidFill>
                <a:latin typeface="Times New Roman"/>
                <a:ea typeface="Times New Roman"/>
                <a:cs typeface="Times New Roman"/>
                <a:sym typeface="Times New Roman"/>
              </a:rPr>
              <a:t> ,</a:t>
            </a:r>
            <a:r>
              <a:rPr b="0" lang="de-CH" sz="1400">
                <a:solidFill>
                  <a:srgbClr val="000000"/>
                </a:solidFill>
                <a:latin typeface="Times New Roman"/>
                <a:ea typeface="Times New Roman"/>
                <a:cs typeface="Times New Roman"/>
                <a:sym typeface="Times New Roman"/>
              </a:rPr>
              <a:t>Code Housie ,SomETHing Decentralised</a:t>
            </a:r>
            <a:r>
              <a:rPr b="0" lang="de-CH" sz="1100">
                <a:solidFill>
                  <a:srgbClr val="000000"/>
                </a:solidFill>
                <a:latin typeface="Arial"/>
                <a:ea typeface="Arial"/>
                <a:cs typeface="Arial"/>
                <a:sym typeface="Arial"/>
              </a:rPr>
              <a:t> ,</a:t>
            </a:r>
            <a:r>
              <a:rPr b="0" lang="de-CH" sz="1400">
                <a:solidFill>
                  <a:srgbClr val="000000"/>
                </a:solidFill>
                <a:latin typeface="Times New Roman"/>
                <a:ea typeface="Times New Roman"/>
                <a:cs typeface="Times New Roman"/>
                <a:sym typeface="Times New Roman"/>
              </a:rPr>
              <a:t>Pixel Perfect</a:t>
            </a:r>
            <a:r>
              <a:rPr b="0" lang="de-CH" sz="1100">
                <a:solidFill>
                  <a:srgbClr val="000000"/>
                </a:solidFill>
                <a:latin typeface="Arial"/>
                <a:ea typeface="Arial"/>
                <a:cs typeface="Arial"/>
                <a:sym typeface="Arial"/>
              </a:rPr>
              <a:t> ,</a:t>
            </a:r>
            <a:r>
              <a:rPr b="0" lang="de-CH" sz="1400">
                <a:solidFill>
                  <a:srgbClr val="000000"/>
                </a:solidFill>
                <a:latin typeface="Times New Roman"/>
                <a:ea typeface="Times New Roman"/>
                <a:cs typeface="Times New Roman"/>
                <a:sym typeface="Times New Roman"/>
              </a:rPr>
              <a:t>Code it Ralph</a:t>
            </a:r>
            <a:r>
              <a:rPr b="0" lang="de-CH" sz="1100">
                <a:solidFill>
                  <a:srgbClr val="000000"/>
                </a:solidFill>
                <a:latin typeface="Arial"/>
                <a:ea typeface="Arial"/>
                <a:cs typeface="Arial"/>
                <a:sym typeface="Arial"/>
              </a:rPr>
              <a:t> ,</a:t>
            </a:r>
            <a:r>
              <a:rPr b="0" lang="de-CH" sz="1400">
                <a:solidFill>
                  <a:srgbClr val="000000"/>
                </a:solidFill>
                <a:latin typeface="Times New Roman"/>
                <a:ea typeface="Times New Roman"/>
                <a:cs typeface="Times New Roman"/>
                <a:sym typeface="Times New Roman"/>
              </a:rPr>
              <a:t>ML Sprint</a:t>
            </a:r>
            <a:r>
              <a:rPr b="0" lang="de-CH" sz="1100">
                <a:solidFill>
                  <a:srgbClr val="000000"/>
                </a:solidFill>
                <a:latin typeface="Arial"/>
                <a:ea typeface="Arial"/>
                <a:cs typeface="Arial"/>
                <a:sym typeface="Arial"/>
              </a:rPr>
              <a:t> ,</a:t>
            </a:r>
            <a:r>
              <a:rPr b="0" lang="de-CH" sz="1400">
                <a:solidFill>
                  <a:srgbClr val="000000"/>
                </a:solidFill>
                <a:latin typeface="Times New Roman"/>
                <a:ea typeface="Times New Roman"/>
                <a:cs typeface="Times New Roman"/>
                <a:sym typeface="Times New Roman"/>
              </a:rPr>
              <a:t>Design Disaster</a:t>
            </a:r>
            <a:r>
              <a:rPr b="0" lang="de-CH" sz="1100">
                <a:solidFill>
                  <a:srgbClr val="000000"/>
                </a:solidFill>
                <a:latin typeface="Arial"/>
                <a:ea typeface="Arial"/>
                <a:cs typeface="Arial"/>
                <a:sym typeface="Arial"/>
              </a:rPr>
              <a:t> ,</a:t>
            </a:r>
            <a:r>
              <a:rPr b="0" lang="de-CH" sz="1400">
                <a:solidFill>
                  <a:srgbClr val="000000"/>
                </a:solidFill>
                <a:latin typeface="Times New Roman"/>
                <a:ea typeface="Times New Roman"/>
                <a:cs typeface="Times New Roman"/>
                <a:sym typeface="Times New Roman"/>
              </a:rPr>
              <a:t>UnSQLved</a:t>
            </a:r>
            <a:r>
              <a:rPr b="0" lang="de-CH" sz="1100">
                <a:solidFill>
                  <a:srgbClr val="000000"/>
                </a:solidFill>
                <a:latin typeface="Arial"/>
                <a:ea typeface="Arial"/>
                <a:cs typeface="Arial"/>
                <a:sym typeface="Arial"/>
              </a:rPr>
              <a:t> ,</a:t>
            </a:r>
            <a:r>
              <a:rPr b="0" lang="de-CH" sz="1400">
                <a:solidFill>
                  <a:srgbClr val="000000"/>
                </a:solidFill>
                <a:latin typeface="Times New Roman"/>
                <a:ea typeface="Times New Roman"/>
                <a:cs typeface="Times New Roman"/>
                <a:sym typeface="Times New Roman"/>
              </a:rPr>
              <a:t>SPIT Hackathon</a:t>
            </a:r>
            <a:r>
              <a:rPr b="0" lang="de-CH" sz="1100">
                <a:solidFill>
                  <a:srgbClr val="000000"/>
                </a:solidFill>
                <a:latin typeface="Arial"/>
                <a:ea typeface="Arial"/>
                <a:cs typeface="Arial"/>
                <a:sym typeface="Arial"/>
              </a:rPr>
              <a:t> and </a:t>
            </a:r>
            <a:r>
              <a:rPr b="0" lang="de-CH" sz="1400">
                <a:solidFill>
                  <a:srgbClr val="000000"/>
                </a:solidFill>
                <a:latin typeface="Times New Roman"/>
                <a:ea typeface="Times New Roman"/>
                <a:cs typeface="Times New Roman"/>
                <a:sym typeface="Times New Roman"/>
              </a:rPr>
              <a:t>SE Hackathon etc</a:t>
            </a:r>
            <a:endParaRPr b="0" sz="14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2"/>
              </a:buClr>
              <a:buSzPts val="1100"/>
              <a:buFont typeface="Arial"/>
              <a:buNone/>
            </a:pPr>
            <a:r>
              <a:t/>
            </a:r>
            <a:endParaRPr b="0" sz="14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2"/>
              </a:buClr>
              <a:buSzPts val="1100"/>
              <a:buFont typeface="Arial"/>
              <a:buNone/>
            </a:pPr>
            <a:r>
              <a:t/>
            </a:r>
            <a:endParaRPr b="0" sz="1400">
              <a:solidFill>
                <a:srgbClr val="000000"/>
              </a:solidFill>
              <a:latin typeface="Times New Roman"/>
              <a:ea typeface="Times New Roman"/>
              <a:cs typeface="Times New Roman"/>
              <a:sym typeface="Times New Roman"/>
            </a:endParaRPr>
          </a:p>
          <a:p>
            <a:pPr indent="0" lvl="0" marL="914400" rtl="0" algn="ctr">
              <a:lnSpc>
                <a:spcPct val="115000"/>
              </a:lnSpc>
              <a:spcBef>
                <a:spcPts val="1200"/>
              </a:spcBef>
              <a:spcAft>
                <a:spcPts val="1200"/>
              </a:spcAft>
              <a:buSzPts val="3600"/>
              <a:buNone/>
            </a:pPr>
            <a:r>
              <a:t/>
            </a:r>
            <a:endParaRPr sz="3000">
              <a:highlight>
                <a:srgbClr val="FF0000"/>
              </a:highlight>
            </a:endParaRPr>
          </a:p>
        </p:txBody>
      </p:sp>
      <p:pic>
        <p:nvPicPr>
          <p:cNvPr id="503" name="Google Shape;503;h7b893a0582d097ac_1_86"/>
          <p:cNvPicPr preferRelativeResize="0"/>
          <p:nvPr/>
        </p:nvPicPr>
        <p:blipFill rotWithShape="1">
          <a:blip r:embed="rId3">
            <a:alphaModFix/>
          </a:blip>
          <a:srcRect b="23360" l="12768" r="22056" t="15215"/>
          <a:stretch/>
        </p:blipFill>
        <p:spPr>
          <a:xfrm>
            <a:off x="331400" y="2253600"/>
            <a:ext cx="3948154" cy="2363875"/>
          </a:xfrm>
          <a:prstGeom prst="rect">
            <a:avLst/>
          </a:prstGeom>
          <a:noFill/>
          <a:ln>
            <a:noFill/>
          </a:ln>
        </p:spPr>
      </p:pic>
      <p:pic>
        <p:nvPicPr>
          <p:cNvPr id="504" name="Google Shape;504;h7b893a0582d097ac_1_86"/>
          <p:cNvPicPr preferRelativeResize="0"/>
          <p:nvPr/>
        </p:nvPicPr>
        <p:blipFill>
          <a:blip r:embed="rId4">
            <a:alphaModFix/>
          </a:blip>
          <a:stretch>
            <a:fillRect/>
          </a:stretch>
        </p:blipFill>
        <p:spPr>
          <a:xfrm>
            <a:off x="5028366" y="2253600"/>
            <a:ext cx="3296659" cy="2363875"/>
          </a:xfrm>
          <a:prstGeom prst="rect">
            <a:avLst/>
          </a:prstGeom>
          <a:noFill/>
          <a:ln>
            <a:noFill/>
          </a:ln>
        </p:spPr>
      </p:pic>
      <p:sp>
        <p:nvSpPr>
          <p:cNvPr id="505" name="Google Shape;505;h7b893a0582d097ac_1_86"/>
          <p:cNvSpPr txBox="1"/>
          <p:nvPr/>
        </p:nvSpPr>
        <p:spPr>
          <a:xfrm>
            <a:off x="982850" y="4681800"/>
            <a:ext cx="3296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latin typeface="Open Sans"/>
              <a:ea typeface="Open Sans"/>
              <a:cs typeface="Open Sans"/>
              <a:sym typeface="Open Sans"/>
            </a:endParaRPr>
          </a:p>
        </p:txBody>
      </p:sp>
      <p:sp>
        <p:nvSpPr>
          <p:cNvPr id="506" name="Google Shape;506;h7b893a0582d097ac_1_86"/>
          <p:cNvSpPr txBox="1"/>
          <p:nvPr/>
        </p:nvSpPr>
        <p:spPr>
          <a:xfrm>
            <a:off x="5028350" y="4617475"/>
            <a:ext cx="3296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CH" sz="1800">
                <a:solidFill>
                  <a:schemeClr val="dk2"/>
                </a:solidFill>
                <a:latin typeface="Open Sans"/>
                <a:ea typeface="Open Sans"/>
                <a:cs typeface="Open Sans"/>
                <a:sym typeface="Open Sans"/>
              </a:rPr>
              <a:t>SPIT Hackathon</a:t>
            </a:r>
            <a:endParaRPr sz="1800">
              <a:solidFill>
                <a:schemeClr val="dk2"/>
              </a:solidFill>
              <a:latin typeface="Open Sans"/>
              <a:ea typeface="Open Sans"/>
              <a:cs typeface="Open Sans"/>
              <a:sym typeface="Open Sans"/>
            </a:endParaRPr>
          </a:p>
        </p:txBody>
      </p:sp>
      <p:sp>
        <p:nvSpPr>
          <p:cNvPr id="507" name="Google Shape;507;h7b893a0582d097ac_1_86"/>
          <p:cNvSpPr txBox="1"/>
          <p:nvPr/>
        </p:nvSpPr>
        <p:spPr>
          <a:xfrm>
            <a:off x="1055700" y="4754675"/>
            <a:ext cx="3296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CH" sz="1800">
                <a:solidFill>
                  <a:schemeClr val="dk2"/>
                </a:solidFill>
                <a:latin typeface="Open Sans"/>
                <a:ea typeface="Open Sans"/>
                <a:cs typeface="Open Sans"/>
                <a:sym typeface="Open Sans"/>
              </a:rPr>
              <a:t>GitHub session</a:t>
            </a:r>
            <a:endParaRPr sz="1800">
              <a:solidFill>
                <a:schemeClr val="dk2"/>
              </a:solidFill>
              <a:latin typeface="Open Sans"/>
              <a:ea typeface="Open Sans"/>
              <a:cs typeface="Open Sans"/>
              <a:sym typeface="Open Sans"/>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pic>
        <p:nvPicPr>
          <p:cNvPr id="512" name="Google Shape;512;hd72da3054435e2_33_5"/>
          <p:cNvPicPr preferRelativeResize="0"/>
          <p:nvPr/>
        </p:nvPicPr>
        <p:blipFill>
          <a:blip r:embed="rId3">
            <a:alphaModFix/>
          </a:blip>
          <a:stretch>
            <a:fillRect/>
          </a:stretch>
        </p:blipFill>
        <p:spPr>
          <a:xfrm>
            <a:off x="152400" y="152400"/>
            <a:ext cx="3555700" cy="2670075"/>
          </a:xfrm>
          <a:prstGeom prst="rect">
            <a:avLst/>
          </a:prstGeom>
          <a:noFill/>
          <a:ln>
            <a:noFill/>
          </a:ln>
        </p:spPr>
      </p:pic>
      <p:sp>
        <p:nvSpPr>
          <p:cNvPr id="513" name="Google Shape;513;hd72da3054435e2_33_5"/>
          <p:cNvSpPr txBox="1"/>
          <p:nvPr/>
        </p:nvSpPr>
        <p:spPr>
          <a:xfrm>
            <a:off x="152450" y="3056850"/>
            <a:ext cx="3555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CH" sz="1800">
                <a:solidFill>
                  <a:schemeClr val="dk2"/>
                </a:solidFill>
              </a:rPr>
              <a:t>GSoC session 2024-2025</a:t>
            </a:r>
            <a:endParaRPr sz="1800">
              <a:solidFill>
                <a:schemeClr val="dk2"/>
              </a:solidFill>
            </a:endParaRPr>
          </a:p>
        </p:txBody>
      </p:sp>
      <p:pic>
        <p:nvPicPr>
          <p:cNvPr id="514" name="Google Shape;514;hd72da3054435e2_33_5"/>
          <p:cNvPicPr preferRelativeResize="0"/>
          <p:nvPr/>
        </p:nvPicPr>
        <p:blipFill>
          <a:blip r:embed="rId4">
            <a:alphaModFix/>
          </a:blip>
          <a:stretch>
            <a:fillRect/>
          </a:stretch>
        </p:blipFill>
        <p:spPr>
          <a:xfrm>
            <a:off x="3860500" y="152400"/>
            <a:ext cx="4694456" cy="2670075"/>
          </a:xfrm>
          <a:prstGeom prst="rect">
            <a:avLst/>
          </a:prstGeom>
          <a:noFill/>
          <a:ln>
            <a:noFill/>
          </a:ln>
        </p:spPr>
      </p:pic>
      <p:sp>
        <p:nvSpPr>
          <p:cNvPr id="515" name="Google Shape;515;hd72da3054435e2_33_5"/>
          <p:cNvSpPr txBox="1"/>
          <p:nvPr/>
        </p:nvSpPr>
        <p:spPr>
          <a:xfrm>
            <a:off x="4638450" y="3123325"/>
            <a:ext cx="2977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CH" sz="1800">
                <a:solidFill>
                  <a:schemeClr val="dk2"/>
                </a:solidFill>
              </a:rPr>
              <a:t>SPIT Hackathon 2024-2025</a:t>
            </a:r>
            <a:endParaRPr sz="1800">
              <a:solidFill>
                <a:schemeClr val="dk2"/>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graphicFrame>
        <p:nvGraphicFramePr>
          <p:cNvPr id="528" name="Google Shape;528;hd72da3054435e2_33_130"/>
          <p:cNvGraphicFramePr/>
          <p:nvPr/>
        </p:nvGraphicFramePr>
        <p:xfrm>
          <a:off x="554825" y="956100"/>
          <a:ext cx="3000000" cy="3000000"/>
        </p:xfrm>
        <a:graphic>
          <a:graphicData uri="http://schemas.openxmlformats.org/drawingml/2006/table">
            <a:tbl>
              <a:tblPr>
                <a:noFill/>
                <a:tableStyleId>{74466135-534C-4DE0-9D03-2267C9AB3275}</a:tableStyleId>
              </a:tblPr>
              <a:tblGrid>
                <a:gridCol w="1598050"/>
                <a:gridCol w="1677300"/>
              </a:tblGrid>
              <a:tr h="317625">
                <a:tc>
                  <a:txBody>
                    <a:bodyPr/>
                    <a:lstStyle/>
                    <a:p>
                      <a:pPr indent="0" lvl="0" marL="0" rtl="0" algn="ctr">
                        <a:lnSpc>
                          <a:spcPct val="115000"/>
                        </a:lnSpc>
                        <a:spcBef>
                          <a:spcPts val="0"/>
                        </a:spcBef>
                        <a:spcAft>
                          <a:spcPts val="0"/>
                        </a:spcAft>
                        <a:buNone/>
                      </a:pPr>
                      <a:r>
                        <a:rPr b="1" lang="de-CH">
                          <a:latin typeface="Times New Roman"/>
                          <a:ea typeface="Times New Roman"/>
                          <a:cs typeface="Times New Roman"/>
                          <a:sym typeface="Times New Roman"/>
                        </a:rPr>
                        <a:t>Name of Event</a:t>
                      </a:r>
                      <a:endParaRPr b="1">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a:latin typeface="Times New Roman"/>
                          <a:ea typeface="Times New Roman"/>
                          <a:cs typeface="Times New Roman"/>
                          <a:sym typeface="Times New Roman"/>
                        </a:rPr>
                        <a:t>Date</a:t>
                      </a:r>
                      <a:endParaRPr b="1">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76700">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Tech Roadmap</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30th September 2024</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7625">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GSoC Session</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1st October 2024</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7625">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Git GitHub Session</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1st October 2024</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76700">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Source Start</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1st - 31st October 2024</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7625">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CodeHousie</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17th October 2024</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529" name="Google Shape;529;hd72da3054435e2_33_130"/>
          <p:cNvGraphicFramePr/>
          <p:nvPr/>
        </p:nvGraphicFramePr>
        <p:xfrm>
          <a:off x="554825" y="3379900"/>
          <a:ext cx="3000000" cy="3000000"/>
        </p:xfrm>
        <a:graphic>
          <a:graphicData uri="http://schemas.openxmlformats.org/drawingml/2006/table">
            <a:tbl>
              <a:tblPr>
                <a:noFill/>
                <a:tableStyleId>{74466135-534C-4DE0-9D03-2267C9AB3275}</a:tableStyleId>
              </a:tblPr>
              <a:tblGrid>
                <a:gridCol w="1598075"/>
                <a:gridCol w="1677275"/>
              </a:tblGrid>
              <a:tr h="292625">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Minithon</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20th October 2024</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2625">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Mini Source Start</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23rd October 2024</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2625">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Frontend Odyssey</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1st February 2025</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03550">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SQL and API Workshop</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4th February 2025</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530" name="Google Shape;530;hd72da3054435e2_33_130"/>
          <p:cNvGraphicFramePr/>
          <p:nvPr/>
        </p:nvGraphicFramePr>
        <p:xfrm>
          <a:off x="4279825" y="956100"/>
          <a:ext cx="3000000" cy="3000000"/>
        </p:xfrm>
        <a:graphic>
          <a:graphicData uri="http://schemas.openxmlformats.org/drawingml/2006/table">
            <a:tbl>
              <a:tblPr>
                <a:noFill/>
                <a:tableStyleId>{74466135-534C-4DE0-9D03-2267C9AB3275}</a:tableStyleId>
              </a:tblPr>
              <a:tblGrid>
                <a:gridCol w="1935950"/>
                <a:gridCol w="1935950"/>
              </a:tblGrid>
              <a:tr h="381000">
                <a:tc>
                  <a:txBody>
                    <a:bodyPr/>
                    <a:lstStyle/>
                    <a:p>
                      <a:pPr indent="0" lvl="0" marL="0" rtl="0" algn="ctr">
                        <a:lnSpc>
                          <a:spcPct val="115000"/>
                        </a:lnSpc>
                        <a:spcBef>
                          <a:spcPts val="0"/>
                        </a:spcBef>
                        <a:spcAft>
                          <a:spcPts val="0"/>
                        </a:spcAft>
                        <a:buNone/>
                      </a:pPr>
                      <a:r>
                        <a:rPr b="1" lang="de-CH">
                          <a:latin typeface="Times New Roman"/>
                          <a:ea typeface="Times New Roman"/>
                          <a:cs typeface="Times New Roman"/>
                          <a:sym typeface="Times New Roman"/>
                        </a:rPr>
                        <a:t>Name of Event</a:t>
                      </a:r>
                      <a:endParaRPr b="1">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a:latin typeface="Times New Roman"/>
                          <a:ea typeface="Times New Roman"/>
                          <a:cs typeface="Times New Roman"/>
                          <a:sym typeface="Times New Roman"/>
                        </a:rPr>
                        <a:t>Date</a:t>
                      </a:r>
                      <a:endParaRPr b="1">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rAPId</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5th February 2025</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UnSQLved</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6th February 2025</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Main Speaker Session</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7th February 2025</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S.P.I.T Hackathon</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8th-9th February 2025</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Code Uncode</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20th February 2025</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SE Hackathon</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19th-20th April 2025</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531" name="Google Shape;531;hd72da3054435e2_33_130"/>
          <p:cNvSpPr txBox="1"/>
          <p:nvPr/>
        </p:nvSpPr>
        <p:spPr>
          <a:xfrm>
            <a:off x="554825" y="79525"/>
            <a:ext cx="4071600" cy="42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de-CH" sz="2000">
                <a:solidFill>
                  <a:schemeClr val="dk2"/>
                </a:solidFill>
              </a:rPr>
              <a:t>CSI EVENTS 2024-25 </a:t>
            </a:r>
            <a:r>
              <a:rPr b="1" lang="de-CH" sz="2000">
                <a:solidFill>
                  <a:srgbClr val="FF0000"/>
                </a:solidFill>
              </a:rPr>
              <a:t>CSI KKD</a:t>
            </a:r>
            <a:endParaRPr b="1" sz="2000">
              <a:solidFill>
                <a:srgbClr val="FF0000"/>
              </a:solidFill>
            </a:endParaRPr>
          </a:p>
        </p:txBody>
      </p:sp>
      <p:sp>
        <p:nvSpPr>
          <p:cNvPr id="532" name="Google Shape;532;hd72da3054435e2_33_130"/>
          <p:cNvSpPr txBox="1"/>
          <p:nvPr/>
        </p:nvSpPr>
        <p:spPr>
          <a:xfrm>
            <a:off x="554825" y="424200"/>
            <a:ext cx="7581600" cy="42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de-CH" sz="1200">
                <a:solidFill>
                  <a:srgbClr val="EF6C00"/>
                </a:solidFill>
                <a:latin typeface="Times New Roman"/>
                <a:ea typeface="Times New Roman"/>
                <a:cs typeface="Times New Roman"/>
                <a:sym typeface="Times New Roman"/>
              </a:rPr>
              <a:t>E.6.</a:t>
            </a:r>
            <a:r>
              <a:rPr lang="de-CH" sz="1200">
                <a:solidFill>
                  <a:schemeClr val="dk1"/>
                </a:solidFill>
                <a:latin typeface="Calibri"/>
                <a:ea typeface="Calibri"/>
                <a:cs typeface="Calibri"/>
                <a:sym typeface="Calibri"/>
              </a:rPr>
              <a:t>Institute promotes the culture of student clubs. Students are motivated and encouraged to start dedicated, focused student clubs with diversified objectives.- </a:t>
            </a:r>
            <a:endParaRPr sz="400">
              <a:solidFill>
                <a:schemeClr val="dk2"/>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pic>
        <p:nvPicPr>
          <p:cNvPr id="537" name="Google Shape;537;hd72da3054435e2_33_187"/>
          <p:cNvPicPr preferRelativeResize="0"/>
          <p:nvPr/>
        </p:nvPicPr>
        <p:blipFill>
          <a:blip r:embed="rId3">
            <a:alphaModFix/>
          </a:blip>
          <a:stretch>
            <a:fillRect/>
          </a:stretch>
        </p:blipFill>
        <p:spPr>
          <a:xfrm>
            <a:off x="152400" y="152400"/>
            <a:ext cx="3555700" cy="2670075"/>
          </a:xfrm>
          <a:prstGeom prst="rect">
            <a:avLst/>
          </a:prstGeom>
          <a:noFill/>
          <a:ln>
            <a:noFill/>
          </a:ln>
        </p:spPr>
      </p:pic>
      <p:sp>
        <p:nvSpPr>
          <p:cNvPr id="538" name="Google Shape;538;hd72da3054435e2_33_187"/>
          <p:cNvSpPr txBox="1"/>
          <p:nvPr/>
        </p:nvSpPr>
        <p:spPr>
          <a:xfrm>
            <a:off x="152450" y="3056850"/>
            <a:ext cx="3555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CH" sz="1800">
                <a:solidFill>
                  <a:schemeClr val="dk2"/>
                </a:solidFill>
              </a:rPr>
              <a:t>GSoC session 2024-2025</a:t>
            </a:r>
            <a:endParaRPr sz="1800">
              <a:solidFill>
                <a:schemeClr val="dk2"/>
              </a:solidFill>
            </a:endParaRPr>
          </a:p>
        </p:txBody>
      </p:sp>
      <p:pic>
        <p:nvPicPr>
          <p:cNvPr id="539" name="Google Shape;539;hd72da3054435e2_33_187"/>
          <p:cNvPicPr preferRelativeResize="0"/>
          <p:nvPr/>
        </p:nvPicPr>
        <p:blipFill>
          <a:blip r:embed="rId4">
            <a:alphaModFix/>
          </a:blip>
          <a:stretch>
            <a:fillRect/>
          </a:stretch>
        </p:blipFill>
        <p:spPr>
          <a:xfrm>
            <a:off x="3860500" y="152400"/>
            <a:ext cx="4694456" cy="2670075"/>
          </a:xfrm>
          <a:prstGeom prst="rect">
            <a:avLst/>
          </a:prstGeom>
          <a:noFill/>
          <a:ln>
            <a:noFill/>
          </a:ln>
        </p:spPr>
      </p:pic>
      <p:sp>
        <p:nvSpPr>
          <p:cNvPr id="540" name="Google Shape;540;hd72da3054435e2_33_187"/>
          <p:cNvSpPr txBox="1"/>
          <p:nvPr/>
        </p:nvSpPr>
        <p:spPr>
          <a:xfrm>
            <a:off x="4638450" y="3123325"/>
            <a:ext cx="2977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CH" sz="1800">
                <a:solidFill>
                  <a:schemeClr val="dk2"/>
                </a:solidFill>
              </a:rPr>
              <a:t>SPIT Hackathon 2024-2025</a:t>
            </a:r>
            <a:endParaRPr sz="1800">
              <a:solidFill>
                <a:schemeClr val="dk2"/>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graphicFrame>
        <p:nvGraphicFramePr>
          <p:cNvPr id="545" name="Google Shape;545;hd72da3054435e2_33_239"/>
          <p:cNvGraphicFramePr/>
          <p:nvPr/>
        </p:nvGraphicFramePr>
        <p:xfrm>
          <a:off x="475275" y="1229925"/>
          <a:ext cx="3000000" cy="3000000"/>
        </p:xfrm>
        <a:graphic>
          <a:graphicData uri="http://schemas.openxmlformats.org/drawingml/2006/table">
            <a:tbl>
              <a:tblPr>
                <a:noFill/>
                <a:tableStyleId>{74466135-534C-4DE0-9D03-2267C9AB3275}</a:tableStyleId>
              </a:tblPr>
              <a:tblGrid>
                <a:gridCol w="1611175"/>
                <a:gridCol w="1611175"/>
              </a:tblGrid>
              <a:tr h="482925">
                <a:tc>
                  <a:txBody>
                    <a:bodyPr/>
                    <a:lstStyle/>
                    <a:p>
                      <a:pPr indent="0" lvl="0" marL="0" rtl="0" algn="ctr">
                        <a:lnSpc>
                          <a:spcPct val="115000"/>
                        </a:lnSpc>
                        <a:spcBef>
                          <a:spcPts val="0"/>
                        </a:spcBef>
                        <a:spcAft>
                          <a:spcPts val="0"/>
                        </a:spcAft>
                        <a:buNone/>
                      </a:pPr>
                      <a:r>
                        <a:rPr b="1" lang="de-CH">
                          <a:latin typeface="Times New Roman"/>
                          <a:ea typeface="Times New Roman"/>
                          <a:cs typeface="Times New Roman"/>
                          <a:sym typeface="Times New Roman"/>
                        </a:rPr>
                        <a:t>Name of Event</a:t>
                      </a:r>
                      <a:endParaRPr b="1">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a:latin typeface="Times New Roman"/>
                          <a:ea typeface="Times New Roman"/>
                          <a:cs typeface="Times New Roman"/>
                          <a:sym typeface="Times New Roman"/>
                        </a:rPr>
                        <a:t>Date</a:t>
                      </a:r>
                      <a:endParaRPr b="1">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4400">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Git and GitHub</a:t>
                      </a:r>
                      <a:r>
                        <a:rPr b="1" lang="de-CH" sz="1100">
                          <a:latin typeface="Times New Roman"/>
                          <a:ea typeface="Times New Roman"/>
                          <a:cs typeface="Times New Roman"/>
                          <a:sym typeface="Times New Roman"/>
                        </a:rPr>
                        <a:t> </a:t>
                      </a:r>
                      <a:r>
                        <a:rPr lang="de-CH">
                          <a:latin typeface="Times New Roman"/>
                          <a:ea typeface="Times New Roman"/>
                          <a:cs typeface="Times New Roman"/>
                          <a:sym typeface="Times New Roman"/>
                        </a:rPr>
                        <a:t>Workshop</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1st October 2025</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4400">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Code Housie</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16th October 2025</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4400">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SomETHing Decentralised</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3rd November 2025</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4400">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Pixel Perfect</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14th February 2026</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4400">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Code it Ralph</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16th February 2026</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546" name="Google Shape;546;hd72da3054435e2_33_239"/>
          <p:cNvGraphicFramePr/>
          <p:nvPr/>
        </p:nvGraphicFramePr>
        <p:xfrm>
          <a:off x="3882150" y="1238250"/>
          <a:ext cx="3000000" cy="3000000"/>
        </p:xfrm>
        <a:graphic>
          <a:graphicData uri="http://schemas.openxmlformats.org/drawingml/2006/table">
            <a:tbl>
              <a:tblPr>
                <a:noFill/>
                <a:tableStyleId>{74466135-534C-4DE0-9D03-2267C9AB3275}</a:tableStyleId>
              </a:tblPr>
              <a:tblGrid>
                <a:gridCol w="2174550"/>
                <a:gridCol w="2174550"/>
              </a:tblGrid>
              <a:tr h="381000">
                <a:tc>
                  <a:txBody>
                    <a:bodyPr/>
                    <a:lstStyle/>
                    <a:p>
                      <a:pPr indent="0" lvl="0" marL="0" rtl="0" algn="ctr">
                        <a:lnSpc>
                          <a:spcPct val="115000"/>
                        </a:lnSpc>
                        <a:spcBef>
                          <a:spcPts val="0"/>
                        </a:spcBef>
                        <a:spcAft>
                          <a:spcPts val="0"/>
                        </a:spcAft>
                        <a:buNone/>
                      </a:pPr>
                      <a:r>
                        <a:rPr b="1" lang="de-CH">
                          <a:latin typeface="Times New Roman"/>
                          <a:ea typeface="Times New Roman"/>
                          <a:cs typeface="Times New Roman"/>
                          <a:sym typeface="Times New Roman"/>
                        </a:rPr>
                        <a:t>Name of Event</a:t>
                      </a:r>
                      <a:endParaRPr b="1">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a:latin typeface="Times New Roman"/>
                          <a:ea typeface="Times New Roman"/>
                          <a:cs typeface="Times New Roman"/>
                          <a:sym typeface="Times New Roman"/>
                        </a:rPr>
                        <a:t>Date</a:t>
                      </a:r>
                      <a:endParaRPr b="1">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ML Sprint</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17th February 2026</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CTRL Fix+ Takedown</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18th February 2026</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Design Disaster</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19th February 2026</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UnSQLved</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20th February 2026</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SPIT Hackathon</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21st February 2026</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SE Hackathon</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a:latin typeface="Times New Roman"/>
                          <a:ea typeface="Times New Roman"/>
                          <a:cs typeface="Times New Roman"/>
                          <a:sym typeface="Times New Roman"/>
                        </a:rPr>
                        <a:t>18th April 2026</a:t>
                      </a:r>
                      <a:endParaRPr>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547" name="Google Shape;547;hd72da3054435e2_33_239"/>
          <p:cNvSpPr txBox="1"/>
          <p:nvPr/>
        </p:nvSpPr>
        <p:spPr>
          <a:xfrm>
            <a:off x="543525" y="410950"/>
            <a:ext cx="7687800" cy="67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de-CH" sz="2800">
                <a:solidFill>
                  <a:schemeClr val="dk2"/>
                </a:solidFill>
              </a:rPr>
              <a:t>CSI Events 2025-2026</a:t>
            </a:r>
            <a:endParaRPr sz="2800">
              <a:solidFill>
                <a:schemeClr val="dk2"/>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hd72da3054435e2_33_351"/>
          <p:cNvSpPr txBox="1"/>
          <p:nvPr/>
        </p:nvSpPr>
        <p:spPr>
          <a:xfrm>
            <a:off x="265800" y="0"/>
            <a:ext cx="8612400" cy="135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solidFill>
                <a:srgbClr val="FF0000"/>
              </a:solidFill>
              <a:highlight>
                <a:srgbClr val="FFFFFF"/>
              </a:highlight>
              <a:latin typeface="Calibri"/>
              <a:ea typeface="Calibri"/>
              <a:cs typeface="Calibri"/>
              <a:sym typeface="Calibri"/>
            </a:endParaRPr>
          </a:p>
          <a:p>
            <a:pPr indent="0" lvl="0" marL="0" rtl="0" algn="l">
              <a:spcBef>
                <a:spcPts val="0"/>
              </a:spcBef>
              <a:spcAft>
                <a:spcPts val="0"/>
              </a:spcAft>
              <a:buNone/>
            </a:pPr>
            <a:r>
              <a:rPr b="1" lang="de-CH" sz="1800">
                <a:solidFill>
                  <a:srgbClr val="221D1D"/>
                </a:solidFill>
                <a:highlight>
                  <a:srgbClr val="FFFFFF"/>
                </a:highlight>
                <a:latin typeface="Calibri"/>
                <a:ea typeface="Calibri"/>
                <a:cs typeface="Calibri"/>
                <a:sym typeface="Calibri"/>
              </a:rPr>
              <a:t>Computer Society of India(CSI)  Year 2025-2026 conducted various activities and workshops for students such as </a:t>
            </a:r>
            <a:r>
              <a:rPr lang="de-CH">
                <a:latin typeface="Times New Roman"/>
                <a:ea typeface="Times New Roman"/>
                <a:cs typeface="Times New Roman"/>
                <a:sym typeface="Times New Roman"/>
              </a:rPr>
              <a:t>Git and GitHub</a:t>
            </a:r>
            <a:r>
              <a:rPr b="1" lang="de-CH" sz="1100">
                <a:latin typeface="Times New Roman"/>
                <a:ea typeface="Times New Roman"/>
                <a:cs typeface="Times New Roman"/>
                <a:sym typeface="Times New Roman"/>
              </a:rPr>
              <a:t> </a:t>
            </a:r>
            <a:r>
              <a:rPr lang="de-CH">
                <a:latin typeface="Times New Roman"/>
                <a:ea typeface="Times New Roman"/>
                <a:cs typeface="Times New Roman"/>
                <a:sym typeface="Times New Roman"/>
              </a:rPr>
              <a:t>Workshop</a:t>
            </a:r>
            <a:r>
              <a:rPr b="1" lang="de-CH" sz="1100">
                <a:latin typeface="Times New Roman"/>
                <a:ea typeface="Times New Roman"/>
                <a:cs typeface="Times New Roman"/>
                <a:sym typeface="Times New Roman"/>
              </a:rPr>
              <a:t> ,</a:t>
            </a:r>
            <a:r>
              <a:rPr lang="de-CH">
                <a:latin typeface="Times New Roman"/>
                <a:ea typeface="Times New Roman"/>
                <a:cs typeface="Times New Roman"/>
                <a:sym typeface="Times New Roman"/>
              </a:rPr>
              <a:t>Code Housie ,SomETHing Decentralised</a:t>
            </a:r>
            <a:r>
              <a:rPr lang="de-CH" sz="1100"/>
              <a:t> ,</a:t>
            </a:r>
            <a:r>
              <a:rPr lang="de-CH">
                <a:latin typeface="Times New Roman"/>
                <a:ea typeface="Times New Roman"/>
                <a:cs typeface="Times New Roman"/>
                <a:sym typeface="Times New Roman"/>
              </a:rPr>
              <a:t>Pixel Perfect</a:t>
            </a:r>
            <a:r>
              <a:rPr lang="de-CH" sz="1100"/>
              <a:t> ,</a:t>
            </a:r>
            <a:r>
              <a:rPr lang="de-CH">
                <a:latin typeface="Times New Roman"/>
                <a:ea typeface="Times New Roman"/>
                <a:cs typeface="Times New Roman"/>
                <a:sym typeface="Times New Roman"/>
              </a:rPr>
              <a:t>Code it Ralph</a:t>
            </a:r>
            <a:r>
              <a:rPr lang="de-CH" sz="1100"/>
              <a:t> ,</a:t>
            </a:r>
            <a:r>
              <a:rPr lang="de-CH">
                <a:latin typeface="Times New Roman"/>
                <a:ea typeface="Times New Roman"/>
                <a:cs typeface="Times New Roman"/>
                <a:sym typeface="Times New Roman"/>
              </a:rPr>
              <a:t>ML Sprint</a:t>
            </a:r>
            <a:r>
              <a:rPr lang="de-CH" sz="1100"/>
              <a:t> ,</a:t>
            </a:r>
            <a:r>
              <a:rPr lang="de-CH">
                <a:latin typeface="Times New Roman"/>
                <a:ea typeface="Times New Roman"/>
                <a:cs typeface="Times New Roman"/>
                <a:sym typeface="Times New Roman"/>
              </a:rPr>
              <a:t>Design Disaster</a:t>
            </a:r>
            <a:r>
              <a:rPr lang="de-CH" sz="1100"/>
              <a:t> ,</a:t>
            </a:r>
            <a:r>
              <a:rPr lang="de-CH">
                <a:latin typeface="Times New Roman"/>
                <a:ea typeface="Times New Roman"/>
                <a:cs typeface="Times New Roman"/>
                <a:sym typeface="Times New Roman"/>
              </a:rPr>
              <a:t>UnSQLved</a:t>
            </a:r>
            <a:r>
              <a:rPr lang="de-CH" sz="1100"/>
              <a:t> ,</a:t>
            </a:r>
            <a:r>
              <a:rPr lang="de-CH">
                <a:latin typeface="Times New Roman"/>
                <a:ea typeface="Times New Roman"/>
                <a:cs typeface="Times New Roman"/>
                <a:sym typeface="Times New Roman"/>
              </a:rPr>
              <a:t>SPIT Hackathon</a:t>
            </a:r>
            <a:r>
              <a:rPr lang="de-CH" sz="1100"/>
              <a:t> and </a:t>
            </a:r>
            <a:r>
              <a:rPr lang="de-CH">
                <a:latin typeface="Times New Roman"/>
                <a:ea typeface="Times New Roman"/>
                <a:cs typeface="Times New Roman"/>
                <a:sym typeface="Times New Roman"/>
              </a:rPr>
              <a:t>SE Hackathon etc</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a:p>
            <a:pPr indent="0" lvl="0" marL="914400" rtl="0" algn="ctr">
              <a:lnSpc>
                <a:spcPct val="115000"/>
              </a:lnSpc>
              <a:spcBef>
                <a:spcPts val="1200"/>
              </a:spcBef>
              <a:spcAft>
                <a:spcPts val="1200"/>
              </a:spcAft>
              <a:buNone/>
            </a:pPr>
            <a:r>
              <a:t/>
            </a:r>
            <a:endParaRPr b="1" sz="3000">
              <a:solidFill>
                <a:srgbClr val="EF6C00"/>
              </a:solidFill>
              <a:highlight>
                <a:srgbClr val="FF0000"/>
              </a:highlight>
              <a:latin typeface="PT Sans Narrow"/>
              <a:ea typeface="PT Sans Narrow"/>
              <a:cs typeface="PT Sans Narrow"/>
              <a:sym typeface="PT Sans Narrow"/>
            </a:endParaRPr>
          </a:p>
        </p:txBody>
      </p:sp>
      <p:pic>
        <p:nvPicPr>
          <p:cNvPr id="553" name="Google Shape;553;hd72da3054435e2_33_351"/>
          <p:cNvPicPr preferRelativeResize="0"/>
          <p:nvPr/>
        </p:nvPicPr>
        <p:blipFill rotWithShape="1">
          <a:blip r:embed="rId3">
            <a:alphaModFix/>
          </a:blip>
          <a:srcRect b="23360" l="12768" r="22056" t="15215"/>
          <a:stretch/>
        </p:blipFill>
        <p:spPr>
          <a:xfrm>
            <a:off x="575175" y="1881475"/>
            <a:ext cx="3948154" cy="2363875"/>
          </a:xfrm>
          <a:prstGeom prst="rect">
            <a:avLst/>
          </a:prstGeom>
          <a:noFill/>
          <a:ln>
            <a:noFill/>
          </a:ln>
        </p:spPr>
      </p:pic>
      <p:pic>
        <p:nvPicPr>
          <p:cNvPr id="554" name="Google Shape;554;hd72da3054435e2_33_351"/>
          <p:cNvPicPr preferRelativeResize="0"/>
          <p:nvPr/>
        </p:nvPicPr>
        <p:blipFill>
          <a:blip r:embed="rId4">
            <a:alphaModFix/>
          </a:blip>
          <a:stretch>
            <a:fillRect/>
          </a:stretch>
        </p:blipFill>
        <p:spPr>
          <a:xfrm>
            <a:off x="5272141" y="1881475"/>
            <a:ext cx="3296659" cy="2363875"/>
          </a:xfrm>
          <a:prstGeom prst="rect">
            <a:avLst/>
          </a:prstGeom>
          <a:noFill/>
          <a:ln>
            <a:noFill/>
          </a:ln>
        </p:spPr>
      </p:pic>
      <p:sp>
        <p:nvSpPr>
          <p:cNvPr id="555" name="Google Shape;555;hd72da3054435e2_33_351"/>
          <p:cNvSpPr txBox="1"/>
          <p:nvPr/>
        </p:nvSpPr>
        <p:spPr>
          <a:xfrm>
            <a:off x="1226625" y="4309675"/>
            <a:ext cx="3296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rgbClr val="695D46"/>
              </a:solidFill>
              <a:latin typeface="Open Sans"/>
              <a:ea typeface="Open Sans"/>
              <a:cs typeface="Open Sans"/>
              <a:sym typeface="Open Sans"/>
            </a:endParaRPr>
          </a:p>
        </p:txBody>
      </p:sp>
      <p:sp>
        <p:nvSpPr>
          <p:cNvPr id="556" name="Google Shape;556;hd72da3054435e2_33_351"/>
          <p:cNvSpPr txBox="1"/>
          <p:nvPr/>
        </p:nvSpPr>
        <p:spPr>
          <a:xfrm>
            <a:off x="5272125" y="4245350"/>
            <a:ext cx="3296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CH" sz="1800">
                <a:solidFill>
                  <a:srgbClr val="695D46"/>
                </a:solidFill>
                <a:latin typeface="Open Sans"/>
                <a:ea typeface="Open Sans"/>
                <a:cs typeface="Open Sans"/>
                <a:sym typeface="Open Sans"/>
              </a:rPr>
              <a:t>SPIT Hackathon</a:t>
            </a:r>
            <a:endParaRPr sz="1800">
              <a:solidFill>
                <a:srgbClr val="695D46"/>
              </a:solidFill>
              <a:latin typeface="Open Sans"/>
              <a:ea typeface="Open Sans"/>
              <a:cs typeface="Open Sans"/>
              <a:sym typeface="Open Sans"/>
            </a:endParaRPr>
          </a:p>
        </p:txBody>
      </p:sp>
      <p:sp>
        <p:nvSpPr>
          <p:cNvPr id="557" name="Google Shape;557;hd72da3054435e2_33_351"/>
          <p:cNvSpPr txBox="1"/>
          <p:nvPr/>
        </p:nvSpPr>
        <p:spPr>
          <a:xfrm>
            <a:off x="1299475" y="4382550"/>
            <a:ext cx="3296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CH" sz="1800">
                <a:solidFill>
                  <a:srgbClr val="695D46"/>
                </a:solidFill>
                <a:latin typeface="Open Sans"/>
                <a:ea typeface="Open Sans"/>
                <a:cs typeface="Open Sans"/>
                <a:sym typeface="Open Sans"/>
              </a:rPr>
              <a:t>GitHub session</a:t>
            </a:r>
            <a:endParaRPr sz="1800">
              <a:solidFill>
                <a:srgbClr val="695D46"/>
              </a:solidFill>
              <a:latin typeface="Open Sans"/>
              <a:ea typeface="Open Sans"/>
              <a:cs typeface="Open Sans"/>
              <a:sym typeface="Open Sans"/>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h7b893a0582d097ac_1_99"/>
          <p:cNvSpPr txBox="1"/>
          <p:nvPr>
            <p:ph type="title"/>
          </p:nvPr>
        </p:nvSpPr>
        <p:spPr>
          <a:xfrm>
            <a:off x="231025" y="738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1100"/>
              <a:buFont typeface="Arial"/>
              <a:buNone/>
            </a:pPr>
            <a:r>
              <a:rPr lang="de-CH" sz="1800">
                <a:latin typeface="Times New Roman"/>
                <a:ea typeface="Times New Roman"/>
                <a:cs typeface="Times New Roman"/>
                <a:sym typeface="Times New Roman"/>
              </a:rPr>
              <a:t>E.6.</a:t>
            </a:r>
            <a:r>
              <a:rPr b="0" lang="de-CH" sz="1800">
                <a:solidFill>
                  <a:srgbClr val="000000"/>
                </a:solidFill>
                <a:latin typeface="Calibri"/>
                <a:ea typeface="Calibri"/>
                <a:cs typeface="Calibri"/>
                <a:sym typeface="Calibri"/>
              </a:rPr>
              <a:t>Institute promotes the culture of student clubs. Students are motivated and encouraged to start dedicated, focused student clubs with diversified objectives.- </a:t>
            </a:r>
            <a:r>
              <a:rPr lang="de-CH" sz="3000">
                <a:solidFill>
                  <a:srgbClr val="000000"/>
                </a:solidFill>
                <a:highlight>
                  <a:schemeClr val="lt1"/>
                </a:highlight>
                <a:latin typeface="Calibri"/>
                <a:ea typeface="Calibri"/>
                <a:cs typeface="Calibri"/>
                <a:sym typeface="Calibri"/>
              </a:rPr>
              <a:t> </a:t>
            </a:r>
            <a:r>
              <a:rPr lang="de-CH" sz="3000">
                <a:solidFill>
                  <a:srgbClr val="FF0000"/>
                </a:solidFill>
                <a:highlight>
                  <a:schemeClr val="lt1"/>
                </a:highlight>
                <a:latin typeface="Calibri"/>
                <a:ea typeface="Calibri"/>
                <a:cs typeface="Calibri"/>
                <a:sym typeface="Calibri"/>
              </a:rPr>
              <a:t>PJB</a:t>
            </a:r>
            <a:r>
              <a:rPr lang="de-CH" sz="3000">
                <a:solidFill>
                  <a:srgbClr val="FF0000"/>
                </a:solidFill>
                <a:highlight>
                  <a:schemeClr val="lt1"/>
                </a:highlight>
                <a:latin typeface="Calibri"/>
                <a:ea typeface="Calibri"/>
                <a:cs typeface="Calibri"/>
                <a:sym typeface="Calibri"/>
              </a:rPr>
              <a:t> (IEEE)</a:t>
            </a:r>
            <a:endParaRPr sz="3000">
              <a:solidFill>
                <a:srgbClr val="FF0000"/>
              </a:solidFill>
              <a:highlight>
                <a:schemeClr val="lt1"/>
              </a:highlight>
            </a:endParaRPr>
          </a:p>
          <a:p>
            <a:pPr indent="0" lvl="0" marL="914400" rtl="0" algn="ctr">
              <a:lnSpc>
                <a:spcPct val="115000"/>
              </a:lnSpc>
              <a:spcBef>
                <a:spcPts val="1200"/>
              </a:spcBef>
              <a:spcAft>
                <a:spcPts val="1200"/>
              </a:spcAft>
              <a:buSzPts val="3600"/>
              <a:buNone/>
            </a:pPr>
            <a:r>
              <a:t/>
            </a:r>
            <a:endParaRPr sz="3000">
              <a:highlight>
                <a:srgbClr val="FF0000"/>
              </a:highlight>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h7b893a0582d097ac_1_103"/>
          <p:cNvSpPr txBox="1"/>
          <p:nvPr>
            <p:ph type="title"/>
          </p:nvPr>
        </p:nvSpPr>
        <p:spPr>
          <a:xfrm>
            <a:off x="231025" y="738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1100"/>
              <a:buFont typeface="Arial"/>
              <a:buNone/>
            </a:pPr>
            <a:r>
              <a:rPr lang="de-CH" sz="1800">
                <a:latin typeface="Times New Roman"/>
                <a:ea typeface="Times New Roman"/>
                <a:cs typeface="Times New Roman"/>
                <a:sym typeface="Times New Roman"/>
              </a:rPr>
              <a:t>E.6.</a:t>
            </a:r>
            <a:r>
              <a:rPr b="0" lang="de-CH" sz="1800">
                <a:solidFill>
                  <a:srgbClr val="000000"/>
                </a:solidFill>
                <a:latin typeface="Calibri"/>
                <a:ea typeface="Calibri"/>
                <a:cs typeface="Calibri"/>
                <a:sym typeface="Calibri"/>
              </a:rPr>
              <a:t>Institute promotes the culture of student clubs. Students are motivated and encouraged to start dedicated, focused student clubs with diversified objectives.- </a:t>
            </a:r>
            <a:r>
              <a:rPr lang="de-CH" sz="3000">
                <a:solidFill>
                  <a:srgbClr val="000000"/>
                </a:solidFill>
                <a:highlight>
                  <a:schemeClr val="lt1"/>
                </a:highlight>
                <a:latin typeface="Calibri"/>
                <a:ea typeface="Calibri"/>
                <a:cs typeface="Calibri"/>
                <a:sym typeface="Calibri"/>
              </a:rPr>
              <a:t> </a:t>
            </a:r>
            <a:r>
              <a:rPr lang="de-CH" sz="3000">
                <a:solidFill>
                  <a:srgbClr val="FF0000"/>
                </a:solidFill>
                <a:highlight>
                  <a:schemeClr val="lt1"/>
                </a:highlight>
                <a:latin typeface="Calibri"/>
                <a:ea typeface="Calibri"/>
                <a:cs typeface="Calibri"/>
                <a:sym typeface="Calibri"/>
              </a:rPr>
              <a:t>SRD</a:t>
            </a:r>
            <a:r>
              <a:rPr lang="de-CH" sz="3000">
                <a:solidFill>
                  <a:srgbClr val="FF0000"/>
                </a:solidFill>
                <a:highlight>
                  <a:schemeClr val="lt1"/>
                </a:highlight>
                <a:latin typeface="Calibri"/>
                <a:ea typeface="Calibri"/>
                <a:cs typeface="Calibri"/>
                <a:sym typeface="Calibri"/>
              </a:rPr>
              <a:t> (FACE)</a:t>
            </a:r>
            <a:endParaRPr sz="3000">
              <a:solidFill>
                <a:srgbClr val="FF0000"/>
              </a:solidFill>
              <a:highlight>
                <a:schemeClr val="lt1"/>
              </a:highlight>
            </a:endParaRPr>
          </a:p>
          <a:p>
            <a:pPr indent="0" lvl="0" marL="914400" rtl="0" algn="ctr">
              <a:lnSpc>
                <a:spcPct val="115000"/>
              </a:lnSpc>
              <a:spcBef>
                <a:spcPts val="1200"/>
              </a:spcBef>
              <a:spcAft>
                <a:spcPts val="1200"/>
              </a:spcAft>
              <a:buSzPts val="3600"/>
              <a:buNone/>
            </a:pPr>
            <a:r>
              <a:t/>
            </a:r>
            <a:endParaRPr sz="3000">
              <a:highlight>
                <a:srgbClr val="FF0000"/>
              </a:highlight>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hd72da3054435e2_17_5"/>
          <p:cNvSpPr txBox="1"/>
          <p:nvPr>
            <p:ph type="title"/>
          </p:nvPr>
        </p:nvSpPr>
        <p:spPr>
          <a:xfrm>
            <a:off x="231025" y="738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1100"/>
              <a:buFont typeface="Arial"/>
              <a:buNone/>
            </a:pPr>
            <a:r>
              <a:rPr lang="de-CH" sz="1800">
                <a:latin typeface="Times New Roman"/>
                <a:ea typeface="Times New Roman"/>
                <a:cs typeface="Times New Roman"/>
                <a:sym typeface="Times New Roman"/>
              </a:rPr>
              <a:t>E.6.</a:t>
            </a:r>
            <a:r>
              <a:rPr b="0" lang="de-CH" sz="1800">
                <a:solidFill>
                  <a:srgbClr val="000000"/>
                </a:solidFill>
                <a:latin typeface="Calibri"/>
                <a:ea typeface="Calibri"/>
                <a:cs typeface="Calibri"/>
                <a:sym typeface="Calibri"/>
              </a:rPr>
              <a:t>Institute promotes the culture of student clubs. Students are motivated and encouraged to start dedicated, focused student clubs with diversified objectives.- </a:t>
            </a:r>
            <a:r>
              <a:rPr lang="de-CH" sz="3000">
                <a:solidFill>
                  <a:srgbClr val="000000"/>
                </a:solidFill>
                <a:highlight>
                  <a:schemeClr val="lt1"/>
                </a:highlight>
                <a:latin typeface="Calibri"/>
                <a:ea typeface="Calibri"/>
                <a:cs typeface="Calibri"/>
                <a:sym typeface="Calibri"/>
              </a:rPr>
              <a:t> </a:t>
            </a:r>
            <a:r>
              <a:rPr lang="de-CH" sz="3000">
                <a:solidFill>
                  <a:srgbClr val="FF0000"/>
                </a:solidFill>
                <a:highlight>
                  <a:schemeClr val="lt1"/>
                </a:highlight>
                <a:latin typeface="Calibri"/>
                <a:ea typeface="Calibri"/>
                <a:cs typeface="Calibri"/>
                <a:sym typeface="Calibri"/>
              </a:rPr>
              <a:t>KKD</a:t>
            </a:r>
            <a:r>
              <a:rPr lang="de-CH" sz="3000">
                <a:solidFill>
                  <a:srgbClr val="FF0000"/>
                </a:solidFill>
                <a:highlight>
                  <a:schemeClr val="lt1"/>
                </a:highlight>
                <a:latin typeface="Calibri"/>
                <a:ea typeface="Calibri"/>
                <a:cs typeface="Calibri"/>
                <a:sym typeface="Calibri"/>
              </a:rPr>
              <a:t> (CSI)</a:t>
            </a:r>
            <a:endParaRPr sz="3000">
              <a:solidFill>
                <a:srgbClr val="FF0000"/>
              </a:solidFill>
              <a:highlight>
                <a:schemeClr val="lt1"/>
              </a:highlight>
            </a:endParaRPr>
          </a:p>
          <a:p>
            <a:pPr indent="0" lvl="0" marL="914400" rtl="0" algn="ctr">
              <a:lnSpc>
                <a:spcPct val="115000"/>
              </a:lnSpc>
              <a:spcBef>
                <a:spcPts val="1200"/>
              </a:spcBef>
              <a:spcAft>
                <a:spcPts val="1200"/>
              </a:spcAft>
              <a:buSzPts val="3600"/>
              <a:buNone/>
            </a:pPr>
            <a:r>
              <a:t/>
            </a:r>
            <a:endParaRPr sz="3000">
              <a:highlight>
                <a:srgbClr val="FF0000"/>
              </a:highlight>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h7b893a0582d097ac_1_90"/>
          <p:cNvSpPr txBox="1"/>
          <p:nvPr>
            <p:ph type="title"/>
          </p:nvPr>
        </p:nvSpPr>
        <p:spPr>
          <a:xfrm>
            <a:off x="231025" y="73825"/>
            <a:ext cx="8520600" cy="707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2"/>
              </a:buClr>
              <a:buSzPts val="1100"/>
              <a:buFont typeface="Arial"/>
              <a:buNone/>
            </a:pPr>
            <a:r>
              <a:rPr lang="de-CH" sz="1800">
                <a:latin typeface="Times New Roman"/>
                <a:ea typeface="Times New Roman"/>
                <a:cs typeface="Times New Roman"/>
                <a:sym typeface="Times New Roman"/>
              </a:rPr>
              <a:t>E.7.</a:t>
            </a:r>
            <a:r>
              <a:rPr b="0" lang="de-CH" sz="1800">
                <a:solidFill>
                  <a:srgbClr val="000000"/>
                </a:solidFill>
                <a:latin typeface="Calibri"/>
                <a:ea typeface="Calibri"/>
                <a:cs typeface="Calibri"/>
                <a:sym typeface="Calibri"/>
              </a:rPr>
              <a:t>Student achievements, awards and recognitions. </a:t>
            </a:r>
            <a:r>
              <a:rPr b="0" lang="de-CH" sz="1800">
                <a:solidFill>
                  <a:srgbClr val="000000"/>
                </a:solidFill>
                <a:highlight>
                  <a:schemeClr val="lt1"/>
                </a:highlight>
                <a:latin typeface="Calibri"/>
                <a:ea typeface="Calibri"/>
                <a:cs typeface="Calibri"/>
                <a:sym typeface="Calibri"/>
              </a:rPr>
              <a:t> </a:t>
            </a:r>
            <a:r>
              <a:rPr lang="de-CH" sz="3000">
                <a:solidFill>
                  <a:srgbClr val="000000"/>
                </a:solidFill>
                <a:highlight>
                  <a:schemeClr val="lt1"/>
                </a:highlight>
                <a:latin typeface="Calibri"/>
                <a:ea typeface="Calibri"/>
                <a:cs typeface="Calibri"/>
                <a:sym typeface="Calibri"/>
              </a:rPr>
              <a:t> </a:t>
            </a:r>
            <a:r>
              <a:rPr lang="de-CH" sz="3000">
                <a:solidFill>
                  <a:srgbClr val="FF0000"/>
                </a:solidFill>
                <a:highlight>
                  <a:schemeClr val="lt1"/>
                </a:highlight>
                <a:latin typeface="Calibri"/>
                <a:ea typeface="Calibri"/>
                <a:cs typeface="Calibri"/>
                <a:sym typeface="Calibri"/>
              </a:rPr>
              <a:t>JS</a:t>
            </a:r>
            <a:endParaRPr sz="3000">
              <a:solidFill>
                <a:srgbClr val="FF0000"/>
              </a:solidFill>
              <a:highlight>
                <a:schemeClr val="lt1"/>
              </a:highlight>
            </a:endParaRPr>
          </a:p>
          <a:p>
            <a:pPr indent="0" lvl="0" marL="914400" rtl="0" algn="ctr">
              <a:lnSpc>
                <a:spcPct val="115000"/>
              </a:lnSpc>
              <a:spcBef>
                <a:spcPts val="1200"/>
              </a:spcBef>
              <a:spcAft>
                <a:spcPts val="1200"/>
              </a:spcAft>
              <a:buSzPts val="3600"/>
              <a:buNone/>
            </a:pPr>
            <a:r>
              <a:t/>
            </a:r>
            <a:endParaRPr sz="3000">
              <a:highlight>
                <a:srgbClr val="FF0000"/>
              </a:highlight>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h7b893a0582d097ac_1_94"/>
          <p:cNvSpPr txBox="1"/>
          <p:nvPr>
            <p:ph type="title"/>
          </p:nvPr>
        </p:nvSpPr>
        <p:spPr>
          <a:xfrm>
            <a:off x="231025" y="73825"/>
            <a:ext cx="7256100" cy="10053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2"/>
              </a:buClr>
              <a:buSzPts val="1100"/>
              <a:buFont typeface="Arial"/>
              <a:buNone/>
            </a:pPr>
            <a:r>
              <a:rPr lang="de-CH" sz="1800">
                <a:latin typeface="Times New Roman"/>
                <a:ea typeface="Times New Roman"/>
                <a:cs typeface="Times New Roman"/>
                <a:sym typeface="Times New Roman"/>
              </a:rPr>
              <a:t>E.8. </a:t>
            </a:r>
            <a:r>
              <a:rPr b="0" lang="de-CH" sz="1800">
                <a:solidFill>
                  <a:srgbClr val="000000"/>
                </a:solidFill>
                <a:latin typeface="Calibri"/>
                <a:ea typeface="Calibri"/>
                <a:cs typeface="Calibri"/>
                <a:sym typeface="Calibri"/>
              </a:rPr>
              <a:t>Student competency in terms of placements in reputed industries. Percentage placement, average salary, median salary of the graduating batch of the program</a:t>
            </a:r>
            <a:r>
              <a:rPr b="0" lang="de-CH" sz="1800">
                <a:solidFill>
                  <a:srgbClr val="000000"/>
                </a:solidFill>
                <a:highlight>
                  <a:schemeClr val="lt1"/>
                </a:highlight>
                <a:latin typeface="Calibri"/>
                <a:ea typeface="Calibri"/>
                <a:cs typeface="Calibri"/>
                <a:sym typeface="Calibri"/>
              </a:rPr>
              <a:t> </a:t>
            </a:r>
            <a:r>
              <a:rPr lang="de-CH" sz="3000">
                <a:solidFill>
                  <a:srgbClr val="000000"/>
                </a:solidFill>
                <a:highlight>
                  <a:schemeClr val="lt1"/>
                </a:highlight>
                <a:latin typeface="Calibri"/>
                <a:ea typeface="Calibri"/>
                <a:cs typeface="Calibri"/>
                <a:sym typeface="Calibri"/>
              </a:rPr>
              <a:t> </a:t>
            </a:r>
            <a:r>
              <a:rPr lang="de-CH" sz="3000">
                <a:solidFill>
                  <a:srgbClr val="FF0000"/>
                </a:solidFill>
                <a:highlight>
                  <a:schemeClr val="lt1"/>
                </a:highlight>
                <a:latin typeface="Calibri"/>
                <a:ea typeface="Calibri"/>
                <a:cs typeface="Calibri"/>
                <a:sym typeface="Calibri"/>
              </a:rPr>
              <a:t>SK</a:t>
            </a:r>
            <a:endParaRPr sz="3000">
              <a:solidFill>
                <a:srgbClr val="FF0000"/>
              </a:solidFill>
              <a:highlight>
                <a:schemeClr val="lt1"/>
              </a:highlight>
            </a:endParaRPr>
          </a:p>
          <a:p>
            <a:pPr indent="0" lvl="0" marL="914400" rtl="0" algn="ctr">
              <a:lnSpc>
                <a:spcPct val="115000"/>
              </a:lnSpc>
              <a:spcBef>
                <a:spcPts val="1200"/>
              </a:spcBef>
              <a:spcAft>
                <a:spcPts val="1200"/>
              </a:spcAft>
              <a:buSzPts val="3600"/>
              <a:buNone/>
            </a:pPr>
            <a:r>
              <a:t/>
            </a:r>
            <a:endParaRPr sz="3000">
              <a:highlight>
                <a:srgbClr val="FF0000"/>
              </a:highlight>
            </a:endParaRPr>
          </a:p>
        </p:txBody>
      </p:sp>
      <p:pic>
        <p:nvPicPr>
          <p:cNvPr id="583" name="Google Shape;583;h7b893a0582d097ac_1_94" title="Chart"/>
          <p:cNvPicPr preferRelativeResize="0"/>
          <p:nvPr/>
        </p:nvPicPr>
        <p:blipFill>
          <a:blip r:embed="rId3">
            <a:alphaModFix/>
          </a:blip>
          <a:stretch>
            <a:fillRect/>
          </a:stretch>
        </p:blipFill>
        <p:spPr>
          <a:xfrm>
            <a:off x="152400" y="1435425"/>
            <a:ext cx="4359451" cy="3555675"/>
          </a:xfrm>
          <a:prstGeom prst="rect">
            <a:avLst/>
          </a:prstGeom>
          <a:noFill/>
          <a:ln>
            <a:noFill/>
          </a:ln>
        </p:spPr>
      </p:pic>
      <p:pic>
        <p:nvPicPr>
          <p:cNvPr id="584" name="Google Shape;584;h7b893a0582d097ac_1_94" title="Chart"/>
          <p:cNvPicPr preferRelativeResize="0"/>
          <p:nvPr/>
        </p:nvPicPr>
        <p:blipFill>
          <a:blip r:embed="rId4">
            <a:alphaModFix/>
          </a:blip>
          <a:stretch>
            <a:fillRect/>
          </a:stretch>
        </p:blipFill>
        <p:spPr>
          <a:xfrm>
            <a:off x="4664250" y="1587825"/>
            <a:ext cx="4327350" cy="3403275"/>
          </a:xfrm>
          <a:prstGeom prst="rect">
            <a:avLst/>
          </a:prstGeom>
          <a:noFill/>
          <a:ln>
            <a:noFill/>
          </a:ln>
        </p:spPr>
      </p:pic>
      <p:pic>
        <p:nvPicPr>
          <p:cNvPr id="585" name="Google Shape;585;h7b893a0582d097ac_1_94"/>
          <p:cNvPicPr preferRelativeResize="0"/>
          <p:nvPr/>
        </p:nvPicPr>
        <p:blipFill>
          <a:blip r:embed="rId5">
            <a:alphaModFix/>
          </a:blip>
          <a:stretch>
            <a:fillRect/>
          </a:stretch>
        </p:blipFill>
        <p:spPr>
          <a:xfrm>
            <a:off x="7487025" y="0"/>
            <a:ext cx="1656975" cy="1079125"/>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hd72da3054435e2_12_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CH"/>
              <a:t>Highest, A</a:t>
            </a:r>
            <a:r>
              <a:rPr lang="de-CH"/>
              <a:t>verage and Median salary</a:t>
            </a:r>
            <a:endParaRPr/>
          </a:p>
        </p:txBody>
      </p:sp>
      <p:sp>
        <p:nvSpPr>
          <p:cNvPr id="591" name="Google Shape;591;hd72da3054435e2_12_0"/>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graphicFrame>
        <p:nvGraphicFramePr>
          <p:cNvPr id="592" name="Google Shape;592;hd72da3054435e2_12_0"/>
          <p:cNvGraphicFramePr/>
          <p:nvPr/>
        </p:nvGraphicFramePr>
        <p:xfrm>
          <a:off x="813800" y="1266325"/>
          <a:ext cx="3000000" cy="3000000"/>
        </p:xfrm>
        <a:graphic>
          <a:graphicData uri="http://schemas.openxmlformats.org/drawingml/2006/table">
            <a:tbl>
              <a:tblPr>
                <a:noFill/>
                <a:tableStyleId>{74466135-534C-4DE0-9D03-2267C9AB3275}</a:tableStyleId>
              </a:tblPr>
              <a:tblGrid>
                <a:gridCol w="1193525"/>
                <a:gridCol w="738850"/>
                <a:gridCol w="829775"/>
                <a:gridCol w="920775"/>
                <a:gridCol w="920775"/>
                <a:gridCol w="920775"/>
                <a:gridCol w="920775"/>
              </a:tblGrid>
              <a:tr h="322575">
                <a:tc>
                  <a:txBody>
                    <a:bodyPr/>
                    <a:lstStyle/>
                    <a:p>
                      <a:pPr indent="0" lvl="0" marL="0" rtl="0" algn="ctr">
                        <a:spcBef>
                          <a:spcPts val="0"/>
                        </a:spcBef>
                        <a:spcAft>
                          <a:spcPts val="0"/>
                        </a:spcAft>
                        <a:buNone/>
                      </a:pPr>
                      <a:r>
                        <a:t/>
                      </a:r>
                      <a:endParaRPr/>
                    </a:p>
                  </a:txBody>
                  <a:tcPr marT="19050" marB="19050"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1200"/>
                        <a:t>2020-21</a:t>
                      </a:r>
                      <a:endParaRPr b="1" sz="1200"/>
                    </a:p>
                  </a:txBody>
                  <a:tcPr marT="19050" marB="19050"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1200"/>
                        <a:t>2021-22</a:t>
                      </a:r>
                      <a:endParaRPr b="1" sz="1200"/>
                    </a:p>
                  </a:txBody>
                  <a:tcPr marT="19050" marB="19050"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1200"/>
                        <a:t>2022-23</a:t>
                      </a:r>
                      <a:endParaRPr b="1" sz="1200"/>
                    </a:p>
                  </a:txBody>
                  <a:tcPr marT="19050" marB="19050"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1200"/>
                        <a:t>2023-24</a:t>
                      </a:r>
                      <a:endParaRPr b="1" sz="1200"/>
                    </a:p>
                  </a:txBody>
                  <a:tcPr marT="19050" marB="19050"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1200"/>
                        <a:t>2024-25</a:t>
                      </a:r>
                      <a:endParaRPr b="1" sz="1200"/>
                    </a:p>
                  </a:txBody>
                  <a:tcPr marT="19050" marB="19050"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de-CH" sz="1200"/>
                        <a:t>2025-26</a:t>
                      </a:r>
                      <a:endParaRPr b="1" sz="1200"/>
                    </a:p>
                  </a:txBody>
                  <a:tcPr marT="19050" marB="19050"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221725">
                <a:tc>
                  <a:txBody>
                    <a:bodyPr/>
                    <a:lstStyle/>
                    <a:p>
                      <a:pPr indent="0" lvl="0" marL="0" rtl="0" algn="ctr">
                        <a:lnSpc>
                          <a:spcPct val="115000"/>
                        </a:lnSpc>
                        <a:spcBef>
                          <a:spcPts val="0"/>
                        </a:spcBef>
                        <a:spcAft>
                          <a:spcPts val="0"/>
                        </a:spcAft>
                        <a:buNone/>
                      </a:pPr>
                      <a:r>
                        <a:rPr b="1" lang="de-CH" sz="1200"/>
                        <a:t>Highest Salary</a:t>
                      </a:r>
                      <a:endParaRPr b="1" sz="1200"/>
                    </a:p>
                  </a:txBody>
                  <a:tcPr marT="19050" marB="19050"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200"/>
                        <a:t>42</a:t>
                      </a:r>
                      <a:endParaRPr sz="1200"/>
                    </a:p>
                  </a:txBody>
                  <a:tcPr marT="19050" marB="19050"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200"/>
                        <a:t>30.5</a:t>
                      </a:r>
                      <a:endParaRPr sz="1200"/>
                    </a:p>
                  </a:txBody>
                  <a:tcPr marT="19050" marB="19050"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200"/>
                        <a:t>110</a:t>
                      </a:r>
                      <a:endParaRPr sz="1200"/>
                    </a:p>
                  </a:txBody>
                  <a:tcPr marT="19050" marB="19050"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200"/>
                        <a:t>50</a:t>
                      </a:r>
                      <a:endParaRPr sz="1200"/>
                    </a:p>
                  </a:txBody>
                  <a:tcPr marT="19050" marB="19050"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200"/>
                        <a:t>50</a:t>
                      </a:r>
                      <a:endParaRPr sz="1200"/>
                    </a:p>
                  </a:txBody>
                  <a:tcPr marT="19050" marB="19050"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200"/>
                        <a:t>33</a:t>
                      </a:r>
                      <a:endParaRPr sz="1200"/>
                    </a:p>
                  </a:txBody>
                  <a:tcPr marT="19050" marB="19050"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279575">
                <a:tc>
                  <a:txBody>
                    <a:bodyPr/>
                    <a:lstStyle/>
                    <a:p>
                      <a:pPr indent="0" lvl="0" marL="0" rtl="0" algn="ctr">
                        <a:lnSpc>
                          <a:spcPct val="115000"/>
                        </a:lnSpc>
                        <a:spcBef>
                          <a:spcPts val="0"/>
                        </a:spcBef>
                        <a:spcAft>
                          <a:spcPts val="0"/>
                        </a:spcAft>
                        <a:buNone/>
                      </a:pPr>
                      <a:r>
                        <a:rPr b="1" lang="de-CH" sz="1200"/>
                        <a:t>Average Salary</a:t>
                      </a:r>
                      <a:endParaRPr b="1" sz="1200"/>
                    </a:p>
                  </a:txBody>
                  <a:tcPr marT="19050" marB="19050"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200"/>
                        <a:t>13.95</a:t>
                      </a:r>
                      <a:endParaRPr sz="1200"/>
                    </a:p>
                  </a:txBody>
                  <a:tcPr marT="19050" marB="19050"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200"/>
                        <a:t>14.77</a:t>
                      </a:r>
                      <a:endParaRPr sz="1200"/>
                    </a:p>
                  </a:txBody>
                  <a:tcPr marT="19050" marB="19050"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200"/>
                        <a:t>19.04</a:t>
                      </a:r>
                      <a:endParaRPr sz="1200"/>
                    </a:p>
                  </a:txBody>
                  <a:tcPr marT="19050" marB="19050"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200"/>
                        <a:t>17.33</a:t>
                      </a:r>
                      <a:endParaRPr sz="1200"/>
                    </a:p>
                  </a:txBody>
                  <a:tcPr marT="19050" marB="19050"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200"/>
                        <a:t>15.63</a:t>
                      </a:r>
                      <a:endParaRPr sz="1200"/>
                    </a:p>
                  </a:txBody>
                  <a:tcPr marT="19050" marB="19050"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200"/>
                        <a:t>13.1</a:t>
                      </a:r>
                      <a:endParaRPr sz="1200"/>
                    </a:p>
                  </a:txBody>
                  <a:tcPr marT="19050" marB="19050"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234325">
                <a:tc>
                  <a:txBody>
                    <a:bodyPr/>
                    <a:lstStyle/>
                    <a:p>
                      <a:pPr indent="0" lvl="0" marL="0" rtl="0" algn="ctr">
                        <a:lnSpc>
                          <a:spcPct val="115000"/>
                        </a:lnSpc>
                        <a:spcBef>
                          <a:spcPts val="0"/>
                        </a:spcBef>
                        <a:spcAft>
                          <a:spcPts val="0"/>
                        </a:spcAft>
                        <a:buNone/>
                      </a:pPr>
                      <a:r>
                        <a:rPr b="1" lang="de-CH" sz="1200"/>
                        <a:t>Median Salary</a:t>
                      </a:r>
                      <a:endParaRPr b="1" sz="1200"/>
                    </a:p>
                  </a:txBody>
                  <a:tcPr marT="19050" marB="19050"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200"/>
                        <a:t>13</a:t>
                      </a:r>
                      <a:endParaRPr sz="1200"/>
                    </a:p>
                  </a:txBody>
                  <a:tcPr marT="19050" marB="19050"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200"/>
                        <a:t>14</a:t>
                      </a:r>
                      <a:endParaRPr sz="1200"/>
                    </a:p>
                  </a:txBody>
                  <a:tcPr marT="19050" marB="19050"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200"/>
                        <a:t>14</a:t>
                      </a:r>
                      <a:endParaRPr sz="1200"/>
                    </a:p>
                  </a:txBody>
                  <a:tcPr marT="19050" marB="19050"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200"/>
                        <a:t>14.68</a:t>
                      </a:r>
                      <a:endParaRPr sz="1200"/>
                    </a:p>
                  </a:txBody>
                  <a:tcPr marT="19050" marB="19050"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200"/>
                        <a:t>14</a:t>
                      </a:r>
                      <a:endParaRPr sz="1200"/>
                    </a:p>
                  </a:txBody>
                  <a:tcPr marT="19050" marB="19050"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200"/>
                        <a:t>13.5</a:t>
                      </a:r>
                      <a:endParaRPr sz="1200"/>
                    </a:p>
                  </a:txBody>
                  <a:tcPr marT="19050" marB="19050"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171300">
                <a:tc>
                  <a:txBody>
                    <a:bodyPr/>
                    <a:lstStyle/>
                    <a:p>
                      <a:pPr indent="0" lvl="0" marL="0" rtl="0" algn="ctr">
                        <a:lnSpc>
                          <a:spcPct val="115000"/>
                        </a:lnSpc>
                        <a:spcBef>
                          <a:spcPts val="0"/>
                        </a:spcBef>
                        <a:spcAft>
                          <a:spcPts val="0"/>
                        </a:spcAft>
                        <a:buNone/>
                      </a:pPr>
                      <a:r>
                        <a:rPr b="1" lang="de-CH" sz="1200"/>
                        <a:t>Lowest Salary</a:t>
                      </a:r>
                      <a:endParaRPr b="1" sz="1200"/>
                    </a:p>
                  </a:txBody>
                  <a:tcPr marT="19050" marB="19050"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200"/>
                        <a:t>4</a:t>
                      </a:r>
                      <a:endParaRPr sz="1200"/>
                    </a:p>
                  </a:txBody>
                  <a:tcPr marT="19050" marB="19050"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200"/>
                        <a:t>6.3</a:t>
                      </a:r>
                      <a:endParaRPr sz="1200"/>
                    </a:p>
                  </a:txBody>
                  <a:tcPr marT="19050" marB="19050"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200"/>
                        <a:t>5</a:t>
                      </a:r>
                      <a:endParaRPr sz="1200"/>
                    </a:p>
                  </a:txBody>
                  <a:tcPr marT="19050" marB="19050"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200"/>
                        <a:t>3</a:t>
                      </a:r>
                      <a:endParaRPr sz="1200"/>
                    </a:p>
                  </a:txBody>
                  <a:tcPr marT="19050" marB="19050"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200"/>
                        <a:t>3.5</a:t>
                      </a:r>
                      <a:endParaRPr sz="1200"/>
                    </a:p>
                  </a:txBody>
                  <a:tcPr marT="19050" marB="19050"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de-CH" sz="1200"/>
                        <a:t>3</a:t>
                      </a:r>
                      <a:endParaRPr sz="1200"/>
                    </a:p>
                  </a:txBody>
                  <a:tcPr marT="19050" marB="19050" marR="28575" marL="28575" anchor="b">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pic>
        <p:nvPicPr>
          <p:cNvPr id="593" name="Google Shape;593;hd72da3054435e2_12_0" title="Chart"/>
          <p:cNvPicPr preferRelativeResize="0"/>
          <p:nvPr/>
        </p:nvPicPr>
        <p:blipFill>
          <a:blip r:embed="rId3">
            <a:alphaModFix/>
          </a:blip>
          <a:stretch>
            <a:fillRect/>
          </a:stretch>
        </p:blipFill>
        <p:spPr>
          <a:xfrm>
            <a:off x="373575" y="2571750"/>
            <a:ext cx="7151274" cy="2491074"/>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h7b893a0582d097ac_1_107"/>
          <p:cNvSpPr txBox="1"/>
          <p:nvPr>
            <p:ph type="title"/>
          </p:nvPr>
        </p:nvSpPr>
        <p:spPr>
          <a:xfrm>
            <a:off x="231025" y="73825"/>
            <a:ext cx="8793900" cy="9927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2"/>
              </a:buClr>
              <a:buSzPts val="1100"/>
              <a:buFont typeface="Arial"/>
              <a:buNone/>
            </a:pPr>
            <a:r>
              <a:rPr lang="de-CH" sz="1800">
                <a:latin typeface="Times New Roman"/>
                <a:ea typeface="Times New Roman"/>
                <a:cs typeface="Times New Roman"/>
                <a:sym typeface="Times New Roman"/>
              </a:rPr>
              <a:t>E.9. </a:t>
            </a:r>
            <a:r>
              <a:rPr b="0" lang="de-CH" sz="1800">
                <a:solidFill>
                  <a:srgbClr val="000000"/>
                </a:solidFill>
                <a:latin typeface="Calibri"/>
                <a:ea typeface="Calibri"/>
                <a:cs typeface="Calibri"/>
                <a:sym typeface="Calibri"/>
              </a:rPr>
              <a:t>Department takes significant efforts to fetch industry sponsorship for UG/PG projects and ensures the quality execution of these projects.</a:t>
            </a:r>
            <a:r>
              <a:rPr lang="de-CH" sz="3000">
                <a:solidFill>
                  <a:srgbClr val="000000"/>
                </a:solidFill>
                <a:highlight>
                  <a:schemeClr val="lt1"/>
                </a:highlight>
                <a:latin typeface="Calibri"/>
                <a:ea typeface="Calibri"/>
                <a:cs typeface="Calibri"/>
                <a:sym typeface="Calibri"/>
              </a:rPr>
              <a:t> </a:t>
            </a:r>
            <a:r>
              <a:rPr lang="de-CH" sz="3000">
                <a:solidFill>
                  <a:srgbClr val="FF0000"/>
                </a:solidFill>
                <a:highlight>
                  <a:schemeClr val="lt1"/>
                </a:highlight>
                <a:latin typeface="Calibri"/>
                <a:ea typeface="Calibri"/>
                <a:cs typeface="Calibri"/>
                <a:sym typeface="Calibri"/>
              </a:rPr>
              <a:t>SBG</a:t>
            </a:r>
            <a:endParaRPr sz="3000">
              <a:solidFill>
                <a:srgbClr val="FF0000"/>
              </a:solidFill>
              <a:highlight>
                <a:schemeClr val="lt1"/>
              </a:highlight>
            </a:endParaRPr>
          </a:p>
          <a:p>
            <a:pPr indent="0" lvl="0" marL="914400" rtl="0" algn="ctr">
              <a:lnSpc>
                <a:spcPct val="115000"/>
              </a:lnSpc>
              <a:spcBef>
                <a:spcPts val="1200"/>
              </a:spcBef>
              <a:spcAft>
                <a:spcPts val="1200"/>
              </a:spcAft>
              <a:buSzPts val="3600"/>
              <a:buNone/>
            </a:pPr>
            <a:r>
              <a:t/>
            </a:r>
            <a:endParaRPr sz="3000">
              <a:highlight>
                <a:srgbClr val="FF0000"/>
              </a:highlight>
            </a:endParaRPr>
          </a:p>
        </p:txBody>
      </p:sp>
      <p:sp>
        <p:nvSpPr>
          <p:cNvPr id="599" name="Google Shape;599;h7b893a0582d097ac_1_107"/>
          <p:cNvSpPr txBox="1"/>
          <p:nvPr/>
        </p:nvSpPr>
        <p:spPr>
          <a:xfrm>
            <a:off x="231025" y="1066525"/>
            <a:ext cx="8554500" cy="2401200"/>
          </a:xfrm>
          <a:prstGeom prst="rect">
            <a:avLst/>
          </a:prstGeom>
          <a:noFill/>
          <a:ln>
            <a:noFill/>
          </a:ln>
        </p:spPr>
        <p:txBody>
          <a:bodyPr anchorCtr="0" anchor="t" bIns="91425" lIns="91425" spcFirstLastPara="1" rIns="91425" wrap="square" tIns="91425">
            <a:spAutoFit/>
          </a:bodyPr>
          <a:lstStyle/>
          <a:p>
            <a:pPr indent="-342900" lvl="0" marL="457200" rtl="0" algn="just">
              <a:spcBef>
                <a:spcPts val="0"/>
              </a:spcBef>
              <a:spcAft>
                <a:spcPts val="0"/>
              </a:spcAft>
              <a:buSzPts val="1800"/>
              <a:buFont typeface="Calibri"/>
              <a:buChar char="●"/>
            </a:pPr>
            <a:r>
              <a:rPr lang="de-CH" sz="1800">
                <a:latin typeface="Calibri"/>
                <a:ea typeface="Calibri"/>
                <a:cs typeface="Calibri"/>
                <a:sym typeface="Calibri"/>
              </a:rPr>
              <a:t>The department encourages students to take up research internships and project work with reputed organizations such as IITs, ISRO, BARC, and NTRO. </a:t>
            </a:r>
            <a:endParaRPr sz="1800">
              <a:latin typeface="Calibri"/>
              <a:ea typeface="Calibri"/>
              <a:cs typeface="Calibri"/>
              <a:sym typeface="Calibri"/>
            </a:endParaRPr>
          </a:p>
          <a:p>
            <a:pPr indent="-342900" lvl="0" marL="457200" rtl="0" algn="just">
              <a:spcBef>
                <a:spcPts val="0"/>
              </a:spcBef>
              <a:spcAft>
                <a:spcPts val="0"/>
              </a:spcAft>
              <a:buSzPts val="1800"/>
              <a:buFont typeface="Calibri"/>
              <a:buChar char="●"/>
            </a:pPr>
            <a:r>
              <a:rPr lang="de-CH" sz="1800">
                <a:latin typeface="Calibri"/>
                <a:ea typeface="Calibri"/>
                <a:cs typeface="Calibri"/>
                <a:sym typeface="Calibri"/>
              </a:rPr>
              <a:t>These opportunities give students valuable practical exposure and help them gain experience in working on real-world problems. </a:t>
            </a:r>
            <a:endParaRPr sz="1800">
              <a:latin typeface="Calibri"/>
              <a:ea typeface="Calibri"/>
              <a:cs typeface="Calibri"/>
              <a:sym typeface="Calibri"/>
            </a:endParaRPr>
          </a:p>
          <a:p>
            <a:pPr indent="0" lvl="0" marL="0" rtl="0" algn="just">
              <a:spcBef>
                <a:spcPts val="0"/>
              </a:spcBef>
              <a:spcAft>
                <a:spcPts val="0"/>
              </a:spcAft>
              <a:buNone/>
            </a:pPr>
            <a:r>
              <a:t/>
            </a:r>
            <a:endParaRPr sz="1800">
              <a:latin typeface="Calibri"/>
              <a:ea typeface="Calibri"/>
              <a:cs typeface="Calibri"/>
              <a:sym typeface="Calibri"/>
            </a:endParaRPr>
          </a:p>
          <a:p>
            <a:pPr indent="0" lvl="0" marL="0" rtl="0" algn="just">
              <a:spcBef>
                <a:spcPts val="0"/>
              </a:spcBef>
              <a:spcAft>
                <a:spcPts val="0"/>
              </a:spcAft>
              <a:buNone/>
            </a:pPr>
            <a:r>
              <a:t/>
            </a:r>
            <a:endParaRPr sz="1800">
              <a:latin typeface="Calibri"/>
              <a:ea typeface="Calibri"/>
              <a:cs typeface="Calibri"/>
              <a:sym typeface="Calibri"/>
            </a:endParaRPr>
          </a:p>
          <a:p>
            <a:pPr indent="0" lvl="0" marL="0" rtl="0" algn="just">
              <a:spcBef>
                <a:spcPts val="0"/>
              </a:spcBef>
              <a:spcAft>
                <a:spcPts val="0"/>
              </a:spcAft>
              <a:buNone/>
            </a:pPr>
            <a:r>
              <a:t/>
            </a:r>
            <a:endParaRPr sz="1800">
              <a:latin typeface="Calibri"/>
              <a:ea typeface="Calibri"/>
              <a:cs typeface="Calibri"/>
              <a:sym typeface="Calibri"/>
            </a:endParaRPr>
          </a:p>
          <a:p>
            <a:pPr indent="0" lvl="0" marL="0" rtl="0" algn="just">
              <a:spcBef>
                <a:spcPts val="0"/>
              </a:spcBef>
              <a:spcAft>
                <a:spcPts val="0"/>
              </a:spcAft>
              <a:buNone/>
            </a:pPr>
            <a:r>
              <a:t/>
            </a:r>
            <a:endParaRPr sz="1800">
              <a:latin typeface="Calibri"/>
              <a:ea typeface="Calibri"/>
              <a:cs typeface="Calibri"/>
              <a:sym typeface="Calibri"/>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h7b893a0582d097ac_1_123"/>
          <p:cNvSpPr txBox="1"/>
          <p:nvPr>
            <p:ph type="title"/>
          </p:nvPr>
        </p:nvSpPr>
        <p:spPr>
          <a:xfrm>
            <a:off x="417275" y="2143050"/>
            <a:ext cx="80781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4966"/>
              <a:buNone/>
            </a:pPr>
            <a:r>
              <a:rPr lang="de-CH" sz="3000">
                <a:solidFill>
                  <a:srgbClr val="EF6C00"/>
                </a:solidFill>
                <a:latin typeface="Times New Roman"/>
                <a:ea typeface="Times New Roman"/>
                <a:cs typeface="Times New Roman"/>
                <a:sym typeface="Times New Roman"/>
              </a:rPr>
              <a:t>F</a:t>
            </a:r>
            <a:r>
              <a:rPr lang="de-CH" sz="3000">
                <a:solidFill>
                  <a:srgbClr val="EF6C00"/>
                </a:solidFill>
                <a:latin typeface="Times New Roman"/>
                <a:ea typeface="Times New Roman"/>
                <a:cs typeface="Times New Roman"/>
                <a:sym typeface="Times New Roman"/>
              </a:rPr>
              <a:t>. </a:t>
            </a:r>
            <a:r>
              <a:rPr lang="de-CH" sz="3000">
                <a:solidFill>
                  <a:srgbClr val="EF6C00"/>
                </a:solidFill>
                <a:latin typeface="Calibri"/>
                <a:ea typeface="Calibri"/>
                <a:cs typeface="Calibri"/>
                <a:sym typeface="Calibri"/>
              </a:rPr>
              <a:t>ADMINISTRATION</a:t>
            </a:r>
            <a:endParaRPr b="0" sz="3000">
              <a:solidFill>
                <a:srgbClr val="EF6C00"/>
              </a:solidFill>
              <a:latin typeface="Times New Roman"/>
              <a:ea typeface="Times New Roman"/>
              <a:cs typeface="Times New Roman"/>
              <a:sym typeface="Times New Roman"/>
            </a:endParaRPr>
          </a:p>
          <a:p>
            <a:pPr indent="0" lvl="0" marL="0" rtl="0" algn="ctr">
              <a:lnSpc>
                <a:spcPct val="100000"/>
              </a:lnSpc>
              <a:spcBef>
                <a:spcPts val="0"/>
              </a:spcBef>
              <a:spcAft>
                <a:spcPts val="0"/>
              </a:spcAft>
              <a:buSzPts val="2000"/>
              <a:buNone/>
            </a:pPr>
            <a:r>
              <a:t/>
            </a:r>
            <a:endParaRPr sz="3000">
              <a:solidFill>
                <a:srgbClr val="EF6C00"/>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h7b893a0582d097ac_1_111"/>
          <p:cNvSpPr txBox="1"/>
          <p:nvPr>
            <p:ph type="title"/>
          </p:nvPr>
        </p:nvSpPr>
        <p:spPr>
          <a:xfrm>
            <a:off x="231025" y="73825"/>
            <a:ext cx="8520600" cy="707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2"/>
              </a:buClr>
              <a:buSzPts val="1100"/>
              <a:buFont typeface="Arial"/>
              <a:buNone/>
            </a:pPr>
            <a:r>
              <a:rPr lang="de-CH" sz="1800">
                <a:latin typeface="Times New Roman"/>
                <a:ea typeface="Times New Roman"/>
                <a:cs typeface="Times New Roman"/>
                <a:sym typeface="Times New Roman"/>
              </a:rPr>
              <a:t>F.1. </a:t>
            </a:r>
            <a:r>
              <a:rPr b="0" lang="de-CH" sz="1800">
                <a:solidFill>
                  <a:srgbClr val="000000"/>
                </a:solidFill>
                <a:latin typeface="Calibri"/>
                <a:ea typeface="Calibri"/>
                <a:cs typeface="Calibri"/>
                <a:sym typeface="Calibri"/>
              </a:rPr>
              <a:t>Department has well thought Vision-Mission and has carefully articulated Program Education Objectives and Program specific objectives for all the programs run by the department.</a:t>
            </a:r>
            <a:r>
              <a:rPr b="0" lang="de-CH" sz="1800">
                <a:solidFill>
                  <a:srgbClr val="000000"/>
                </a:solidFill>
                <a:highlight>
                  <a:schemeClr val="lt1"/>
                </a:highlight>
                <a:latin typeface="Calibri"/>
                <a:ea typeface="Calibri"/>
                <a:cs typeface="Calibri"/>
                <a:sym typeface="Calibri"/>
              </a:rPr>
              <a:t> </a:t>
            </a:r>
            <a:r>
              <a:rPr lang="de-CH" sz="3000">
                <a:solidFill>
                  <a:srgbClr val="000000"/>
                </a:solidFill>
                <a:highlight>
                  <a:schemeClr val="lt1"/>
                </a:highlight>
                <a:latin typeface="Calibri"/>
                <a:ea typeface="Calibri"/>
                <a:cs typeface="Calibri"/>
                <a:sym typeface="Calibri"/>
              </a:rPr>
              <a:t> </a:t>
            </a:r>
            <a:r>
              <a:rPr lang="de-CH" sz="3000">
                <a:solidFill>
                  <a:srgbClr val="FF0000"/>
                </a:solidFill>
                <a:highlight>
                  <a:schemeClr val="lt1"/>
                </a:highlight>
                <a:latin typeface="Calibri"/>
                <a:ea typeface="Calibri"/>
                <a:cs typeface="Calibri"/>
                <a:sym typeface="Calibri"/>
              </a:rPr>
              <a:t>Rupali S.</a:t>
            </a:r>
            <a:endParaRPr sz="3000">
              <a:solidFill>
                <a:srgbClr val="FF0000"/>
              </a:solidFill>
              <a:highlight>
                <a:schemeClr val="lt1"/>
              </a:highlight>
            </a:endParaRPr>
          </a:p>
          <a:p>
            <a:pPr indent="0" lvl="0" marL="914400" rtl="0" algn="ctr">
              <a:lnSpc>
                <a:spcPct val="115000"/>
              </a:lnSpc>
              <a:spcBef>
                <a:spcPts val="1200"/>
              </a:spcBef>
              <a:spcAft>
                <a:spcPts val="1200"/>
              </a:spcAft>
              <a:buSzPts val="3600"/>
              <a:buNone/>
            </a:pPr>
            <a:r>
              <a:t/>
            </a:r>
            <a:endParaRPr sz="3000">
              <a:highlight>
                <a:srgbClr val="FF0000"/>
              </a:highlight>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h7b893a0582d097ac_1_115"/>
          <p:cNvSpPr txBox="1"/>
          <p:nvPr>
            <p:ph type="title"/>
          </p:nvPr>
        </p:nvSpPr>
        <p:spPr>
          <a:xfrm>
            <a:off x="231025" y="73825"/>
            <a:ext cx="8520600" cy="707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2"/>
              </a:buClr>
              <a:buSzPts val="1100"/>
              <a:buFont typeface="Arial"/>
              <a:buNone/>
            </a:pPr>
            <a:r>
              <a:rPr lang="de-CH" sz="1800">
                <a:latin typeface="Times New Roman"/>
                <a:ea typeface="Times New Roman"/>
                <a:cs typeface="Times New Roman"/>
                <a:sym typeface="Times New Roman"/>
              </a:rPr>
              <a:t>F</a:t>
            </a:r>
            <a:r>
              <a:rPr lang="de-CH" sz="1800">
                <a:latin typeface="Times New Roman"/>
                <a:ea typeface="Times New Roman"/>
                <a:cs typeface="Times New Roman"/>
                <a:sym typeface="Times New Roman"/>
              </a:rPr>
              <a:t>.2. </a:t>
            </a:r>
            <a:r>
              <a:rPr b="0" lang="de-CH" sz="1800">
                <a:solidFill>
                  <a:srgbClr val="000000"/>
                </a:solidFill>
                <a:latin typeface="Calibri"/>
                <a:ea typeface="Calibri"/>
                <a:cs typeface="Calibri"/>
                <a:sym typeface="Calibri"/>
              </a:rPr>
              <a:t>Department has a strategic plan which is broadly in line with the institute’s strategic plan. </a:t>
            </a:r>
            <a:r>
              <a:rPr b="0" lang="de-CH" sz="1800">
                <a:solidFill>
                  <a:srgbClr val="000000"/>
                </a:solidFill>
                <a:highlight>
                  <a:schemeClr val="lt1"/>
                </a:highlight>
                <a:latin typeface="Calibri"/>
                <a:ea typeface="Calibri"/>
                <a:cs typeface="Calibri"/>
                <a:sym typeface="Calibri"/>
              </a:rPr>
              <a:t> </a:t>
            </a:r>
            <a:r>
              <a:rPr lang="de-CH" sz="3000">
                <a:solidFill>
                  <a:srgbClr val="000000"/>
                </a:solidFill>
                <a:highlight>
                  <a:schemeClr val="lt1"/>
                </a:highlight>
                <a:latin typeface="Calibri"/>
                <a:ea typeface="Calibri"/>
                <a:cs typeface="Calibri"/>
                <a:sym typeface="Calibri"/>
              </a:rPr>
              <a:t> </a:t>
            </a:r>
            <a:r>
              <a:rPr lang="de-CH" sz="3000">
                <a:solidFill>
                  <a:srgbClr val="FF0000"/>
                </a:solidFill>
                <a:highlight>
                  <a:schemeClr val="lt1"/>
                </a:highlight>
                <a:latin typeface="Calibri"/>
                <a:ea typeface="Calibri"/>
                <a:cs typeface="Calibri"/>
                <a:sym typeface="Calibri"/>
              </a:rPr>
              <a:t>PBB</a:t>
            </a:r>
            <a:endParaRPr sz="3000">
              <a:solidFill>
                <a:srgbClr val="FF0000"/>
              </a:solidFill>
              <a:highlight>
                <a:schemeClr val="lt1"/>
              </a:highlight>
            </a:endParaRPr>
          </a:p>
          <a:p>
            <a:pPr indent="0" lvl="0" marL="914400" rtl="0" algn="ctr">
              <a:lnSpc>
                <a:spcPct val="115000"/>
              </a:lnSpc>
              <a:spcBef>
                <a:spcPts val="1200"/>
              </a:spcBef>
              <a:spcAft>
                <a:spcPts val="1200"/>
              </a:spcAft>
              <a:buSzPts val="3600"/>
              <a:buNone/>
            </a:pPr>
            <a:r>
              <a:t/>
            </a:r>
            <a:endParaRPr sz="3000">
              <a:highlight>
                <a:srgbClr val="FF0000"/>
              </a:highlight>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h7b893a0582d097ac_1_119"/>
          <p:cNvSpPr txBox="1"/>
          <p:nvPr>
            <p:ph type="title"/>
          </p:nvPr>
        </p:nvSpPr>
        <p:spPr>
          <a:xfrm>
            <a:off x="231025" y="73825"/>
            <a:ext cx="8520600" cy="707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2"/>
              </a:buClr>
              <a:buSzPts val="1100"/>
              <a:buFont typeface="Arial"/>
              <a:buNone/>
            </a:pPr>
            <a:r>
              <a:rPr lang="de-CH" sz="1800">
                <a:latin typeface="Times New Roman"/>
                <a:ea typeface="Times New Roman"/>
                <a:cs typeface="Times New Roman"/>
                <a:sym typeface="Times New Roman"/>
              </a:rPr>
              <a:t>F</a:t>
            </a:r>
            <a:r>
              <a:rPr lang="de-CH" sz="1800">
                <a:latin typeface="Times New Roman"/>
                <a:ea typeface="Times New Roman"/>
                <a:cs typeface="Times New Roman"/>
                <a:sym typeface="Times New Roman"/>
              </a:rPr>
              <a:t>.3. </a:t>
            </a:r>
            <a:r>
              <a:rPr b="0" lang="de-CH" sz="1800">
                <a:solidFill>
                  <a:srgbClr val="000000"/>
                </a:solidFill>
                <a:latin typeface="Calibri"/>
                <a:ea typeface="Calibri"/>
                <a:cs typeface="Calibri"/>
                <a:sym typeface="Calibri"/>
              </a:rPr>
              <a:t>Department has a documented manual for all processes, procedures and information is disseminated to all stakeholders. Transparency is maintained to the best possible level.</a:t>
            </a:r>
            <a:r>
              <a:rPr b="0" lang="de-CH" sz="1800">
                <a:solidFill>
                  <a:srgbClr val="000000"/>
                </a:solidFill>
                <a:highlight>
                  <a:schemeClr val="lt1"/>
                </a:highlight>
                <a:latin typeface="Calibri"/>
                <a:ea typeface="Calibri"/>
                <a:cs typeface="Calibri"/>
                <a:sym typeface="Calibri"/>
              </a:rPr>
              <a:t> </a:t>
            </a:r>
            <a:r>
              <a:rPr lang="de-CH" sz="3000">
                <a:solidFill>
                  <a:srgbClr val="000000"/>
                </a:solidFill>
                <a:highlight>
                  <a:schemeClr val="lt1"/>
                </a:highlight>
                <a:latin typeface="Calibri"/>
                <a:ea typeface="Calibri"/>
                <a:cs typeface="Calibri"/>
                <a:sym typeface="Calibri"/>
              </a:rPr>
              <a:t> </a:t>
            </a:r>
            <a:r>
              <a:rPr lang="de-CH" sz="3000">
                <a:solidFill>
                  <a:srgbClr val="FF0000"/>
                </a:solidFill>
                <a:highlight>
                  <a:schemeClr val="lt1"/>
                </a:highlight>
                <a:latin typeface="Calibri"/>
                <a:ea typeface="Calibri"/>
                <a:cs typeface="Calibri"/>
                <a:sym typeface="Calibri"/>
              </a:rPr>
              <a:t>AVN</a:t>
            </a:r>
            <a:endParaRPr sz="3000">
              <a:solidFill>
                <a:srgbClr val="FF0000"/>
              </a:solidFill>
              <a:highlight>
                <a:schemeClr val="lt1"/>
              </a:highlight>
            </a:endParaRPr>
          </a:p>
          <a:p>
            <a:pPr indent="0" lvl="0" marL="914400" rtl="0" algn="ctr">
              <a:lnSpc>
                <a:spcPct val="115000"/>
              </a:lnSpc>
              <a:spcBef>
                <a:spcPts val="1200"/>
              </a:spcBef>
              <a:spcAft>
                <a:spcPts val="1200"/>
              </a:spcAft>
              <a:buSzPts val="3600"/>
              <a:buNone/>
            </a:pPr>
            <a:r>
              <a:t/>
            </a:r>
            <a:endParaRPr sz="3000">
              <a:highlight>
                <a:srgbClr val="FF0000"/>
              </a:highlight>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h7b893a0582d097ac_1_128"/>
          <p:cNvSpPr txBox="1"/>
          <p:nvPr>
            <p:ph type="title"/>
          </p:nvPr>
        </p:nvSpPr>
        <p:spPr>
          <a:xfrm>
            <a:off x="231025" y="73825"/>
            <a:ext cx="8520600" cy="707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2"/>
              </a:buClr>
              <a:buSzPts val="1100"/>
              <a:buFont typeface="Arial"/>
              <a:buNone/>
            </a:pPr>
            <a:r>
              <a:rPr lang="de-CH" sz="1800">
                <a:latin typeface="Times New Roman"/>
                <a:ea typeface="Times New Roman"/>
                <a:cs typeface="Times New Roman"/>
                <a:sym typeface="Times New Roman"/>
              </a:rPr>
              <a:t>F.4. </a:t>
            </a:r>
            <a:r>
              <a:rPr b="0" lang="de-CH" sz="1800">
                <a:solidFill>
                  <a:srgbClr val="000000"/>
                </a:solidFill>
                <a:latin typeface="Calibri"/>
                <a:ea typeface="Calibri"/>
                <a:cs typeface="Calibri"/>
                <a:sym typeface="Calibri"/>
              </a:rPr>
              <a:t>Grievances are duly addressed for students, faculty, and staff.</a:t>
            </a:r>
            <a:r>
              <a:rPr lang="de-CH" sz="3000">
                <a:solidFill>
                  <a:srgbClr val="FF0000"/>
                </a:solidFill>
                <a:highlight>
                  <a:schemeClr val="lt1"/>
                </a:highlight>
                <a:latin typeface="Calibri"/>
                <a:ea typeface="Calibri"/>
                <a:cs typeface="Calibri"/>
                <a:sym typeface="Calibri"/>
              </a:rPr>
              <a:t> PBB</a:t>
            </a:r>
            <a:r>
              <a:rPr lang="de-CH" sz="3000">
                <a:solidFill>
                  <a:srgbClr val="FF0000"/>
                </a:solidFill>
                <a:highlight>
                  <a:schemeClr val="lt1"/>
                </a:highlight>
                <a:latin typeface="Calibri"/>
                <a:ea typeface="Calibri"/>
                <a:cs typeface="Calibri"/>
                <a:sym typeface="Calibri"/>
              </a:rPr>
              <a:t> </a:t>
            </a:r>
            <a:endParaRPr sz="3000">
              <a:solidFill>
                <a:srgbClr val="FF0000"/>
              </a:solidFill>
              <a:highlight>
                <a:schemeClr val="lt1"/>
              </a:highlight>
            </a:endParaRPr>
          </a:p>
          <a:p>
            <a:pPr indent="0" lvl="0" marL="914400" rtl="0" algn="ctr">
              <a:lnSpc>
                <a:spcPct val="115000"/>
              </a:lnSpc>
              <a:spcBef>
                <a:spcPts val="1200"/>
              </a:spcBef>
              <a:spcAft>
                <a:spcPts val="1200"/>
              </a:spcAft>
              <a:buSzPts val="3600"/>
              <a:buNone/>
            </a:pPr>
            <a:r>
              <a:t/>
            </a:r>
            <a:endParaRPr sz="3000">
              <a:highlight>
                <a:srgbClr val="FF0000"/>
              </a:highlight>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h7b893a0582d097ac_1_133"/>
          <p:cNvSpPr txBox="1"/>
          <p:nvPr>
            <p:ph type="title"/>
          </p:nvPr>
        </p:nvSpPr>
        <p:spPr>
          <a:xfrm>
            <a:off x="231025" y="73825"/>
            <a:ext cx="8520600" cy="707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2"/>
              </a:buClr>
              <a:buSzPts val="1100"/>
              <a:buFont typeface="Arial"/>
              <a:buNone/>
            </a:pPr>
            <a:r>
              <a:rPr lang="de-CH" sz="1800">
                <a:latin typeface="Times New Roman"/>
                <a:ea typeface="Times New Roman"/>
                <a:cs typeface="Times New Roman"/>
                <a:sym typeface="Times New Roman"/>
              </a:rPr>
              <a:t>F.5. </a:t>
            </a:r>
            <a:r>
              <a:rPr b="0" lang="de-CH" sz="1800">
                <a:solidFill>
                  <a:srgbClr val="000000"/>
                </a:solidFill>
                <a:latin typeface="Calibri"/>
                <a:ea typeface="Calibri"/>
                <a:cs typeface="Calibri"/>
                <a:sym typeface="Calibri"/>
              </a:rPr>
              <a:t>Department meets the target set by the institute. </a:t>
            </a:r>
            <a:r>
              <a:rPr lang="de-CH" sz="3000">
                <a:solidFill>
                  <a:srgbClr val="FF0000"/>
                </a:solidFill>
                <a:highlight>
                  <a:schemeClr val="lt1"/>
                </a:highlight>
                <a:latin typeface="Calibri"/>
                <a:ea typeface="Calibri"/>
                <a:cs typeface="Calibri"/>
                <a:sym typeface="Calibri"/>
              </a:rPr>
              <a:t>PBB </a:t>
            </a:r>
            <a:endParaRPr sz="3000">
              <a:solidFill>
                <a:srgbClr val="FF0000"/>
              </a:solidFill>
              <a:highlight>
                <a:schemeClr val="lt1"/>
              </a:highlight>
            </a:endParaRPr>
          </a:p>
          <a:p>
            <a:pPr indent="0" lvl="0" marL="914400" rtl="0" algn="ctr">
              <a:lnSpc>
                <a:spcPct val="115000"/>
              </a:lnSpc>
              <a:spcBef>
                <a:spcPts val="1200"/>
              </a:spcBef>
              <a:spcAft>
                <a:spcPts val="1200"/>
              </a:spcAft>
              <a:buSzPts val="3600"/>
              <a:buNone/>
            </a:pPr>
            <a:r>
              <a:t/>
            </a:r>
            <a:endParaRPr sz="3000">
              <a:highlight>
                <a:srgbClr val="FF0000"/>
              </a:highlight>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hd72da3054435e2_31_21"/>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636" name="Google Shape;636;hd72da3054435e2_31_21"/>
          <p:cNvPicPr preferRelativeResize="0"/>
          <p:nvPr/>
        </p:nvPicPr>
        <p:blipFill>
          <a:blip r:embed="rId3">
            <a:alphaModFix/>
          </a:blip>
          <a:stretch>
            <a:fillRect/>
          </a:stretch>
        </p:blipFill>
        <p:spPr>
          <a:xfrm>
            <a:off x="152400" y="537700"/>
            <a:ext cx="9144000" cy="4758200"/>
          </a:xfrm>
          <a:prstGeom prst="rect">
            <a:avLst/>
          </a:prstGeom>
          <a:noFill/>
          <a:ln>
            <a:noFill/>
          </a:ln>
        </p:spPr>
      </p:pic>
      <p:sp>
        <p:nvSpPr>
          <p:cNvPr id="637" name="Google Shape;637;hd72da3054435e2_31_21"/>
          <p:cNvSpPr txBox="1"/>
          <p:nvPr/>
        </p:nvSpPr>
        <p:spPr>
          <a:xfrm>
            <a:off x="0" y="-108800"/>
            <a:ext cx="8019300" cy="646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de-CH" sz="1800">
                <a:solidFill>
                  <a:schemeClr val="accent1"/>
                </a:solidFill>
                <a:latin typeface="Times New Roman"/>
                <a:ea typeface="Times New Roman"/>
                <a:cs typeface="Times New Roman"/>
                <a:sym typeface="Times New Roman"/>
              </a:rPr>
              <a:t>F.5. </a:t>
            </a:r>
            <a:r>
              <a:rPr lang="de-CH" sz="1800">
                <a:latin typeface="Calibri"/>
                <a:ea typeface="Calibri"/>
                <a:cs typeface="Calibri"/>
                <a:sym typeface="Calibri"/>
              </a:rPr>
              <a:t>Department meets the target set by the institute. </a:t>
            </a:r>
            <a:r>
              <a:rPr b="1" lang="de-CH" sz="3000">
                <a:solidFill>
                  <a:srgbClr val="FF0000"/>
                </a:solidFill>
                <a:highlight>
                  <a:schemeClr val="lt1"/>
                </a:highlight>
                <a:latin typeface="Calibri"/>
                <a:ea typeface="Calibri"/>
                <a:cs typeface="Calibri"/>
                <a:sym typeface="Calibri"/>
              </a:rPr>
              <a:t>PBB </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hd72da3054435e2_31_2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43" name="Google Shape;643;hd72da3054435e2_31_2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644" name="Google Shape;644;hd72da3054435e2_31_26"/>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hd72da3054435e2_31_3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50" name="Google Shape;650;hd72da3054435e2_31_31"/>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651" name="Google Shape;651;hd72da3054435e2_31_31"/>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h7b893a0582d097ac_1_139"/>
          <p:cNvSpPr txBox="1"/>
          <p:nvPr>
            <p:ph type="title"/>
          </p:nvPr>
        </p:nvSpPr>
        <p:spPr>
          <a:xfrm>
            <a:off x="231025" y="73825"/>
            <a:ext cx="8520600" cy="707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2"/>
              </a:buClr>
              <a:buSzPts val="1100"/>
              <a:buFont typeface="Arial"/>
              <a:buNone/>
            </a:pPr>
            <a:r>
              <a:rPr lang="de-CH" sz="1800">
                <a:latin typeface="Times New Roman"/>
                <a:ea typeface="Times New Roman"/>
                <a:cs typeface="Times New Roman"/>
                <a:sym typeface="Times New Roman"/>
              </a:rPr>
              <a:t>F.6. </a:t>
            </a:r>
            <a:r>
              <a:rPr b="0" lang="de-CH" sz="1800">
                <a:solidFill>
                  <a:srgbClr val="000000"/>
                </a:solidFill>
                <a:latin typeface="Calibri"/>
                <a:ea typeface="Calibri"/>
                <a:cs typeface="Calibri"/>
                <a:sym typeface="Calibri"/>
              </a:rPr>
              <a:t>Department values continuous learning, value addition and takes sincere efforts in that direction. </a:t>
            </a:r>
            <a:r>
              <a:rPr lang="de-CH" sz="3000">
                <a:solidFill>
                  <a:srgbClr val="FF0000"/>
                </a:solidFill>
                <a:highlight>
                  <a:schemeClr val="lt1"/>
                </a:highlight>
                <a:latin typeface="Calibri"/>
                <a:ea typeface="Calibri"/>
                <a:cs typeface="Calibri"/>
                <a:sym typeface="Calibri"/>
              </a:rPr>
              <a:t>RK</a:t>
            </a:r>
            <a:endParaRPr sz="3000">
              <a:solidFill>
                <a:srgbClr val="FF0000"/>
              </a:solidFill>
              <a:highlight>
                <a:schemeClr val="lt1"/>
              </a:highlight>
              <a:latin typeface="Calibri"/>
              <a:ea typeface="Calibri"/>
              <a:cs typeface="Calibri"/>
              <a:sym typeface="Calibri"/>
            </a:endParaRPr>
          </a:p>
          <a:p>
            <a:pPr indent="0" lvl="0" marL="0" rtl="0" algn="just">
              <a:lnSpc>
                <a:spcPct val="100000"/>
              </a:lnSpc>
              <a:spcBef>
                <a:spcPts val="0"/>
              </a:spcBef>
              <a:spcAft>
                <a:spcPts val="0"/>
              </a:spcAft>
              <a:buClr>
                <a:schemeClr val="dk2"/>
              </a:buClr>
              <a:buSzPts val="1100"/>
              <a:buFont typeface="Arial"/>
              <a:buNone/>
            </a:pPr>
            <a:r>
              <a:t/>
            </a:r>
            <a:endParaRPr sz="3000">
              <a:solidFill>
                <a:srgbClr val="FF0000"/>
              </a:solidFill>
              <a:highlight>
                <a:schemeClr val="lt1"/>
              </a:highlight>
              <a:latin typeface="Calibri"/>
              <a:ea typeface="Calibri"/>
              <a:cs typeface="Calibri"/>
              <a:sym typeface="Calibri"/>
            </a:endParaRPr>
          </a:p>
          <a:p>
            <a:pPr indent="0" lvl="0" marL="914400" rtl="0" algn="ctr">
              <a:lnSpc>
                <a:spcPct val="115000"/>
              </a:lnSpc>
              <a:spcBef>
                <a:spcPts val="1200"/>
              </a:spcBef>
              <a:spcAft>
                <a:spcPts val="1200"/>
              </a:spcAft>
              <a:buSzPts val="3600"/>
              <a:buNone/>
            </a:pPr>
            <a:r>
              <a:t/>
            </a:r>
            <a:endParaRPr sz="3000">
              <a:highlight>
                <a:srgbClr val="FF0000"/>
              </a:highlight>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h7b893a0582d097ac_1_143"/>
          <p:cNvSpPr txBox="1"/>
          <p:nvPr>
            <p:ph type="title"/>
          </p:nvPr>
        </p:nvSpPr>
        <p:spPr>
          <a:xfrm>
            <a:off x="231025" y="73825"/>
            <a:ext cx="8520600" cy="707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2"/>
              </a:buClr>
              <a:buSzPts val="1100"/>
              <a:buFont typeface="Arial"/>
              <a:buNone/>
            </a:pPr>
            <a:r>
              <a:rPr lang="de-CH" sz="1800">
                <a:latin typeface="Times New Roman"/>
                <a:ea typeface="Times New Roman"/>
                <a:cs typeface="Times New Roman"/>
                <a:sym typeface="Times New Roman"/>
              </a:rPr>
              <a:t>F.7.</a:t>
            </a:r>
            <a:r>
              <a:rPr b="0" lang="de-CH" sz="1800">
                <a:solidFill>
                  <a:srgbClr val="000000"/>
                </a:solidFill>
                <a:latin typeface="Calibri"/>
                <a:ea typeface="Calibri"/>
                <a:cs typeface="Calibri"/>
                <a:sym typeface="Calibri"/>
              </a:rPr>
              <a:t>Department ensures that the inputs/feedback received from various procedures </a:t>
            </a:r>
            <a:r>
              <a:rPr b="0" lang="de-CH" sz="1800">
                <a:solidFill>
                  <a:srgbClr val="FF0000"/>
                </a:solidFill>
                <a:latin typeface="Calibri"/>
                <a:ea typeface="Calibri"/>
                <a:cs typeface="Calibri"/>
                <a:sym typeface="Calibri"/>
              </a:rPr>
              <a:t>(internal and external audits, accreditation visits, </a:t>
            </a:r>
            <a:r>
              <a:rPr b="0" lang="de-CH" sz="1800">
                <a:solidFill>
                  <a:srgbClr val="000000"/>
                </a:solidFill>
                <a:latin typeface="Calibri"/>
                <a:ea typeface="Calibri"/>
                <a:cs typeface="Calibri"/>
                <a:sym typeface="Calibri"/>
              </a:rPr>
              <a:t>QP analysis) </a:t>
            </a:r>
            <a:r>
              <a:rPr b="0" lang="de-CH" sz="1800">
                <a:solidFill>
                  <a:srgbClr val="000000"/>
                </a:solidFill>
                <a:latin typeface="Calibri"/>
                <a:ea typeface="Calibri"/>
                <a:cs typeface="Calibri"/>
                <a:sym typeface="Calibri"/>
              </a:rPr>
              <a:t>are analyzed, discussed, deliberated, and implemented to the best possible level as a part of continuous improvement. </a:t>
            </a:r>
            <a:r>
              <a:rPr b="0" lang="de-CH" sz="1800">
                <a:solidFill>
                  <a:srgbClr val="000000"/>
                </a:solidFill>
                <a:latin typeface="Calibri"/>
                <a:ea typeface="Calibri"/>
                <a:cs typeface="Calibri"/>
                <a:sym typeface="Calibri"/>
              </a:rPr>
              <a:t> </a:t>
            </a:r>
            <a:r>
              <a:rPr lang="de-CH" sz="3000">
                <a:solidFill>
                  <a:srgbClr val="FF0000"/>
                </a:solidFill>
                <a:highlight>
                  <a:schemeClr val="lt1"/>
                </a:highlight>
                <a:latin typeface="Calibri"/>
                <a:ea typeface="Calibri"/>
                <a:cs typeface="Calibri"/>
                <a:sym typeface="Calibri"/>
              </a:rPr>
              <a:t>PBB </a:t>
            </a:r>
            <a:endParaRPr sz="3000">
              <a:solidFill>
                <a:srgbClr val="FF0000"/>
              </a:solidFill>
              <a:highlight>
                <a:schemeClr val="lt1"/>
              </a:highlight>
            </a:endParaRPr>
          </a:p>
          <a:p>
            <a:pPr indent="0" lvl="0" marL="914400" rtl="0" algn="ctr">
              <a:lnSpc>
                <a:spcPct val="115000"/>
              </a:lnSpc>
              <a:spcBef>
                <a:spcPts val="1200"/>
              </a:spcBef>
              <a:spcAft>
                <a:spcPts val="1200"/>
              </a:spcAft>
              <a:buSzPts val="3600"/>
              <a:buNone/>
            </a:pPr>
            <a:r>
              <a:t/>
            </a:r>
            <a:endParaRPr sz="3000">
              <a:highlight>
                <a:srgbClr val="FF0000"/>
              </a:highlight>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h7b893a0582d097ac_1_155"/>
          <p:cNvSpPr txBox="1"/>
          <p:nvPr>
            <p:ph type="title"/>
          </p:nvPr>
        </p:nvSpPr>
        <p:spPr>
          <a:xfrm>
            <a:off x="231025" y="73825"/>
            <a:ext cx="8520600" cy="707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2"/>
              </a:buClr>
              <a:buSzPts val="1100"/>
              <a:buFont typeface="Arial"/>
              <a:buNone/>
            </a:pPr>
            <a:r>
              <a:rPr lang="de-CH" sz="1800">
                <a:latin typeface="Times New Roman"/>
                <a:ea typeface="Times New Roman"/>
                <a:cs typeface="Times New Roman"/>
                <a:sym typeface="Times New Roman"/>
              </a:rPr>
              <a:t>F.7.</a:t>
            </a:r>
            <a:r>
              <a:rPr b="0" lang="de-CH" sz="1800">
                <a:solidFill>
                  <a:srgbClr val="000000"/>
                </a:solidFill>
                <a:latin typeface="Calibri"/>
                <a:ea typeface="Calibri"/>
                <a:cs typeface="Calibri"/>
                <a:sym typeface="Calibri"/>
              </a:rPr>
              <a:t>Department ensures that the inputs/feedback received from various procedures </a:t>
            </a:r>
            <a:r>
              <a:rPr b="0" lang="de-CH" sz="1800">
                <a:solidFill>
                  <a:srgbClr val="221D1D"/>
                </a:solidFill>
                <a:latin typeface="Calibri"/>
                <a:ea typeface="Calibri"/>
                <a:cs typeface="Calibri"/>
                <a:sym typeface="Calibri"/>
              </a:rPr>
              <a:t>(internal and external audits, accreditation visits,</a:t>
            </a:r>
            <a:r>
              <a:rPr b="0" lang="de-CH" sz="1800">
                <a:solidFill>
                  <a:srgbClr val="FF0000"/>
                </a:solidFill>
                <a:latin typeface="Calibri"/>
                <a:ea typeface="Calibri"/>
                <a:cs typeface="Calibri"/>
                <a:sym typeface="Calibri"/>
              </a:rPr>
              <a:t> QP analysis)</a:t>
            </a:r>
            <a:r>
              <a:rPr b="0" lang="de-CH" sz="1800">
                <a:solidFill>
                  <a:srgbClr val="000000"/>
                </a:solidFill>
                <a:latin typeface="Calibri"/>
                <a:ea typeface="Calibri"/>
                <a:cs typeface="Calibri"/>
                <a:sym typeface="Calibri"/>
              </a:rPr>
              <a:t> are analyzed, discussed, deliberated, and implemented to the best possible level as a part of continuous improvement.  </a:t>
            </a:r>
            <a:r>
              <a:rPr lang="de-CH" sz="3000">
                <a:solidFill>
                  <a:srgbClr val="FF0000"/>
                </a:solidFill>
                <a:highlight>
                  <a:schemeClr val="lt1"/>
                </a:highlight>
                <a:latin typeface="Calibri"/>
                <a:ea typeface="Calibri"/>
                <a:cs typeface="Calibri"/>
                <a:sym typeface="Calibri"/>
              </a:rPr>
              <a:t>AAG</a:t>
            </a:r>
            <a:endParaRPr sz="3000">
              <a:solidFill>
                <a:srgbClr val="FF0000"/>
              </a:solidFill>
              <a:highlight>
                <a:schemeClr val="lt1"/>
              </a:highlight>
              <a:latin typeface="Calibri"/>
              <a:ea typeface="Calibri"/>
              <a:cs typeface="Calibri"/>
              <a:sym typeface="Calibri"/>
            </a:endParaRPr>
          </a:p>
          <a:p>
            <a:pPr indent="0" lvl="0" marL="0" rtl="0" algn="just">
              <a:lnSpc>
                <a:spcPct val="100000"/>
              </a:lnSpc>
              <a:spcBef>
                <a:spcPts val="0"/>
              </a:spcBef>
              <a:spcAft>
                <a:spcPts val="0"/>
              </a:spcAft>
              <a:buClr>
                <a:schemeClr val="dk2"/>
              </a:buClr>
              <a:buSzPts val="1100"/>
              <a:buFont typeface="Arial"/>
              <a:buNone/>
            </a:pPr>
            <a:r>
              <a:t/>
            </a:r>
            <a:endParaRPr sz="3000">
              <a:solidFill>
                <a:srgbClr val="FF0000"/>
              </a:solidFill>
              <a:highlight>
                <a:schemeClr val="lt1"/>
              </a:highlight>
              <a:latin typeface="Calibri"/>
              <a:ea typeface="Calibri"/>
              <a:cs typeface="Calibri"/>
              <a:sym typeface="Calibri"/>
            </a:endParaRPr>
          </a:p>
          <a:p>
            <a:pPr indent="0" lvl="0" marL="0" rtl="0" algn="just">
              <a:lnSpc>
                <a:spcPct val="100000"/>
              </a:lnSpc>
              <a:spcBef>
                <a:spcPts val="0"/>
              </a:spcBef>
              <a:spcAft>
                <a:spcPts val="0"/>
              </a:spcAft>
              <a:buClr>
                <a:schemeClr val="dk2"/>
              </a:buClr>
              <a:buSzPts val="1100"/>
              <a:buFont typeface="Arial"/>
              <a:buNone/>
            </a:pPr>
            <a:r>
              <a:t/>
            </a:r>
            <a:endParaRPr sz="3000">
              <a:solidFill>
                <a:srgbClr val="FF0000"/>
              </a:solidFill>
              <a:highlight>
                <a:schemeClr val="lt1"/>
              </a:highlight>
              <a:latin typeface="Calibri"/>
              <a:ea typeface="Calibri"/>
              <a:cs typeface="Calibri"/>
              <a:sym typeface="Calibri"/>
            </a:endParaRPr>
          </a:p>
          <a:p>
            <a:pPr indent="0" lvl="0" marL="0" rtl="0" algn="just">
              <a:lnSpc>
                <a:spcPct val="100000"/>
              </a:lnSpc>
              <a:spcBef>
                <a:spcPts val="0"/>
              </a:spcBef>
              <a:spcAft>
                <a:spcPts val="0"/>
              </a:spcAft>
              <a:buClr>
                <a:schemeClr val="dk2"/>
              </a:buClr>
              <a:buSzPts val="1100"/>
              <a:buFont typeface="Arial"/>
              <a:buNone/>
            </a:pPr>
            <a:r>
              <a:t/>
            </a:r>
            <a:endParaRPr sz="3000">
              <a:solidFill>
                <a:srgbClr val="FF0000"/>
              </a:solidFill>
              <a:highlight>
                <a:schemeClr val="lt1"/>
              </a:highlight>
              <a:latin typeface="Calibri"/>
              <a:ea typeface="Calibri"/>
              <a:cs typeface="Calibri"/>
              <a:sym typeface="Calibri"/>
            </a:endParaRPr>
          </a:p>
          <a:p>
            <a:pPr indent="0" lvl="0" marL="914400" rtl="0" algn="ctr">
              <a:lnSpc>
                <a:spcPct val="115000"/>
              </a:lnSpc>
              <a:spcBef>
                <a:spcPts val="1200"/>
              </a:spcBef>
              <a:spcAft>
                <a:spcPts val="1200"/>
              </a:spcAft>
              <a:buSzPts val="3600"/>
              <a:buNone/>
            </a:pPr>
            <a:r>
              <a:t/>
            </a:r>
            <a:endParaRPr sz="3000">
              <a:highlight>
                <a:srgbClr val="FF0000"/>
              </a:highlight>
            </a:endParaRPr>
          </a:p>
        </p:txBody>
      </p:sp>
      <p:sp>
        <p:nvSpPr>
          <p:cNvPr id="667" name="Google Shape;667;h7b893a0582d097ac_1_155"/>
          <p:cNvSpPr txBox="1"/>
          <p:nvPr/>
        </p:nvSpPr>
        <p:spPr>
          <a:xfrm>
            <a:off x="759875" y="1736800"/>
            <a:ext cx="7553700" cy="247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de-CH" sz="1600">
                <a:solidFill>
                  <a:schemeClr val="dk2"/>
                </a:solidFill>
                <a:latin typeface="Open Sans"/>
                <a:ea typeface="Open Sans"/>
                <a:cs typeface="Open Sans"/>
                <a:sym typeface="Open Sans"/>
              </a:rPr>
              <a:t>The process of audit of Question paper is carried out by the examination section. and then feedback is given to </a:t>
            </a:r>
            <a:r>
              <a:rPr lang="de-CH" sz="1600">
                <a:solidFill>
                  <a:schemeClr val="dk2"/>
                </a:solidFill>
                <a:latin typeface="Open Sans"/>
                <a:ea typeface="Open Sans"/>
                <a:cs typeface="Open Sans"/>
                <a:sym typeface="Open Sans"/>
              </a:rPr>
              <a:t>concerned</a:t>
            </a:r>
            <a:r>
              <a:rPr lang="de-CH" sz="1600">
                <a:solidFill>
                  <a:schemeClr val="dk2"/>
                </a:solidFill>
                <a:latin typeface="Open Sans"/>
                <a:ea typeface="Open Sans"/>
                <a:cs typeface="Open Sans"/>
                <a:sym typeface="Open Sans"/>
              </a:rPr>
              <a:t> teacher of the subject. H.O.D formally gives </a:t>
            </a:r>
            <a:r>
              <a:rPr lang="de-CH" sz="1600">
                <a:solidFill>
                  <a:schemeClr val="dk2"/>
                </a:solidFill>
                <a:latin typeface="Open Sans"/>
                <a:ea typeface="Open Sans"/>
                <a:cs typeface="Open Sans"/>
                <a:sym typeface="Open Sans"/>
              </a:rPr>
              <a:t>instruction</a:t>
            </a:r>
            <a:r>
              <a:rPr lang="de-CH" sz="1600">
                <a:solidFill>
                  <a:schemeClr val="dk2"/>
                </a:solidFill>
                <a:latin typeface="Open Sans"/>
                <a:ea typeface="Open Sans"/>
                <a:cs typeface="Open Sans"/>
                <a:sym typeface="Open Sans"/>
              </a:rPr>
              <a:t> to concerned </a:t>
            </a:r>
            <a:r>
              <a:rPr lang="de-CH" sz="1600">
                <a:solidFill>
                  <a:schemeClr val="dk2"/>
                </a:solidFill>
                <a:latin typeface="Open Sans"/>
                <a:ea typeface="Open Sans"/>
                <a:cs typeface="Open Sans"/>
                <a:sym typeface="Open Sans"/>
              </a:rPr>
              <a:t>teacher</a:t>
            </a:r>
            <a:r>
              <a:rPr lang="de-CH" sz="1600">
                <a:solidFill>
                  <a:schemeClr val="dk2"/>
                </a:solidFill>
                <a:latin typeface="Open Sans"/>
                <a:ea typeface="Open Sans"/>
                <a:cs typeface="Open Sans"/>
                <a:sym typeface="Open Sans"/>
              </a:rPr>
              <a:t> to improve upon the drawn question paper. Faculty is asked to update the question paper and asked to follow the guidelines of </a:t>
            </a:r>
            <a:r>
              <a:rPr lang="de-CH" sz="1600">
                <a:solidFill>
                  <a:schemeClr val="dk2"/>
                </a:solidFill>
                <a:latin typeface="Open Sans"/>
                <a:ea typeface="Open Sans"/>
                <a:cs typeface="Open Sans"/>
                <a:sym typeface="Open Sans"/>
              </a:rPr>
              <a:t>Bloom's</a:t>
            </a:r>
            <a:r>
              <a:rPr lang="de-CH" sz="1600">
                <a:solidFill>
                  <a:schemeClr val="dk2"/>
                </a:solidFill>
                <a:latin typeface="Open Sans"/>
                <a:ea typeface="Open Sans"/>
                <a:cs typeface="Open Sans"/>
                <a:sym typeface="Open Sans"/>
              </a:rPr>
              <a:t> taxonomy , CO-PO mapping.</a:t>
            </a:r>
            <a:endParaRPr sz="1600">
              <a:solidFill>
                <a:schemeClr val="dk2"/>
              </a:solidFill>
              <a:latin typeface="Open Sans"/>
              <a:ea typeface="Open Sans"/>
              <a:cs typeface="Open Sans"/>
              <a:sym typeface="Open Sans"/>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g2785df75f99_0_28"/>
          <p:cNvSpPr txBox="1"/>
          <p:nvPr>
            <p:ph type="title"/>
          </p:nvPr>
        </p:nvSpPr>
        <p:spPr>
          <a:xfrm>
            <a:off x="829750" y="1165975"/>
            <a:ext cx="7303200" cy="1881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0"/>
              </a:spcAft>
              <a:buSzPts val="3600"/>
              <a:buNone/>
            </a:pPr>
            <a:r>
              <a:rPr lang="de-CH" sz="3000"/>
              <a:t>CRITERIA G -</a:t>
            </a:r>
            <a:endParaRPr sz="3000"/>
          </a:p>
          <a:p>
            <a:pPr indent="0" lvl="0" marL="2286000" rtl="0" algn="l">
              <a:lnSpc>
                <a:spcPct val="100000"/>
              </a:lnSpc>
              <a:spcBef>
                <a:spcPts val="0"/>
              </a:spcBef>
              <a:spcAft>
                <a:spcPts val="0"/>
              </a:spcAft>
              <a:buSzPts val="3600"/>
              <a:buNone/>
            </a:pPr>
            <a:r>
              <a:rPr lang="de-CH" sz="3500"/>
              <a:t>SWOC Analysis</a:t>
            </a:r>
            <a:endParaRPr sz="3390"/>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g28ea2419252_0_5"/>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100"/>
              <a:buFont typeface="Lucida Sans"/>
              <a:buNone/>
            </a:pPr>
            <a:r>
              <a:rPr lang="de-CH" sz="3500"/>
              <a:t>Goals of the Departments</a:t>
            </a:r>
            <a:endParaRPr sz="3500"/>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g2785df75f99_0_103"/>
          <p:cNvSpPr txBox="1"/>
          <p:nvPr>
            <p:ph idx="1" type="body"/>
          </p:nvPr>
        </p:nvSpPr>
        <p:spPr>
          <a:xfrm>
            <a:off x="457200" y="1110996"/>
            <a:ext cx="8229600" cy="33945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400"/>
              </a:spcBef>
              <a:spcAft>
                <a:spcPts val="0"/>
              </a:spcAft>
              <a:buSzPts val="1224"/>
              <a:buNone/>
            </a:pPr>
            <a:r>
              <a:t/>
            </a:r>
            <a:endParaRPr/>
          </a:p>
        </p:txBody>
      </p:sp>
      <p:sp>
        <p:nvSpPr>
          <p:cNvPr id="683" name="Google Shape;683;g2785df75f99_0_10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lang="de-CH" sz="3200">
                <a:solidFill>
                  <a:srgbClr val="EF6C00"/>
                </a:solidFill>
              </a:rPr>
              <a:t>Strengths </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41"/>
          <p:cNvSpPr txBox="1"/>
          <p:nvPr>
            <p:ph type="title"/>
          </p:nvPr>
        </p:nvSpPr>
        <p:spPr>
          <a:xfrm>
            <a:off x="311700" y="22738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de-CH"/>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